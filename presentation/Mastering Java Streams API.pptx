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a4dd5d-6875-1e4b-5b81-604334655f0c}">
          <p14:sldIdLst>
            <p14:sldId id="256"/>
            <p14:sldId id="257"/>
          </p14:sldIdLst>
        </p14:section>
        <p14:section name="Introduction" id="{50e130de-fa62-3951-f521-a632e32f1032}">
          <p14:sldIdLst>
            <p14:sldId id="258"/>
            <p14:sldId id="259"/>
            <p14:sldId id="260"/>
            <p14:sldId id="261"/>
            <p14:sldId id="262"/>
            <p14:sldId id="263"/>
          </p14:sldIdLst>
        </p14:section>
        <p14:section name="What is a Stream" id="{b8bc30e6-93c0-4d06-d7ec-9d6dedc7f396}">
          <p14:sldIdLst>
            <p14:sldId id="264"/>
            <p14:sldId id="265"/>
            <p14:sldId id="266"/>
            <p14:sldId id="267"/>
          </p14:sldIdLst>
        </p14:section>
        <p14:section name="Stream Initialization" id="{3b1aa574-b322-8fe9-cb06-1a33bafc1759}">
          <p14:sldIdLst>
            <p14:sldId id="268"/>
            <p14:sldId id="269"/>
            <p14:sldId id="270"/>
          </p14:sldIdLst>
        </p14:section>
        <p14:section name="Stream Intermediate operations" id="{b32a94b4-6292-9fa1-816b-ebc08569e7b0}">
          <p14:sldIdLst>
            <p14:sldId id="271"/>
            <p14:sldId id="272"/>
            <p14:sldId id="273"/>
            <p14:sldId id="274"/>
            <p14:sldId id="275"/>
            <p14:sldId id="276"/>
          </p14:sldIdLst>
        </p14:section>
        <p14:section name="Stream Terminal operations" id="{d3bd4c76-604f-3947-e7f1-377632fa5300}">
          <p14:sldIdLst>
            <p14:sldId id="277"/>
            <p14:sldId id="278"/>
            <p14:sldId id="279"/>
            <p14:sldId id="280"/>
            <p14:sldId id="281"/>
            <p14:sldId id="282"/>
            <p14:sldId id="283"/>
            <p14:sldId id="284"/>
            <p14:sldId id="285"/>
          </p14:sldIdLst>
        </p14:section>
        <p14:section name="Pitfalls" id="{07e4ffde-7cdb-5300-9e8b-f599c36d0fb4}">
          <p14:sldIdLst>
            <p14:sldId id="286"/>
            <p14:sldId id="287"/>
            <p14:sldId id="288"/>
            <p14:sldId id="289"/>
          </p14:sldIdLst>
        </p14:section>
        <p14:section name="Exercises" id="{301daf06-3a7c-e273-487e-e8640a13aeb2}">
          <p14:sldIdLst>
            <p14:sldId id="290"/>
            <p14:sldId id="291"/>
          </p14:sldIdLst>
        </p14:section>
        <p14:section name="Wrap-up" id="{bae223c3-9e86-197a-dfa6-781c2623e1ee}">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Time for 10 runs (seconds, JDK 25)</a:t>
            </a:r>
          </a:p>
        </c:rich>
      </c:tx>
      <c:layout/>
      <c:overlay val="0"/>
    </c:title>
    <c:autoTitleDeleted val="0"/>
    <c:plotArea>
      <c:layout/>
      <c:barChart>
        <c:barDir val="col"/>
        <c:grouping val="clustered"/>
        <c:varyColors val="0"/>
        <c:ser>
          <c:idx val="0"/>
          <c:order val="0"/>
          <c:tx>
            <c:strRef>
              <c:f>Sheet1!$B$1</c:f>
              <c:strCache>
                <c:ptCount val="1"/>
                <c:pt idx="0">
                  <c:v>Time for 10 runs (seconds)</c:v>
                </c:pt>
              </c:strCache>
            </c:strRef>
          </c:tx>
          <c:spPr>
            <a:solidFill>
              <a:srgbClr val="D6453D"/>
            </a:solidFill>
            <a:effectLst/>
          </c:spPr>
          <c:invertIfNegative val="0"/>
          <c:dLbls>
            <c:numFmt formatCode="0.0" sourceLinked="0"/>
            <c:txPr>
              <a:bodyPr/>
              <a:lstStyle/>
              <a:p>
                <a:pPr>
                  <a:defRPr b="0" i="0" strike="noStrike" sz="1400" u="none">
                    <a:solidFill>
                      <a:srgbClr val="0B1F33"/>
                    </a:solidFill>
                    <a:latin typeface="+mn-lt"/>
                  </a:defRPr>
                </a:pPr>
              </a:p>
            </c:txPr>
            <c:showLegendKey val="0"/>
            <c:showVal val="1"/>
            <c:showCatName val="0"/>
            <c:showSerName val="0"/>
            <c:showPercent val="0"/>
            <c:showBubbleSize val="0"/>
            <c:showLeaderLines val="0"/>
          </c:dLbls>
          <c:dPt>
            <c:idx val="0"/>
            <c:invertIfNegative val="0"/>
            <c:bubble3D val="0"/>
            <c:spPr>
              <a:solidFill>
                <a:srgbClr val="D6453D"/>
              </a:solidFill>
              <a:effectLst/>
            </c:spPr>
          </c:dPt>
          <c:dPt>
            <c:idx val="1"/>
            <c:invertIfNegative val="0"/>
            <c:bubble3D val="0"/>
            <c:spPr>
              <a:solidFill>
                <a:srgbClr val="D6453D"/>
              </a:solidFill>
              <a:effectLst/>
            </c:spPr>
          </c:dPt>
          <c:dPt>
            <c:idx val="2"/>
            <c:invertIfNegative val="0"/>
            <c:bubble3D val="0"/>
            <c:spPr>
              <a:solidFill>
                <a:srgbClr val="0E9594"/>
              </a:solidFill>
              <a:effectLst/>
            </c:spPr>
          </c:dPt>
          <c:dPt>
            <c:idx val="3"/>
            <c:invertIfNegative val="0"/>
            <c:bubble3D val="0"/>
            <c:spPr>
              <a:solidFill>
                <a:srgbClr val="0E9594"/>
              </a:solidFill>
              <a:effectLst/>
            </c:spPr>
          </c:dPt>
          <c:cat>
            <c:multiLvlStrRef>
              <c:f>Sheet1!$A$2:$A$5</c:f>
              <c:multiLvlStrCache>
                <c:ptCount val="4"/>
                <c:lvl>
                  <c:pt idx="0">
                    <c:v>for loop,
call per line</c:v>
                  </c:pt>
                  <c:pt idx="1">
                    <c:v>stream,
call per line</c:v>
                  </c:pt>
                  <c:pt idx="2">
                    <c:v>for loop,
bulk fetch</c:v>
                  </c:pt>
                  <c:pt idx="3">
                    <c:v>stream,
bulk fetch</c:v>
                  </c:pt>
                </c:lvl>
              </c:multiLvlStrCache>
            </c:multiLvlStrRef>
          </c:cat>
          <c:val>
            <c:numRef>
              <c:f>Sheet1!$B$2:$B$5</c:f>
              <c:numCache>
                <c:formatCode>General</c:formatCode>
                <c:ptCount val="4"/>
                <c:pt idx="0">
                  <c:v>18.7</c:v>
                </c:pt>
                <c:pt idx="1">
                  <c:v>18.7</c:v>
                </c:pt>
                <c:pt idx="2">
                  <c:v>3.05</c:v>
                </c:pt>
                <c:pt idx="3">
                  <c:v>3.05</c:v>
                </c:pt>
              </c:numCache>
            </c:numRef>
          </c:val>
        </c:ser>
        <c:dLbls>
          <c:numFmt formatCode="0.0" sourceLinked="0"/>
          <c:txPr>
            <a:bodyPr/>
            <a:lstStyle/>
            <a:p>
              <a:pPr>
                <a:defRPr b="0" i="0" strike="noStrike" sz="1400" u="none">
                  <a:solidFill>
                    <a:srgbClr val="0B1F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Who am I, and what will we do in the next 3 hours: understand, create, transform and finish streams, see what goes wrong, then practise.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Stress that 'Streams explained' has four parts and that debugging streams is part of it. Pitfalls and exercises come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kinds of tasks. Theory: read and run Main. Output tasks: match expected output. Exercises: tests. Pitfalls: broken on purpose, so we watch them, we do not fix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abstract method each, so a lambda or method reference can implement them. Streams are built from these: filter takes a Predicate, map a Function, forEach a Consumer, collect uses Supplier and BinaryOperator internally, sorted a Comparator.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code is intentionally suboptimal so that IntelliJ suggests an improvement. When you see the yellow or grey highlight, press Alt+Enter and compare before and after. Hulk meme: when you see the suggestion, you must realise you have to apply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domain classes are records. References are plain ids, not objects: to go from an id to the object you need a lookup. OrderLine.total() is price times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in (almost) every lesson. Customers only appear in the exercises. Green phone is a paid order, red phone an unpaid order, the icons are the order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Sum the total of every order line. The loop and the stream give the same answer: EUR39.00. Ask the room which one they find easier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The source says where the elements come from. Zero or more intermediate operations transform. Exactly one terminal operation produces the result and starts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goes beyond what they have seen so far, so this is the moment to let an AI assistant help. Paid orders are replenished with the same quantity of each article; unpaid orders are ignored. Quantities per article are added up. Map each part of the loop to a stream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demos in Main: collection.stream() (also for an empty list), Stream.of, Stream.concat, Stream.builder, IntStream range/rangeClosed, LongStream range/rangeClosed. One demo fails on purpose; we find out why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excludes the end value, rangeClosed includes it. generate and iterate are infinite: always combine them with limit, or use the three-argument iterate, which is finite. An empty source is fine; a null source throws a NullPointerException.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intermediate operation returns a new stream, so you can chain them. Nothing runs until a terminal operation is called. filter: fewer elements, same type. map: same number, new type. flatMap: one-to-many, merged into one stream, e.g. order to its order lines. distinct: drops duplicates, its position in the chain changes how much work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demoed in Main but you will meet them: skip, limit, takeWhile, dropWhile, sorted, peek and the primitive mapTo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demos in Main do the same work with a different kind of step: statement lambda, expression lambda, method reference, method. Introduce IntelliJ's suggestions here: it will propose the shorter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 is lazy. Elements flow one at a time through all stages, which is why peek output is interleaved with later stages. A failure shows up at the terminal operation, not at the line where the faulty map or filter was written. The order of steps changes the result and the amount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presenter walks through these on the demos in Main. Nothing new to write. Rule of thumb: peek for a quick look, a lambda breakpoint to inspect one element, Trace Current Stream Chain to see the whole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in the order Main calls them. The sets are sorted before printing: a Set has no guaranteed order. Prices are double to keep the code short; in real code use BigDecimal.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IntelliJ suggests replacing collect(Collectors.toList()) with toList(). Fine, but not identical: toList() is unmodifiable. Code that calls add on the result breaks when you accept the suggestion, as collectingIntoCollection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can do much more than build a list. Results were produced by running each snippet on the course data (5 orders, 18 order lines). groupingBy makes a Map of key to list; add a downstream collector to count, sum or transform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partitioningBy always has exactly two keys. toMap throws IllegalStateException on a duplicate key unless you pass a merge function; on the course data that happens for article 1. summarizingDouble gives count, sum, min, average and max in one pass. teeing runs two collectors over one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anyMatch stops at the first hit, allMatch and noneMatch at the first miss. On an empty stream they give false, true and true: all of nothing is vacuously true. Prefer findFirst over findAny. reduce is the general fold, but sum() is usually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max, findFirst, findAny, average and reduce(accumulator) return an Optional because the stream may be empty. orElse(null) is a smell: it turns the explicit maybe back into a null that the next reader may forget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code is written in Java 8 style on purpose, because that is what IntelliJ's suggestions start from, but the baseline is Java 25. Reference only, nothing to run. None of these needs a preview flag on JDK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Gatherers are final since Java 24 (preview in 22 and 23). A collector can only end a pipeline; a gatherer is an intermediate operation so the stream continues. They are the way to write operations that look at more than one element at a time: windows, running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Stop in IntelliJ when you have seen enough: the program does not stop by itself. Only a short-circuiting operation (limit, findFirst, takeWhile, anyMatch) can end an infinite stream. distinct before limit(10) on a stream with only two distinct values never reaches ten elements. The timeout only stops waiting for the task, the pipeline keeps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guess how many numbers it prints. limit(10).skip(5): take the first 10 (0 to 9), then drop 5: five numbers. skip(5).limit(10): drop 5, then take 10: five to fourteen. Each step only sees what the previous step passes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N+1 problem: one call to get the lines plus N calls to get the details. Database.getArticle(id) pretends to be a remote call of 100 ms; there are 18 order lines, so 18 calls per run. The bulk variants make one call (300 ms) and look articles up in a Map. A for loop and a stream behave the same here; the stream can hide the call inside a lambda. Timings measured on JDK 25, Apple silicon, 10 runs each; absolute numbers vary per machine, the ratio (about 6x)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CourseTests. Exercise 1: filter customers, case-insensitive. Exercise 2: names in one list, 44 entries (34 customers plus 10 articles). Exercise 3: unique article names in unpaid orders: Chicken, Ice Cream, Coffee and Taco.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Source, steps, result. Nothing runs without a terminal operation. Order matters. Apply IntelliJ's suggestions. Then: questions, and on to the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6405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1106424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749040"/>
            <a:ext cx="8229600" cy="109728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Mastering Java Streams API  ·  EhB</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5.xml"/><Relationship Id="rId8"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le-0"/>
          <p:cNvSpPr/>
          <p:nvPr/>
        </p:nvSpPr>
        <p:spPr>
          <a:xfrm>
            <a:off x="6492240" y="1005840"/>
            <a:ext cx="1371600" cy="1371600"/>
          </a:xfrm>
          <a:prstGeom prst="roundRect">
            <a:avLst>
              <a:gd name="adj" fmla="val 13333"/>
            </a:avLst>
          </a:prstGeom>
          <a:solidFill>
            <a:schemeClr val="accent1"/>
          </a:solidFill>
          <a:ln/>
        </p:spPr>
      </p:sp>
      <p:sp>
        <p:nvSpPr>
          <p:cNvPr id="4" name="tile-1"/>
          <p:cNvSpPr/>
          <p:nvPr/>
        </p:nvSpPr>
        <p:spPr>
          <a:xfrm>
            <a:off x="8229600" y="1325880"/>
            <a:ext cx="1371600" cy="1371600"/>
          </a:xfrm>
          <a:prstGeom prst="roundRect">
            <a:avLst>
              <a:gd name="adj" fmla="val 13333"/>
            </a:avLst>
          </a:prstGeom>
          <a:solidFill>
            <a:schemeClr val="accent3"/>
          </a:solidFill>
          <a:ln/>
        </p:spPr>
      </p:sp>
      <p:sp>
        <p:nvSpPr>
          <p:cNvPr id="5" name="tile-2"/>
          <p:cNvSpPr/>
          <p:nvPr/>
        </p:nvSpPr>
        <p:spPr>
          <a:xfrm>
            <a:off x="9966960" y="1645920"/>
            <a:ext cx="1371600" cy="1371600"/>
          </a:xfrm>
          <a:prstGeom prst="roundRect">
            <a:avLst>
              <a:gd name="adj" fmla="val 13333"/>
            </a:avLst>
          </a:prstGeom>
          <a:solidFill>
            <a:schemeClr val="accent2"/>
          </a:solidFill>
          <a:ln/>
        </p:spPr>
      </p:sp>
      <p:sp>
        <p:nvSpPr>
          <p:cNvPr id="6" name="tile-3"/>
          <p:cNvSpPr/>
          <p:nvPr/>
        </p:nvSpPr>
        <p:spPr>
          <a:xfrm>
            <a:off x="6492240" y="2743200"/>
            <a:ext cx="1371600" cy="1371600"/>
          </a:xfrm>
          <a:prstGeom prst="roundRect">
            <a:avLst>
              <a:gd name="adj" fmla="val 13333"/>
            </a:avLst>
          </a:prstGeom>
          <a:solidFill>
            <a:schemeClr val="accent3"/>
          </a:solidFill>
          <a:ln/>
        </p:spPr>
      </p:sp>
      <p:sp>
        <p:nvSpPr>
          <p:cNvPr id="7" name="tile-4"/>
          <p:cNvSpPr/>
          <p:nvPr/>
        </p:nvSpPr>
        <p:spPr>
          <a:xfrm>
            <a:off x="8229600" y="3063240"/>
            <a:ext cx="1371600" cy="1371600"/>
          </a:xfrm>
          <a:prstGeom prst="roundRect">
            <a:avLst>
              <a:gd name="adj" fmla="val 13333"/>
            </a:avLst>
          </a:prstGeom>
          <a:solidFill>
            <a:schemeClr val="accent2"/>
          </a:solidFill>
          <a:ln/>
        </p:spPr>
      </p:sp>
      <p:sp>
        <p:nvSpPr>
          <p:cNvPr id="8" name="tile-5"/>
          <p:cNvSpPr/>
          <p:nvPr/>
        </p:nvSpPr>
        <p:spPr>
          <a:xfrm>
            <a:off x="9966960" y="3383280"/>
            <a:ext cx="1371600" cy="1371600"/>
          </a:xfrm>
          <a:prstGeom prst="roundRect">
            <a:avLst>
              <a:gd name="adj" fmla="val 13333"/>
            </a:avLst>
          </a:prstGeom>
          <a:solidFill>
            <a:schemeClr val="accent1"/>
          </a:solidFill>
          <a:ln/>
        </p:spPr>
      </p:sp>
      <p:sp>
        <p:nvSpPr>
          <p:cNvPr id="9" name="tile-6"/>
          <p:cNvSpPr/>
          <p:nvPr/>
        </p:nvSpPr>
        <p:spPr>
          <a:xfrm>
            <a:off x="6492240" y="4480560"/>
            <a:ext cx="1371600" cy="1371600"/>
          </a:xfrm>
          <a:prstGeom prst="roundRect">
            <a:avLst>
              <a:gd name="adj" fmla="val 13333"/>
            </a:avLst>
          </a:prstGeom>
          <a:solidFill>
            <a:schemeClr val="accent2"/>
          </a:solidFill>
          <a:ln/>
        </p:spPr>
      </p:sp>
      <p:sp>
        <p:nvSpPr>
          <p:cNvPr id="10" name="tile-7"/>
          <p:cNvSpPr/>
          <p:nvPr/>
        </p:nvSpPr>
        <p:spPr>
          <a:xfrm>
            <a:off x="8229600" y="4800600"/>
            <a:ext cx="1371600" cy="1371600"/>
          </a:xfrm>
          <a:prstGeom prst="roundRect">
            <a:avLst>
              <a:gd name="adj" fmla="val 13333"/>
            </a:avLst>
          </a:prstGeom>
          <a:solidFill>
            <a:schemeClr val="accent1"/>
          </a:solidFill>
          <a:ln/>
        </p:spPr>
      </p:sp>
      <p:sp>
        <p:nvSpPr>
          <p:cNvPr id="11" name="tile-8"/>
          <p:cNvSpPr/>
          <p:nvPr/>
        </p:nvSpPr>
        <p:spPr>
          <a:xfrm>
            <a:off x="9966960" y="5120640"/>
            <a:ext cx="1371600" cy="1371600"/>
          </a:xfrm>
          <a:prstGeom prst="roundRect">
            <a:avLst>
              <a:gd name="adj" fmla="val 13333"/>
            </a:avLst>
          </a:prstGeom>
          <a:solidFill>
            <a:schemeClr val="accent3"/>
          </a:solidFill>
          <a:ln/>
        </p:spPr>
      </p:sp>
      <p:sp>
        <p:nvSpPr>
          <p:cNvPr id="12" name="deck-title"/>
          <p:cNvSpPr txBox="1"/>
          <p:nvPr/>
        </p:nvSpPr>
        <p:spPr>
          <a:xfrm>
            <a:off x="548640" y="1828800"/>
            <a:ext cx="5852160" cy="201168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Mastering</a:t>
            </a:r>
            <a:endParaRPr lang="en-US" sz="4800" dirty="0"/>
          </a:p>
          <a:p>
            <a:pPr indent="0" marL="0">
              <a:buNone/>
            </a:pPr>
            <a:r>
              <a:rPr lang="en-US" sz="4800" b="1" dirty="0">
                <a:solidFill>
                  <a:schemeClr val="bg1"/>
                </a:solidFill>
                <a:latin typeface="Cambria" pitchFamily="34" charset="0"/>
                <a:ea typeface="Cambria" pitchFamily="34" charset="-122"/>
                <a:cs typeface="Cambria" pitchFamily="34" charset="-120"/>
              </a:rPr>
              <a:t>Java Streams API</a:t>
            </a:r>
            <a:endParaRPr lang="en-US" sz="4800" dirty="0"/>
          </a:p>
        </p:txBody>
      </p:sp>
      <p:sp>
        <p:nvSpPr>
          <p:cNvPr id="13" name="deck-subtitle"/>
          <p:cNvSpPr txBox="1"/>
          <p:nvPr/>
        </p:nvSpPr>
        <p:spPr>
          <a:xfrm>
            <a:off x="548640" y="4023360"/>
            <a:ext cx="5669280" cy="457200"/>
          </a:xfrm>
          <a:prstGeom prst="rect">
            <a:avLst/>
          </a:prstGeom>
          <a:noFill/>
          <a:ln/>
        </p:spPr>
        <p:txBody>
          <a:bodyPr wrap="square" lIns="0" tIns="0" rIns="0" bIns="0" rtlCol="0" anchor="ctr"/>
          <a:lstStyle/>
          <a:p>
            <a:pPr indent="0" marL="0">
              <a:buNone/>
            </a:pPr>
            <a:r>
              <a:rPr lang="en-US" sz="2000" dirty="0">
                <a:solidFill>
                  <a:schemeClr val="accent3"/>
                </a:solidFill>
              </a:rPr>
              <a:t>Source → steps → result, in plain Java 25</a:t>
            </a:r>
            <a:endParaRPr lang="en-US" sz="2000" dirty="0"/>
          </a:p>
        </p:txBody>
      </p:sp>
      <p:sp>
        <p:nvSpPr>
          <p:cNvPr id="14" name="deck-author"/>
          <p:cNvSpPr txBox="1"/>
          <p:nvPr/>
        </p:nvSpPr>
        <p:spPr>
          <a:xfrm>
            <a:off x="548640" y="5943600"/>
            <a:ext cx="5486400" cy="365760"/>
          </a:xfrm>
          <a:prstGeom prst="rect">
            <a:avLst/>
          </a:prstGeom>
          <a:noFill/>
          <a:ln/>
        </p:spPr>
        <p:txBody>
          <a:bodyPr wrap="square" lIns="0" tIns="0" rIns="0" bIns="0" rtlCol="0" anchor="ctr"/>
          <a:lstStyle/>
          <a:p>
            <a:pPr indent="0" marL="0">
              <a:buNone/>
            </a:pPr>
            <a:r>
              <a:rPr lang="en-US" sz="1400" dirty="0">
                <a:solidFill>
                  <a:schemeClr val="bg2"/>
                </a:solidFill>
              </a:rPr>
              <a:t>EhB  ·  Jente Sondervorst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What we will do today</a:t>
            </a:r>
            <a:endParaRPr lang="en-US" sz="3400" dirty="0"/>
          </a:p>
        </p:txBody>
      </p:sp>
      <p:sp>
        <p:nvSpPr>
          <p:cNvPr id="4" name="agenda-card-0"/>
          <p:cNvSpPr/>
          <p:nvPr/>
        </p:nvSpPr>
        <p:spPr>
          <a:xfrm>
            <a:off x="548640" y="1508760"/>
            <a:ext cx="5394960" cy="1005840"/>
          </a:xfrm>
          <a:prstGeom prst="roundRect">
            <a:avLst>
              <a:gd name="adj" fmla="val 10909"/>
            </a:avLst>
          </a:prstGeom>
          <a:solidFill>
            <a:schemeClr val="bg2"/>
          </a:solidFill>
          <a:ln/>
        </p:spPr>
      </p:sp>
      <p:sp>
        <p:nvSpPr>
          <p:cNvPr id="5" name="badge-bg"/>
          <p:cNvSpPr/>
          <p:nvPr/>
        </p:nvSpPr>
        <p:spPr>
          <a:xfrm>
            <a:off x="731520" y="1691640"/>
            <a:ext cx="640080" cy="640080"/>
          </a:xfrm>
          <a:prstGeom prst="ellipse">
            <a:avLst/>
          </a:prstGeom>
          <a:solidFill>
            <a:schemeClr val="accent1"/>
          </a:solidFill>
          <a:ln/>
        </p:spPr>
      </p:sp>
      <p:pic>
        <p:nvPicPr>
          <p:cNvPr id="6" name="Image 0" descr="FaTools">    </p:cNvPr>
          <p:cNvPicPr>
            <a:picLocks noChangeAspect="1"/>
          </p:cNvPicPr>
          <p:nvPr/>
        </p:nvPicPr>
        <p:blipFill>
          <a:blip r:embed="rId1"/>
          <a:stretch>
            <a:fillRect/>
          </a:stretch>
        </p:blipFill>
        <p:spPr>
          <a:xfrm>
            <a:off x="904342" y="1864462"/>
            <a:ext cx="294437" cy="294437"/>
          </a:xfrm>
          <a:prstGeom prst="rect">
            <a:avLst/>
          </a:prstGeom>
        </p:spPr>
      </p:pic>
      <p:sp>
        <p:nvSpPr>
          <p:cNvPr id="7" name="Text 3"/>
          <p:cNvSpPr txBox="1"/>
          <p:nvPr/>
        </p:nvSpPr>
        <p:spPr>
          <a:xfrm>
            <a:off x="1554480" y="1664208"/>
            <a:ext cx="4206240" cy="365760"/>
          </a:xfrm>
          <a:prstGeom prst="rect">
            <a:avLst/>
          </a:prstGeom>
          <a:noFill/>
          <a:ln/>
        </p:spPr>
        <p:txBody>
          <a:bodyPr wrap="square" lIns="0" tIns="0" rIns="0" bIns="0" rtlCol="0" anchor="t"/>
          <a:lstStyle/>
          <a:p>
            <a:pPr indent="0" marL="0">
              <a:buNone/>
            </a:pPr>
            <a:r>
              <a:rPr lang="en-US" sz="2000" b="1" dirty="0">
                <a:solidFill>
                  <a:schemeClr val="tx1"/>
                </a:solidFill>
              </a:rPr>
              <a:t>Introduction</a:t>
            </a:r>
            <a:endParaRPr lang="en-US" sz="2000" dirty="0"/>
          </a:p>
        </p:txBody>
      </p:sp>
      <p:sp>
        <p:nvSpPr>
          <p:cNvPr id="8" name="Text 4"/>
          <p:cNvSpPr txBox="1"/>
          <p:nvPr/>
        </p:nvSpPr>
        <p:spPr>
          <a:xfrm>
            <a:off x="1554480" y="2039112"/>
            <a:ext cx="4206240" cy="320040"/>
          </a:xfrm>
          <a:prstGeom prst="rect">
            <a:avLst/>
          </a:prstGeom>
          <a:noFill/>
          <a:ln/>
        </p:spPr>
        <p:txBody>
          <a:bodyPr wrap="square" lIns="0" tIns="0" rIns="0" bIns="0" rtlCol="0" anchor="t"/>
          <a:lstStyle/>
          <a:p>
            <a:pPr indent="0" marL="0">
              <a:buNone/>
            </a:pPr>
            <a:r>
              <a:rPr lang="en-US" sz="1400" dirty="0">
                <a:solidFill>
                  <a:schemeClr val="tx2"/>
                </a:solidFill>
              </a:rPr>
              <a:t>tools, IDE suggestions, the domain</a:t>
            </a:r>
            <a:endParaRPr lang="en-US" sz="1400" dirty="0"/>
          </a:p>
        </p:txBody>
      </p:sp>
      <p:sp>
        <p:nvSpPr>
          <p:cNvPr id="9" name="agenda-card-1"/>
          <p:cNvSpPr/>
          <p:nvPr/>
        </p:nvSpPr>
        <p:spPr>
          <a:xfrm>
            <a:off x="548640" y="2697480"/>
            <a:ext cx="5394960" cy="1005840"/>
          </a:xfrm>
          <a:prstGeom prst="roundRect">
            <a:avLst>
              <a:gd name="adj" fmla="val 10909"/>
            </a:avLst>
          </a:prstGeom>
          <a:solidFill>
            <a:schemeClr val="bg2"/>
          </a:solidFill>
          <a:ln/>
        </p:spPr>
      </p:sp>
      <p:sp>
        <p:nvSpPr>
          <p:cNvPr id="10" name="badge-bg"/>
          <p:cNvSpPr/>
          <p:nvPr/>
        </p:nvSpPr>
        <p:spPr>
          <a:xfrm>
            <a:off x="731520" y="2880360"/>
            <a:ext cx="640080" cy="640080"/>
          </a:xfrm>
          <a:prstGeom prst="ellipse">
            <a:avLst/>
          </a:prstGeom>
          <a:solidFill>
            <a:schemeClr val="accent1"/>
          </a:solidFill>
          <a:ln/>
        </p:spPr>
      </p:sp>
      <p:pic>
        <p:nvPicPr>
          <p:cNvPr id="11" name="Image 1" descr="FaWater">    </p:cNvPr>
          <p:cNvPicPr>
            <a:picLocks noChangeAspect="1"/>
          </p:cNvPicPr>
          <p:nvPr/>
        </p:nvPicPr>
        <p:blipFill>
          <a:blip r:embed="rId2"/>
          <a:stretch>
            <a:fillRect/>
          </a:stretch>
        </p:blipFill>
        <p:spPr>
          <a:xfrm>
            <a:off x="904342" y="3053182"/>
            <a:ext cx="294437" cy="294437"/>
          </a:xfrm>
          <a:prstGeom prst="rect">
            <a:avLst/>
          </a:prstGeom>
        </p:spPr>
      </p:pic>
      <p:sp>
        <p:nvSpPr>
          <p:cNvPr id="12" name="Text 7"/>
          <p:cNvSpPr txBox="1"/>
          <p:nvPr/>
        </p:nvSpPr>
        <p:spPr>
          <a:xfrm>
            <a:off x="1554480" y="2852928"/>
            <a:ext cx="4206240" cy="365760"/>
          </a:xfrm>
          <a:prstGeom prst="rect">
            <a:avLst/>
          </a:prstGeom>
          <a:noFill/>
          <a:ln/>
        </p:spPr>
        <p:txBody>
          <a:bodyPr wrap="square" lIns="0" tIns="0" rIns="0" bIns="0" rtlCol="0" anchor="t"/>
          <a:lstStyle/>
          <a:p>
            <a:pPr indent="0" marL="0">
              <a:buNone/>
            </a:pPr>
            <a:r>
              <a:rPr lang="en-US" sz="2000" b="1" dirty="0">
                <a:solidFill>
                  <a:schemeClr val="tx1"/>
                </a:solidFill>
              </a:rPr>
              <a:t>What is a Stream</a:t>
            </a:r>
            <a:endParaRPr lang="en-US" sz="2000" dirty="0"/>
          </a:p>
        </p:txBody>
      </p:sp>
      <p:sp>
        <p:nvSpPr>
          <p:cNvPr id="13" name="Text 8"/>
          <p:cNvSpPr txBox="1"/>
          <p:nvPr/>
        </p:nvSpPr>
        <p:spPr>
          <a:xfrm>
            <a:off x="1554480" y="3227832"/>
            <a:ext cx="4206240" cy="320040"/>
          </a:xfrm>
          <a:prstGeom prst="rect">
            <a:avLst/>
          </a:prstGeom>
          <a:noFill/>
          <a:ln/>
        </p:spPr>
        <p:txBody>
          <a:bodyPr wrap="square" lIns="0" tIns="0" rIns="0" bIns="0" rtlCol="0" anchor="t"/>
          <a:lstStyle/>
          <a:p>
            <a:pPr indent="0" marL="0">
              <a:buNone/>
            </a:pPr>
            <a:r>
              <a:rPr lang="en-US" sz="1400" dirty="0">
                <a:solidFill>
                  <a:schemeClr val="tx2"/>
                </a:solidFill>
              </a:rPr>
              <a:t>source, steps, result</a:t>
            </a:r>
            <a:endParaRPr lang="en-US" sz="1400" dirty="0"/>
          </a:p>
        </p:txBody>
      </p:sp>
      <p:sp>
        <p:nvSpPr>
          <p:cNvPr id="14" name="agenda-card-2"/>
          <p:cNvSpPr/>
          <p:nvPr/>
        </p:nvSpPr>
        <p:spPr>
          <a:xfrm>
            <a:off x="548640" y="3886200"/>
            <a:ext cx="5394960" cy="1005840"/>
          </a:xfrm>
          <a:prstGeom prst="roundRect">
            <a:avLst>
              <a:gd name="adj" fmla="val 10909"/>
            </a:avLst>
          </a:prstGeom>
          <a:solidFill>
            <a:schemeClr val="bg2"/>
          </a:solidFill>
          <a:ln/>
        </p:spPr>
      </p:sp>
      <p:sp>
        <p:nvSpPr>
          <p:cNvPr id="15" name="badge-bg"/>
          <p:cNvSpPr/>
          <p:nvPr/>
        </p:nvSpPr>
        <p:spPr>
          <a:xfrm>
            <a:off x="731520" y="4069080"/>
            <a:ext cx="640080" cy="640080"/>
          </a:xfrm>
          <a:prstGeom prst="ellipse">
            <a:avLst/>
          </a:prstGeom>
          <a:solidFill>
            <a:schemeClr val="accent1"/>
          </a:solidFill>
          <a:ln/>
        </p:spPr>
      </p:sp>
      <p:pic>
        <p:nvPicPr>
          <p:cNvPr id="16" name="Image 2" descr="FaPlay">    </p:cNvPr>
          <p:cNvPicPr>
            <a:picLocks noChangeAspect="1"/>
          </p:cNvPicPr>
          <p:nvPr/>
        </p:nvPicPr>
        <p:blipFill>
          <a:blip r:embed="rId3"/>
          <a:stretch>
            <a:fillRect/>
          </a:stretch>
        </p:blipFill>
        <p:spPr>
          <a:xfrm>
            <a:off x="904342" y="4241902"/>
            <a:ext cx="294437" cy="294437"/>
          </a:xfrm>
          <a:prstGeom prst="rect">
            <a:avLst/>
          </a:prstGeom>
        </p:spPr>
      </p:pic>
      <p:sp>
        <p:nvSpPr>
          <p:cNvPr id="17" name="Text 11"/>
          <p:cNvSpPr txBox="1"/>
          <p:nvPr/>
        </p:nvSpPr>
        <p:spPr>
          <a:xfrm>
            <a:off x="1554480" y="4041648"/>
            <a:ext cx="4206240" cy="365760"/>
          </a:xfrm>
          <a:prstGeom prst="rect">
            <a:avLst/>
          </a:prstGeom>
          <a:noFill/>
          <a:ln/>
        </p:spPr>
        <p:txBody>
          <a:bodyPr wrap="square" lIns="0" tIns="0" rIns="0" bIns="0" rtlCol="0" anchor="t"/>
          <a:lstStyle/>
          <a:p>
            <a:pPr indent="0" marL="0">
              <a:buNone/>
            </a:pPr>
            <a:r>
              <a:rPr lang="en-US" sz="2000" b="1" dirty="0">
                <a:solidFill>
                  <a:schemeClr val="tx1"/>
                </a:solidFill>
              </a:rPr>
              <a:t>Stream Initialization</a:t>
            </a:r>
            <a:endParaRPr lang="en-US" sz="2000" dirty="0"/>
          </a:p>
        </p:txBody>
      </p:sp>
      <p:sp>
        <p:nvSpPr>
          <p:cNvPr id="18" name="Text 12"/>
          <p:cNvSpPr txBox="1"/>
          <p:nvPr/>
        </p:nvSpPr>
        <p:spPr>
          <a:xfrm>
            <a:off x="1554480" y="4416552"/>
            <a:ext cx="4206240" cy="320040"/>
          </a:xfrm>
          <a:prstGeom prst="rect">
            <a:avLst/>
          </a:prstGeom>
          <a:noFill/>
          <a:ln/>
        </p:spPr>
        <p:txBody>
          <a:bodyPr wrap="square" lIns="0" tIns="0" rIns="0" bIns="0" rtlCol="0" anchor="t"/>
          <a:lstStyle/>
          <a:p>
            <a:pPr indent="0" marL="0">
              <a:buNone/>
            </a:pPr>
            <a:r>
              <a:rPr lang="en-US" sz="1400" dirty="0">
                <a:solidFill>
                  <a:schemeClr val="tx2"/>
                </a:solidFill>
              </a:rPr>
              <a:t>creating streams</a:t>
            </a:r>
            <a:endParaRPr lang="en-US" sz="1400" dirty="0"/>
          </a:p>
        </p:txBody>
      </p:sp>
      <p:sp>
        <p:nvSpPr>
          <p:cNvPr id="19" name="agenda-card-3"/>
          <p:cNvSpPr/>
          <p:nvPr/>
        </p:nvSpPr>
        <p:spPr>
          <a:xfrm>
            <a:off x="548640" y="5074920"/>
            <a:ext cx="5394960" cy="1005840"/>
          </a:xfrm>
          <a:prstGeom prst="roundRect">
            <a:avLst>
              <a:gd name="adj" fmla="val 10909"/>
            </a:avLst>
          </a:prstGeom>
          <a:solidFill>
            <a:schemeClr val="bg2"/>
          </a:solidFill>
          <a:ln/>
        </p:spPr>
      </p:sp>
      <p:sp>
        <p:nvSpPr>
          <p:cNvPr id="20" name="badge-bg"/>
          <p:cNvSpPr/>
          <p:nvPr/>
        </p:nvSpPr>
        <p:spPr>
          <a:xfrm>
            <a:off x="731520" y="5257800"/>
            <a:ext cx="640080" cy="640080"/>
          </a:xfrm>
          <a:prstGeom prst="ellipse">
            <a:avLst/>
          </a:prstGeom>
          <a:solidFill>
            <a:schemeClr val="accent1"/>
          </a:solidFill>
          <a:ln/>
        </p:spPr>
      </p:sp>
      <p:pic>
        <p:nvPicPr>
          <p:cNvPr id="21" name="Image 3" descr="FaFilter">    </p:cNvPr>
          <p:cNvPicPr>
            <a:picLocks noChangeAspect="1"/>
          </p:cNvPicPr>
          <p:nvPr/>
        </p:nvPicPr>
        <p:blipFill>
          <a:blip r:embed="rId4"/>
          <a:stretch>
            <a:fillRect/>
          </a:stretch>
        </p:blipFill>
        <p:spPr>
          <a:xfrm>
            <a:off x="904342" y="5430622"/>
            <a:ext cx="294437" cy="294437"/>
          </a:xfrm>
          <a:prstGeom prst="rect">
            <a:avLst/>
          </a:prstGeom>
        </p:spPr>
      </p:pic>
      <p:sp>
        <p:nvSpPr>
          <p:cNvPr id="22" name="Text 15"/>
          <p:cNvSpPr txBox="1"/>
          <p:nvPr/>
        </p:nvSpPr>
        <p:spPr>
          <a:xfrm>
            <a:off x="1554480" y="5230368"/>
            <a:ext cx="4206240" cy="365760"/>
          </a:xfrm>
          <a:prstGeom prst="rect">
            <a:avLst/>
          </a:prstGeom>
          <a:noFill/>
          <a:ln/>
        </p:spPr>
        <p:txBody>
          <a:bodyPr wrap="square" lIns="0" tIns="0" rIns="0" bIns="0" rtlCol="0" anchor="t"/>
          <a:lstStyle/>
          <a:p>
            <a:pPr indent="0" marL="0">
              <a:buNone/>
            </a:pPr>
            <a:r>
              <a:rPr lang="en-US" sz="2000" b="1" dirty="0">
                <a:solidFill>
                  <a:schemeClr val="tx1"/>
                </a:solidFill>
              </a:rPr>
              <a:t>Intermediate operations</a:t>
            </a:r>
            <a:endParaRPr lang="en-US" sz="2000" dirty="0"/>
          </a:p>
        </p:txBody>
      </p:sp>
      <p:sp>
        <p:nvSpPr>
          <p:cNvPr id="23" name="Text 16"/>
          <p:cNvSpPr txBox="1"/>
          <p:nvPr/>
        </p:nvSpPr>
        <p:spPr>
          <a:xfrm>
            <a:off x="1554480" y="5605272"/>
            <a:ext cx="4206240" cy="320040"/>
          </a:xfrm>
          <a:prstGeom prst="rect">
            <a:avLst/>
          </a:prstGeom>
          <a:noFill/>
          <a:ln/>
        </p:spPr>
        <p:txBody>
          <a:bodyPr wrap="square" lIns="0" tIns="0" rIns="0" bIns="0" rtlCol="0" anchor="t"/>
          <a:lstStyle/>
          <a:p>
            <a:pPr indent="0" marL="0">
              <a:buNone/>
            </a:pPr>
            <a:r>
              <a:rPr lang="en-US" sz="1400" dirty="0">
                <a:solidFill>
                  <a:schemeClr val="tx2"/>
                </a:solidFill>
              </a:rPr>
              <a:t>filter, map, flatMap … + debugging</a:t>
            </a:r>
            <a:endParaRPr lang="en-US" sz="1400" dirty="0"/>
          </a:p>
        </p:txBody>
      </p:sp>
      <p:sp>
        <p:nvSpPr>
          <p:cNvPr id="24" name="agenda-card-4"/>
          <p:cNvSpPr/>
          <p:nvPr/>
        </p:nvSpPr>
        <p:spPr>
          <a:xfrm>
            <a:off x="6217920" y="1508760"/>
            <a:ext cx="5394960" cy="1005840"/>
          </a:xfrm>
          <a:prstGeom prst="roundRect">
            <a:avLst>
              <a:gd name="adj" fmla="val 10909"/>
            </a:avLst>
          </a:prstGeom>
          <a:solidFill>
            <a:schemeClr val="bg2"/>
          </a:solidFill>
          <a:ln/>
        </p:spPr>
      </p:sp>
      <p:sp>
        <p:nvSpPr>
          <p:cNvPr id="25" name="badge-bg"/>
          <p:cNvSpPr/>
          <p:nvPr/>
        </p:nvSpPr>
        <p:spPr>
          <a:xfrm>
            <a:off x="6400800" y="1691640"/>
            <a:ext cx="640080" cy="640080"/>
          </a:xfrm>
          <a:prstGeom prst="ellipse">
            <a:avLst/>
          </a:prstGeom>
          <a:solidFill>
            <a:schemeClr val="accent1"/>
          </a:solidFill>
          <a:ln/>
        </p:spPr>
      </p:sp>
      <p:pic>
        <p:nvPicPr>
          <p:cNvPr id="26" name="Image 4" descr="FaFlagCheckered">    </p:cNvPr>
          <p:cNvPicPr>
            <a:picLocks noChangeAspect="1"/>
          </p:cNvPicPr>
          <p:nvPr/>
        </p:nvPicPr>
        <p:blipFill>
          <a:blip r:embed="rId5"/>
          <a:stretch>
            <a:fillRect/>
          </a:stretch>
        </p:blipFill>
        <p:spPr>
          <a:xfrm>
            <a:off x="6573622" y="1864462"/>
            <a:ext cx="294437" cy="294437"/>
          </a:xfrm>
          <a:prstGeom prst="rect">
            <a:avLst/>
          </a:prstGeom>
        </p:spPr>
      </p:pic>
      <p:sp>
        <p:nvSpPr>
          <p:cNvPr id="27" name="Text 19"/>
          <p:cNvSpPr txBox="1"/>
          <p:nvPr/>
        </p:nvSpPr>
        <p:spPr>
          <a:xfrm>
            <a:off x="7223760" y="1664208"/>
            <a:ext cx="4206240" cy="365760"/>
          </a:xfrm>
          <a:prstGeom prst="rect">
            <a:avLst/>
          </a:prstGeom>
          <a:noFill/>
          <a:ln/>
        </p:spPr>
        <p:txBody>
          <a:bodyPr wrap="square" lIns="0" tIns="0" rIns="0" bIns="0" rtlCol="0" anchor="t"/>
          <a:lstStyle/>
          <a:p>
            <a:pPr indent="0" marL="0">
              <a:buNone/>
            </a:pPr>
            <a:r>
              <a:rPr lang="en-US" sz="2000" b="1" dirty="0">
                <a:solidFill>
                  <a:schemeClr val="tx1"/>
                </a:solidFill>
              </a:rPr>
              <a:t>Terminal operations</a:t>
            </a:r>
            <a:endParaRPr lang="en-US" sz="2000" dirty="0"/>
          </a:p>
        </p:txBody>
      </p:sp>
      <p:sp>
        <p:nvSpPr>
          <p:cNvPr id="28" name="Text 20"/>
          <p:cNvSpPr txBox="1"/>
          <p:nvPr/>
        </p:nvSpPr>
        <p:spPr>
          <a:xfrm>
            <a:off x="7223760" y="2039112"/>
            <a:ext cx="4206240" cy="320040"/>
          </a:xfrm>
          <a:prstGeom prst="rect">
            <a:avLst/>
          </a:prstGeom>
          <a:noFill/>
          <a:ln/>
        </p:spPr>
        <p:txBody>
          <a:bodyPr wrap="square" lIns="0" tIns="0" rIns="0" bIns="0" rtlCol="0" anchor="t"/>
          <a:lstStyle/>
          <a:p>
            <a:pPr indent="0" marL="0">
              <a:buNone/>
            </a:pPr>
            <a:r>
              <a:rPr lang="en-US" sz="1400" dirty="0">
                <a:solidFill>
                  <a:schemeClr val="tx2"/>
                </a:solidFill>
              </a:rPr>
              <a:t>collect, count, reduce, Optional</a:t>
            </a:r>
            <a:endParaRPr lang="en-US" sz="1400" dirty="0"/>
          </a:p>
        </p:txBody>
      </p:sp>
      <p:sp>
        <p:nvSpPr>
          <p:cNvPr id="29" name="agenda-card-5"/>
          <p:cNvSpPr/>
          <p:nvPr/>
        </p:nvSpPr>
        <p:spPr>
          <a:xfrm>
            <a:off x="6217920" y="2697480"/>
            <a:ext cx="5394960" cy="1005840"/>
          </a:xfrm>
          <a:prstGeom prst="roundRect">
            <a:avLst>
              <a:gd name="adj" fmla="val 10909"/>
            </a:avLst>
          </a:prstGeom>
          <a:solidFill>
            <a:schemeClr val="bg2"/>
          </a:solidFill>
          <a:ln/>
        </p:spPr>
      </p:sp>
      <p:sp>
        <p:nvSpPr>
          <p:cNvPr id="30" name="badge-bg"/>
          <p:cNvSpPr/>
          <p:nvPr/>
        </p:nvSpPr>
        <p:spPr>
          <a:xfrm>
            <a:off x="6400800" y="2880360"/>
            <a:ext cx="640080" cy="640080"/>
          </a:xfrm>
          <a:prstGeom prst="ellipse">
            <a:avLst/>
          </a:prstGeom>
          <a:solidFill>
            <a:schemeClr val="accent4"/>
          </a:solidFill>
          <a:ln/>
        </p:spPr>
      </p:sp>
      <p:pic>
        <p:nvPicPr>
          <p:cNvPr id="31" name="Image 5" descr="FaExclamationTriangle">    </p:cNvPr>
          <p:cNvPicPr>
            <a:picLocks noChangeAspect="1"/>
          </p:cNvPicPr>
          <p:nvPr/>
        </p:nvPicPr>
        <p:blipFill>
          <a:blip r:embed="rId6"/>
          <a:stretch>
            <a:fillRect/>
          </a:stretch>
        </p:blipFill>
        <p:spPr>
          <a:xfrm>
            <a:off x="6573622" y="3053182"/>
            <a:ext cx="294437" cy="294437"/>
          </a:xfrm>
          <a:prstGeom prst="rect">
            <a:avLst/>
          </a:prstGeom>
        </p:spPr>
      </p:pic>
      <p:sp>
        <p:nvSpPr>
          <p:cNvPr id="32" name="Text 23"/>
          <p:cNvSpPr txBox="1"/>
          <p:nvPr/>
        </p:nvSpPr>
        <p:spPr>
          <a:xfrm>
            <a:off x="7223760" y="2852928"/>
            <a:ext cx="4206240" cy="365760"/>
          </a:xfrm>
          <a:prstGeom prst="rect">
            <a:avLst/>
          </a:prstGeom>
          <a:noFill/>
          <a:ln/>
        </p:spPr>
        <p:txBody>
          <a:bodyPr wrap="square" lIns="0" tIns="0" rIns="0" bIns="0" rtlCol="0" anchor="t"/>
          <a:lstStyle/>
          <a:p>
            <a:pPr indent="0" marL="0">
              <a:buNone/>
            </a:pPr>
            <a:r>
              <a:rPr lang="en-US" sz="2000" b="1" dirty="0">
                <a:solidFill>
                  <a:schemeClr val="tx1"/>
                </a:solidFill>
              </a:rPr>
              <a:t>Pitfalls</a:t>
            </a:r>
            <a:endParaRPr lang="en-US" sz="2000" dirty="0"/>
          </a:p>
        </p:txBody>
      </p:sp>
      <p:sp>
        <p:nvSpPr>
          <p:cNvPr id="33" name="Text 24"/>
          <p:cNvSpPr txBox="1"/>
          <p:nvPr/>
        </p:nvSpPr>
        <p:spPr>
          <a:xfrm>
            <a:off x="7223760" y="3227832"/>
            <a:ext cx="4206240" cy="320040"/>
          </a:xfrm>
          <a:prstGeom prst="rect">
            <a:avLst/>
          </a:prstGeom>
          <a:noFill/>
          <a:ln/>
        </p:spPr>
        <p:txBody>
          <a:bodyPr wrap="square" lIns="0" tIns="0" rIns="0" bIns="0" rtlCol="0" anchor="t"/>
          <a:lstStyle/>
          <a:p>
            <a:pPr indent="0" marL="0">
              <a:buNone/>
            </a:pPr>
            <a:r>
              <a:rPr lang="en-US" sz="1400" dirty="0">
                <a:solidFill>
                  <a:schemeClr val="tx2"/>
                </a:solidFill>
              </a:rPr>
              <a:t>code that is broken on purpose</a:t>
            </a:r>
            <a:endParaRPr lang="en-US" sz="1400" dirty="0"/>
          </a:p>
        </p:txBody>
      </p:sp>
      <p:sp>
        <p:nvSpPr>
          <p:cNvPr id="34" name="agenda-card-6"/>
          <p:cNvSpPr/>
          <p:nvPr/>
        </p:nvSpPr>
        <p:spPr>
          <a:xfrm>
            <a:off x="6217920" y="3886200"/>
            <a:ext cx="5394960" cy="1005840"/>
          </a:xfrm>
          <a:prstGeom prst="roundRect">
            <a:avLst>
              <a:gd name="adj" fmla="val 10909"/>
            </a:avLst>
          </a:prstGeom>
          <a:solidFill>
            <a:schemeClr val="bg2"/>
          </a:solidFill>
          <a:ln/>
        </p:spPr>
      </p:sp>
      <p:sp>
        <p:nvSpPr>
          <p:cNvPr id="35" name="badge-bg"/>
          <p:cNvSpPr/>
          <p:nvPr/>
        </p:nvSpPr>
        <p:spPr>
          <a:xfrm>
            <a:off x="6400800" y="4069080"/>
            <a:ext cx="640080" cy="640080"/>
          </a:xfrm>
          <a:prstGeom prst="ellipse">
            <a:avLst/>
          </a:prstGeom>
          <a:solidFill>
            <a:schemeClr val="accent1"/>
          </a:solidFill>
          <a:ln/>
        </p:spPr>
      </p:sp>
      <p:pic>
        <p:nvPicPr>
          <p:cNvPr id="36" name="Image 6" descr="FaLaptopCode">    </p:cNvPr>
          <p:cNvPicPr>
            <a:picLocks noChangeAspect="1"/>
          </p:cNvPicPr>
          <p:nvPr/>
        </p:nvPicPr>
        <p:blipFill>
          <a:blip r:embed="rId7"/>
          <a:stretch>
            <a:fillRect/>
          </a:stretch>
        </p:blipFill>
        <p:spPr>
          <a:xfrm>
            <a:off x="6573622" y="4241902"/>
            <a:ext cx="294437" cy="294437"/>
          </a:xfrm>
          <a:prstGeom prst="rect">
            <a:avLst/>
          </a:prstGeom>
        </p:spPr>
      </p:pic>
      <p:sp>
        <p:nvSpPr>
          <p:cNvPr id="37" name="Text 27"/>
          <p:cNvSpPr txBox="1"/>
          <p:nvPr/>
        </p:nvSpPr>
        <p:spPr>
          <a:xfrm>
            <a:off x="7223760" y="4041648"/>
            <a:ext cx="4206240" cy="365760"/>
          </a:xfrm>
          <a:prstGeom prst="rect">
            <a:avLst/>
          </a:prstGeom>
          <a:noFill/>
          <a:ln/>
        </p:spPr>
        <p:txBody>
          <a:bodyPr wrap="square" lIns="0" tIns="0" rIns="0" bIns="0" rtlCol="0" anchor="t"/>
          <a:lstStyle/>
          <a:p>
            <a:pPr indent="0" marL="0">
              <a:buNone/>
            </a:pPr>
            <a:r>
              <a:rPr lang="en-US" sz="2000" b="1" dirty="0">
                <a:solidFill>
                  <a:schemeClr val="tx1"/>
                </a:solidFill>
              </a:rPr>
              <a:t>Exercises</a:t>
            </a:r>
            <a:endParaRPr lang="en-US" sz="2000" dirty="0"/>
          </a:p>
        </p:txBody>
      </p:sp>
      <p:sp>
        <p:nvSpPr>
          <p:cNvPr id="38" name="Text 28"/>
          <p:cNvSpPr txBox="1"/>
          <p:nvPr/>
        </p:nvSpPr>
        <p:spPr>
          <a:xfrm>
            <a:off x="7223760" y="4416552"/>
            <a:ext cx="4206240" cy="320040"/>
          </a:xfrm>
          <a:prstGeom prst="rect">
            <a:avLst/>
          </a:prstGeom>
          <a:noFill/>
          <a:ln/>
        </p:spPr>
        <p:txBody>
          <a:bodyPr wrap="square" lIns="0" tIns="0" rIns="0" bIns="0" rtlCol="0" anchor="t"/>
          <a:lstStyle/>
          <a:p>
            <a:pPr indent="0" marL="0">
              <a:buNone/>
            </a:pPr>
            <a:r>
              <a:rPr lang="en-US" sz="1400" dirty="0">
                <a:solidFill>
                  <a:schemeClr val="tx2"/>
                </a:solidFill>
              </a:rPr>
              <a:t>practice makes perfect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01</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Introduction</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Tools, IDE suggestions and the domain we will use all day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How this course works</a:t>
            </a:r>
            <a:endParaRPr lang="en-US" sz="3400" dirty="0"/>
          </a:p>
        </p:txBody>
      </p:sp>
      <p:sp>
        <p:nvSpPr>
          <p:cNvPr id="4" name="kind-card-0"/>
          <p:cNvSpPr/>
          <p:nvPr/>
        </p:nvSpPr>
        <p:spPr>
          <a:xfrm>
            <a:off x="548640" y="1554480"/>
            <a:ext cx="2633472" cy="2834640"/>
          </a:xfrm>
          <a:prstGeom prst="roundRect">
            <a:avLst>
              <a:gd name="adj" fmla="val 4167"/>
            </a:avLst>
          </a:prstGeom>
          <a:solidFill>
            <a:schemeClr val="bg2"/>
          </a:solidFill>
          <a:ln/>
        </p:spPr>
      </p:sp>
      <p:sp>
        <p:nvSpPr>
          <p:cNvPr id="5" name="badge-bg"/>
          <p:cNvSpPr/>
          <p:nvPr/>
        </p:nvSpPr>
        <p:spPr>
          <a:xfrm>
            <a:off x="777240" y="1783080"/>
            <a:ext cx="731520" cy="731520"/>
          </a:xfrm>
          <a:prstGeom prst="ellipse">
            <a:avLst/>
          </a:prstGeom>
          <a:solidFill>
            <a:schemeClr val="accent1"/>
          </a:solidFill>
          <a:ln/>
        </p:spPr>
      </p:sp>
      <p:pic>
        <p:nvPicPr>
          <p:cNvPr id="6" name="Image 0" descr="FaBookOpen">    </p:cNvPr>
          <p:cNvPicPr>
            <a:picLocks noChangeAspect="1"/>
          </p:cNvPicPr>
          <p:nvPr/>
        </p:nvPicPr>
        <p:blipFill>
          <a:blip r:embed="rId1"/>
          <a:stretch>
            <a:fillRect/>
          </a:stretch>
        </p:blipFill>
        <p:spPr>
          <a:xfrm>
            <a:off x="974750" y="1980590"/>
            <a:ext cx="336499" cy="336499"/>
          </a:xfrm>
          <a:prstGeom prst="rect">
            <a:avLst/>
          </a:prstGeom>
        </p:spPr>
      </p:pic>
      <p:sp>
        <p:nvSpPr>
          <p:cNvPr id="7" name="Text 3"/>
          <p:cNvSpPr txBox="1"/>
          <p:nvPr/>
        </p:nvSpPr>
        <p:spPr>
          <a:xfrm>
            <a:off x="777240" y="27432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Theory lessons</a:t>
            </a:r>
            <a:endParaRPr lang="en-US" sz="2000" dirty="0"/>
          </a:p>
        </p:txBody>
      </p:sp>
      <p:sp>
        <p:nvSpPr>
          <p:cNvPr id="8" name="Text 4"/>
          <p:cNvSpPr txBox="1"/>
          <p:nvPr/>
        </p:nvSpPr>
        <p:spPr>
          <a:xfrm>
            <a:off x="777240" y="3200400"/>
            <a:ext cx="2194560" cy="1097280"/>
          </a:xfrm>
          <a:prstGeom prst="rect">
            <a:avLst/>
          </a:prstGeom>
          <a:noFill/>
          <a:ln/>
        </p:spPr>
        <p:txBody>
          <a:bodyPr wrap="square" lIns="0" tIns="0" rIns="0" bIns="0" rtlCol="0" anchor="t"/>
          <a:lstStyle/>
          <a:p>
            <a:pPr indent="0" marL="0">
              <a:buNone/>
            </a:pPr>
            <a:r>
              <a:rPr lang="en-US" sz="1500" dirty="0">
                <a:solidFill>
                  <a:schemeClr val="tx1"/>
                </a:solidFill>
              </a:rPr>
              <a:t>Open </a:t>
            </a:r>
            <a:pPr indent="0" marL="0">
              <a:buNone/>
            </a:pPr>
            <a:r>
              <a:rPr lang="en-US" sz="1500" dirty="0">
                <a:solidFill>
                  <a:schemeClr val="tx2"/>
                </a:solidFill>
                <a:latin typeface="Courier New" pitchFamily="34" charset="0"/>
                <a:ea typeface="Courier New" pitchFamily="34" charset="-122"/>
                <a:cs typeface="Courier New" pitchFamily="34" charset="-120"/>
              </a:rPr>
              <a:t>src/Main.java</a:t>
            </a:r>
            <a:pPr indent="0" marL="0">
              <a:buNone/>
            </a:pPr>
            <a:r>
              <a:rPr lang="en-US" sz="1500" dirty="0">
                <a:solidFill>
                  <a:schemeClr val="tx1"/>
                </a:solidFill>
              </a:rPr>
              <a:t>, read it top to bottom and run it.</a:t>
            </a:r>
            <a:endParaRPr lang="en-US" sz="1500" dirty="0"/>
          </a:p>
        </p:txBody>
      </p:sp>
      <p:sp>
        <p:nvSpPr>
          <p:cNvPr id="9" name="kind-card-1"/>
          <p:cNvSpPr/>
          <p:nvPr/>
        </p:nvSpPr>
        <p:spPr>
          <a:xfrm>
            <a:off x="3364992" y="1554480"/>
            <a:ext cx="2633472" cy="2834640"/>
          </a:xfrm>
          <a:prstGeom prst="roundRect">
            <a:avLst>
              <a:gd name="adj" fmla="val 4167"/>
            </a:avLst>
          </a:prstGeom>
          <a:solidFill>
            <a:schemeClr val="bg2"/>
          </a:solidFill>
          <a:ln/>
        </p:spPr>
      </p:sp>
      <p:sp>
        <p:nvSpPr>
          <p:cNvPr id="10" name="badge-bg"/>
          <p:cNvSpPr/>
          <p:nvPr/>
        </p:nvSpPr>
        <p:spPr>
          <a:xfrm>
            <a:off x="3593592" y="1783080"/>
            <a:ext cx="731520" cy="731520"/>
          </a:xfrm>
          <a:prstGeom prst="ellipse">
            <a:avLst/>
          </a:prstGeom>
          <a:solidFill>
            <a:schemeClr val="accent6"/>
          </a:solidFill>
          <a:ln/>
        </p:spPr>
      </p:sp>
      <p:pic>
        <p:nvPicPr>
          <p:cNvPr id="11" name="Image 1" descr="FaTerminal">    </p:cNvPr>
          <p:cNvPicPr>
            <a:picLocks noChangeAspect="1"/>
          </p:cNvPicPr>
          <p:nvPr/>
        </p:nvPicPr>
        <p:blipFill>
          <a:blip r:embed="rId2"/>
          <a:stretch>
            <a:fillRect/>
          </a:stretch>
        </p:blipFill>
        <p:spPr>
          <a:xfrm>
            <a:off x="3791102" y="1980590"/>
            <a:ext cx="336499" cy="336499"/>
          </a:xfrm>
          <a:prstGeom prst="rect">
            <a:avLst/>
          </a:prstGeom>
        </p:spPr>
      </p:pic>
      <p:sp>
        <p:nvSpPr>
          <p:cNvPr id="12" name="Text 7"/>
          <p:cNvSpPr txBox="1"/>
          <p:nvPr/>
        </p:nvSpPr>
        <p:spPr>
          <a:xfrm>
            <a:off x="3593592" y="27432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Output tasks</a:t>
            </a:r>
            <a:endParaRPr lang="en-US" sz="2000" dirty="0"/>
          </a:p>
        </p:txBody>
      </p:sp>
      <p:sp>
        <p:nvSpPr>
          <p:cNvPr id="13" name="Text 8"/>
          <p:cNvSpPr txBox="1"/>
          <p:nvPr/>
        </p:nvSpPr>
        <p:spPr>
          <a:xfrm>
            <a:off x="3593592" y="3200400"/>
            <a:ext cx="2194560" cy="1097280"/>
          </a:xfrm>
          <a:prstGeom prst="rect">
            <a:avLst/>
          </a:prstGeom>
          <a:noFill/>
          <a:ln/>
        </p:spPr>
        <p:txBody>
          <a:bodyPr wrap="square" lIns="0" tIns="0" rIns="0" bIns="0" rtlCol="0" anchor="t"/>
          <a:lstStyle/>
          <a:p>
            <a:pPr indent="0" marL="0">
              <a:buNone/>
            </a:pPr>
            <a:r>
              <a:rPr lang="en-US" sz="1500" dirty="0">
                <a:solidFill>
                  <a:schemeClr val="tx1"/>
                </a:solidFill>
              </a:rPr>
              <a:t>Finish the TODO. Your output must match the expected output.</a:t>
            </a:r>
            <a:endParaRPr lang="en-US" sz="1500" dirty="0"/>
          </a:p>
        </p:txBody>
      </p:sp>
      <p:sp>
        <p:nvSpPr>
          <p:cNvPr id="14" name="kind-card-2"/>
          <p:cNvSpPr/>
          <p:nvPr/>
        </p:nvSpPr>
        <p:spPr>
          <a:xfrm>
            <a:off x="6181344" y="1554480"/>
            <a:ext cx="2633472" cy="2834640"/>
          </a:xfrm>
          <a:prstGeom prst="roundRect">
            <a:avLst>
              <a:gd name="adj" fmla="val 4167"/>
            </a:avLst>
          </a:prstGeom>
          <a:solidFill>
            <a:schemeClr val="bg2"/>
          </a:solidFill>
          <a:ln/>
        </p:spPr>
      </p:sp>
      <p:sp>
        <p:nvSpPr>
          <p:cNvPr id="15" name="badge-bg"/>
          <p:cNvSpPr/>
          <p:nvPr/>
        </p:nvSpPr>
        <p:spPr>
          <a:xfrm>
            <a:off x="6409944" y="1783080"/>
            <a:ext cx="731520" cy="731520"/>
          </a:xfrm>
          <a:prstGeom prst="ellipse">
            <a:avLst/>
          </a:prstGeom>
          <a:solidFill>
            <a:schemeClr val="accent5"/>
          </a:solidFill>
          <a:ln/>
        </p:spPr>
      </p:sp>
      <p:pic>
        <p:nvPicPr>
          <p:cNvPr id="16" name="Image 2" descr="FaCheckCircle">    </p:cNvPr>
          <p:cNvPicPr>
            <a:picLocks noChangeAspect="1"/>
          </p:cNvPicPr>
          <p:nvPr/>
        </p:nvPicPr>
        <p:blipFill>
          <a:blip r:embed="rId3"/>
          <a:stretch>
            <a:fillRect/>
          </a:stretch>
        </p:blipFill>
        <p:spPr>
          <a:xfrm>
            <a:off x="6607454" y="1980590"/>
            <a:ext cx="336499" cy="336499"/>
          </a:xfrm>
          <a:prstGeom prst="rect">
            <a:avLst/>
          </a:prstGeom>
        </p:spPr>
      </p:pic>
      <p:sp>
        <p:nvSpPr>
          <p:cNvPr id="17" name="Text 11"/>
          <p:cNvSpPr txBox="1"/>
          <p:nvPr/>
        </p:nvSpPr>
        <p:spPr>
          <a:xfrm>
            <a:off x="6409944" y="27432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Exercises</a:t>
            </a:r>
            <a:endParaRPr lang="en-US" sz="2000" dirty="0"/>
          </a:p>
        </p:txBody>
      </p:sp>
      <p:sp>
        <p:nvSpPr>
          <p:cNvPr id="18" name="Text 12"/>
          <p:cNvSpPr txBox="1"/>
          <p:nvPr/>
        </p:nvSpPr>
        <p:spPr>
          <a:xfrm>
            <a:off x="6409944" y="3200400"/>
            <a:ext cx="2194560" cy="1097280"/>
          </a:xfrm>
          <a:prstGeom prst="rect">
            <a:avLst/>
          </a:prstGeom>
          <a:noFill/>
          <a:ln/>
        </p:spPr>
        <p:txBody>
          <a:bodyPr wrap="square" lIns="0" tIns="0" rIns="0" bIns="0" rtlCol="0" anchor="t"/>
          <a:lstStyle/>
          <a:p>
            <a:pPr indent="0" marL="0">
              <a:buNone/>
            </a:pPr>
            <a:r>
              <a:rPr lang="en-US" sz="1500" dirty="0">
                <a:solidFill>
                  <a:schemeClr val="tx1"/>
                </a:solidFill>
              </a:rPr>
              <a:t>Implement the method. The unit tests tell you when you are done.</a:t>
            </a:r>
            <a:endParaRPr lang="en-US" sz="1500" dirty="0"/>
          </a:p>
        </p:txBody>
      </p:sp>
      <p:sp>
        <p:nvSpPr>
          <p:cNvPr id="19" name="kind-card-3"/>
          <p:cNvSpPr/>
          <p:nvPr/>
        </p:nvSpPr>
        <p:spPr>
          <a:xfrm>
            <a:off x="8997696" y="1554480"/>
            <a:ext cx="2633472" cy="2834640"/>
          </a:xfrm>
          <a:prstGeom prst="roundRect">
            <a:avLst>
              <a:gd name="adj" fmla="val 4167"/>
            </a:avLst>
          </a:prstGeom>
          <a:solidFill>
            <a:schemeClr val="bg2"/>
          </a:solidFill>
          <a:ln/>
        </p:spPr>
      </p:sp>
      <p:sp>
        <p:nvSpPr>
          <p:cNvPr id="20" name="badge-bg"/>
          <p:cNvSpPr/>
          <p:nvPr/>
        </p:nvSpPr>
        <p:spPr>
          <a:xfrm>
            <a:off x="9226296" y="1783080"/>
            <a:ext cx="731520" cy="731520"/>
          </a:xfrm>
          <a:prstGeom prst="ellipse">
            <a:avLst/>
          </a:prstGeom>
          <a:solidFill>
            <a:schemeClr val="accent4"/>
          </a:solidFill>
          <a:ln/>
        </p:spPr>
      </p:sp>
      <p:pic>
        <p:nvPicPr>
          <p:cNvPr id="21" name="Image 3" descr="FaBug">    </p:cNvPr>
          <p:cNvPicPr>
            <a:picLocks noChangeAspect="1"/>
          </p:cNvPicPr>
          <p:nvPr/>
        </p:nvPicPr>
        <p:blipFill>
          <a:blip r:embed="rId4"/>
          <a:stretch>
            <a:fillRect/>
          </a:stretch>
        </p:blipFill>
        <p:spPr>
          <a:xfrm>
            <a:off x="9423806" y="1980590"/>
            <a:ext cx="336499" cy="336499"/>
          </a:xfrm>
          <a:prstGeom prst="rect">
            <a:avLst/>
          </a:prstGeom>
        </p:spPr>
      </p:pic>
      <p:sp>
        <p:nvSpPr>
          <p:cNvPr id="22" name="Text 15"/>
          <p:cNvSpPr txBox="1"/>
          <p:nvPr/>
        </p:nvSpPr>
        <p:spPr>
          <a:xfrm>
            <a:off x="9226296" y="27432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Pitfalls</a:t>
            </a:r>
            <a:endParaRPr lang="en-US" sz="2000" dirty="0"/>
          </a:p>
        </p:txBody>
      </p:sp>
      <p:sp>
        <p:nvSpPr>
          <p:cNvPr id="23" name="Text 16"/>
          <p:cNvSpPr txBox="1"/>
          <p:nvPr/>
        </p:nvSpPr>
        <p:spPr>
          <a:xfrm>
            <a:off x="9226296" y="3200400"/>
            <a:ext cx="2194560" cy="1097280"/>
          </a:xfrm>
          <a:prstGeom prst="rect">
            <a:avLst/>
          </a:prstGeom>
          <a:noFill/>
          <a:ln/>
        </p:spPr>
        <p:txBody>
          <a:bodyPr wrap="square" lIns="0" tIns="0" rIns="0" bIns="0" rtlCol="0" anchor="t"/>
          <a:lstStyle/>
          <a:p>
            <a:pPr indent="0" marL="0">
              <a:buNone/>
            </a:pPr>
            <a:r>
              <a:rPr lang="en-US" sz="1500" dirty="0">
                <a:solidFill>
                  <a:schemeClr val="tx1"/>
                </a:solidFill>
              </a:rPr>
              <a:t>This code is broken </a:t>
            </a:r>
            <a:pPr indent="0" marL="0">
              <a:buNone/>
            </a:pPr>
            <a:r>
              <a:rPr lang="en-US" sz="1500" b="1" dirty="0">
                <a:solidFill>
                  <a:schemeClr val="tx1"/>
                </a:solidFill>
              </a:rPr>
              <a:t>on purpose</a:t>
            </a:r>
            <a:pPr indent="0" marL="0">
              <a:buNone/>
            </a:pPr>
            <a:r>
              <a:rPr lang="en-US" sz="1500" dirty="0">
                <a:solidFill>
                  <a:schemeClr val="tx1"/>
                </a:solidFill>
              </a:rPr>
              <a:t>. Run it and watch what goes wrong.</a:t>
            </a:r>
            <a:endParaRPr lang="en-US" sz="1500" dirty="0"/>
          </a:p>
        </p:txBody>
      </p:sp>
      <p:sp>
        <p:nvSpPr>
          <p:cNvPr id="24" name="tools-card"/>
          <p:cNvSpPr/>
          <p:nvPr/>
        </p:nvSpPr>
        <p:spPr>
          <a:xfrm>
            <a:off x="548640" y="4663440"/>
            <a:ext cx="11091672" cy="1371600"/>
          </a:xfrm>
          <a:prstGeom prst="roundRect">
            <a:avLst>
              <a:gd name="adj" fmla="val 8000"/>
            </a:avLst>
          </a:prstGeom>
          <a:solidFill>
            <a:schemeClr val="tx2"/>
          </a:solidFill>
          <a:ln/>
        </p:spPr>
      </p:sp>
      <p:sp>
        <p:nvSpPr>
          <p:cNvPr id="25" name="Text 18"/>
          <p:cNvSpPr txBox="1"/>
          <p:nvPr/>
        </p:nvSpPr>
        <p:spPr>
          <a:xfrm>
            <a:off x="822960" y="4800600"/>
            <a:ext cx="2743200" cy="320040"/>
          </a:xfrm>
          <a:prstGeom prst="rect">
            <a:avLst/>
          </a:prstGeom>
          <a:noFill/>
          <a:ln/>
        </p:spPr>
        <p:txBody>
          <a:bodyPr wrap="square" lIns="0" tIns="0" rIns="0" bIns="0" rtlCol="0" anchor="t"/>
          <a:lstStyle/>
          <a:p>
            <a:pPr indent="0" marL="0">
              <a:buNone/>
            </a:pPr>
            <a:r>
              <a:rPr lang="en-US" sz="1600" b="1" dirty="0">
                <a:solidFill>
                  <a:schemeClr val="accent3"/>
                </a:solidFill>
              </a:rPr>
              <a:t>Tools</a:t>
            </a:r>
            <a:endParaRPr lang="en-US" sz="1600" dirty="0"/>
          </a:p>
        </p:txBody>
      </p:sp>
      <p:sp>
        <p:nvSpPr>
          <p:cNvPr id="26" name="Text 19"/>
          <p:cNvSpPr txBox="1"/>
          <p:nvPr/>
        </p:nvSpPr>
        <p:spPr>
          <a:xfrm>
            <a:off x="822960" y="5166360"/>
            <a:ext cx="10543032" cy="777240"/>
          </a:xfrm>
          <a:prstGeom prst="rect">
            <a:avLst/>
          </a:prstGeom>
          <a:noFill/>
          <a:ln/>
        </p:spPr>
        <p:txBody>
          <a:bodyPr wrap="square" lIns="0" tIns="0" rIns="0" bIns="0" rtlCol="0" anchor="t"/>
          <a:lstStyle/>
          <a:p>
            <a:pPr indent="0" marL="0">
              <a:buNone/>
            </a:pPr>
            <a:r>
              <a:rPr lang="en-US" sz="1600" dirty="0">
                <a:solidFill>
                  <a:schemeClr val="bg1"/>
                </a:solidFill>
              </a:rPr>
              <a:t>Java 25 (LTS)  ·  Gradle wrapper (</a:t>
            </a:r>
            <a:pPr indent="0" marL="0">
              <a:buNone/>
            </a:pPr>
            <a:r>
              <a:rPr lang="en-US" sz="1600" dirty="0">
                <a:solidFill>
                  <a:schemeClr val="accent3"/>
                </a:solidFill>
                <a:latin typeface="Courier New" pitchFamily="34" charset="0"/>
                <a:ea typeface="Courier New" pitchFamily="34" charset="-122"/>
                <a:cs typeface="Courier New" pitchFamily="34" charset="-120"/>
              </a:rPr>
              <a:t>./gradlew</a:t>
            </a:r>
            <a:pPr indent="0" marL="0">
              <a:buNone/>
            </a:pPr>
            <a:r>
              <a:rPr lang="en-US" sz="1600" dirty="0">
                <a:solidFill>
                  <a:schemeClr val="bg1"/>
                </a:solidFill>
              </a:rPr>
              <a:t>)  ·  IntelliJ IDEA + Learn and Teach  ·  JUnit + AssertJ</a:t>
            </a:r>
            <a:endParaRPr lang="en-US" sz="1600" dirty="0"/>
          </a:p>
          <a:p>
            <a:pPr indent="0" marL="0">
              <a:buNone/>
            </a:pPr>
            <a:r>
              <a:rPr lang="en-US" sz="1600" dirty="0">
                <a:solidFill>
                  <a:schemeClr val="bg1"/>
                </a:solidFill>
              </a:rPr>
              <a:t>sdkman and a good terminal (iTerm2, Windows Terminal) are optional but handy</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Functional interfaces: the vocabulary of streams</a:t>
            </a:r>
            <a:endParaRPr lang="en-US" sz="34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468880"/>
                <a:gridCol w="2468880"/>
                <a:gridCol w="3108960"/>
                <a:gridCol w="3044952"/>
              </a:tblGrid>
              <a:tr h="566928">
                <a:tc>
                  <a:txBody>
                    <a:bodyPr/>
                    <a:lstStyle/>
                    <a:p>
                      <a:pPr indent="0" marL="0">
                        <a:buNone/>
                      </a:pPr>
                      <a:r>
                        <a:rPr lang="en-US" sz="1500" b="1" dirty="0">
                          <a:solidFill>
                            <a:schemeClr val="bg1"/>
                          </a:solidFill>
                        </a:rPr>
                        <a:t>Interface</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Method</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Meaning</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Example</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Predicate&lt;T&gt;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boolean test(T)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yes or no about a value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s -&gt; s.isEmpty()</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Function&lt;T,R&gt;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R apply(T)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turns a value into another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String::length</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Consumer&lt;T&gt;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void accept(T)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does something, returns nothing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System.out::println</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Supplier&lt;T&gt;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T get()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produces a value from nothing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ArrayList::new</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BinaryOperator&lt;T&gt;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T apply(T, 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combines two values of one type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(a, b) -&gt; a + b</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Comparator&lt;T&gt;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int compare(T, 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orders two values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comparingInt(String::length)</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fi-footnote"/>
          <p:cNvSpPr txBox="1"/>
          <p:nvPr/>
        </p:nvSpPr>
        <p:spPr>
          <a:xfrm>
            <a:off x="548640" y="5577840"/>
            <a:ext cx="11091672" cy="457200"/>
          </a:xfrm>
          <a:prstGeom prst="rect">
            <a:avLst/>
          </a:prstGeom>
          <a:noFill/>
          <a:ln/>
        </p:spPr>
        <p:txBody>
          <a:bodyPr wrap="square" lIns="0" tIns="0" rIns="0" bIns="0" rtlCol="0" anchor="ctr"/>
          <a:lstStyle/>
          <a:p>
            <a:pPr indent="0" marL="0">
              <a:buNone/>
            </a:pPr>
            <a:r>
              <a:rPr lang="en-US" sz="1600" dirty="0">
                <a:solidFill>
                  <a:schemeClr val="tx2"/>
                </a:solidFill>
                <a:latin typeface="Courier New" pitchFamily="34" charset="0"/>
                <a:ea typeface="Courier New" pitchFamily="34" charset="-122"/>
                <a:cs typeface="Courier New" pitchFamily="34" charset="-120"/>
              </a:rPr>
              <a:t>filter</a:t>
            </a:r>
            <a:pPr indent="0" marL="0">
              <a:buNone/>
            </a:pPr>
            <a:r>
              <a:rPr lang="en-US" sz="1600" dirty="0">
                <a:solidFill>
                  <a:schemeClr val="tx2"/>
                </a:solidFill>
              </a:rPr>
              <a:t> takes a </a:t>
            </a:r>
            <a:pPr indent="0" marL="0">
              <a:buNone/>
            </a:pPr>
            <a:r>
              <a:rPr lang="en-US" sz="1600" dirty="0">
                <a:solidFill>
                  <a:schemeClr val="tx2"/>
                </a:solidFill>
                <a:latin typeface="Courier New" pitchFamily="34" charset="0"/>
                <a:ea typeface="Courier New" pitchFamily="34" charset="-122"/>
                <a:cs typeface="Courier New" pitchFamily="34" charset="-120"/>
              </a:rPr>
              <a:t>Predicate</a:t>
            </a:r>
            <a:pPr indent="0" marL="0">
              <a:buNone/>
            </a:pPr>
            <a:r>
              <a:rPr lang="en-US" sz="1600" dirty="0">
                <a:solidFill>
                  <a:schemeClr val="tx2"/>
                </a:solidFill>
              </a:rPr>
              <a:t>, </a:t>
            </a:r>
            <a:pPr indent="0" marL="0">
              <a:buNone/>
            </a:pPr>
            <a:r>
              <a:rPr lang="en-US" sz="1600" dirty="0">
                <a:solidFill>
                  <a:schemeClr val="tx2"/>
                </a:solidFill>
                <a:latin typeface="Courier New" pitchFamily="34" charset="0"/>
                <a:ea typeface="Courier New" pitchFamily="34" charset="-122"/>
                <a:cs typeface="Courier New" pitchFamily="34" charset="-120"/>
              </a:rPr>
              <a:t>map</a:t>
            </a:r>
            <a:pPr indent="0" marL="0">
              <a:buNone/>
            </a:pPr>
            <a:r>
              <a:rPr lang="en-US" sz="1600" dirty="0">
                <a:solidFill>
                  <a:schemeClr val="tx2"/>
                </a:solidFill>
              </a:rPr>
              <a:t> a </a:t>
            </a:r>
            <a:pPr indent="0" marL="0">
              <a:buNone/>
            </a:pPr>
            <a:r>
              <a:rPr lang="en-US" sz="1600" dirty="0">
                <a:solidFill>
                  <a:schemeClr val="tx2"/>
                </a:solidFill>
                <a:latin typeface="Courier New" pitchFamily="34" charset="0"/>
                <a:ea typeface="Courier New" pitchFamily="34" charset="-122"/>
                <a:cs typeface="Courier New" pitchFamily="34" charset="-120"/>
              </a:rPr>
              <a:t>Function</a:t>
            </a:r>
            <a:pPr indent="0" marL="0">
              <a:buNone/>
            </a:pPr>
            <a:r>
              <a:rPr lang="en-US" sz="1600" dirty="0">
                <a:solidFill>
                  <a:schemeClr val="tx2"/>
                </a:solidFill>
              </a:rPr>
              <a:t>, </a:t>
            </a:r>
            <a:pPr indent="0" marL="0">
              <a:buNone/>
            </a:pPr>
            <a:r>
              <a:rPr lang="en-US" sz="1600" dirty="0">
                <a:solidFill>
                  <a:schemeClr val="tx2"/>
                </a:solidFill>
                <a:latin typeface="Courier New" pitchFamily="34" charset="0"/>
                <a:ea typeface="Courier New" pitchFamily="34" charset="-122"/>
                <a:cs typeface="Courier New" pitchFamily="34" charset="-120"/>
              </a:rPr>
              <a:t>forEach</a:t>
            </a:r>
            <a:pPr indent="0" marL="0">
              <a:buNone/>
            </a:pPr>
            <a:r>
              <a:rPr lang="en-US" sz="1600" dirty="0">
                <a:solidFill>
                  <a:schemeClr val="tx2"/>
                </a:solidFill>
              </a:rPr>
              <a:t> a </a:t>
            </a:r>
            <a:pPr indent="0" marL="0">
              <a:buNone/>
            </a:pPr>
            <a:r>
              <a:rPr lang="en-US" sz="1600" dirty="0">
                <a:solidFill>
                  <a:schemeClr val="tx2"/>
                </a:solidFill>
                <a:latin typeface="Courier New" pitchFamily="34" charset="0"/>
                <a:ea typeface="Courier New" pitchFamily="34" charset="-122"/>
                <a:cs typeface="Courier New" pitchFamily="34" charset="-120"/>
              </a:rPr>
              <a:t>Consumer</a:t>
            </a:r>
            <a:pPr indent="0" marL="0">
              <a:buNone/>
            </a:pPr>
            <a:r>
              <a:rPr lang="en-US" sz="1600" dirty="0">
                <a:solidFill>
                  <a:schemeClr val="tx2"/>
                </a:solidFill>
              </a:rPr>
              <a:t>, </a:t>
            </a:r>
            <a:pPr indent="0" marL="0">
              <a:buNone/>
            </a:pPr>
            <a:r>
              <a:rPr lang="en-US" sz="1600" dirty="0">
                <a:solidFill>
                  <a:schemeClr val="tx2"/>
                </a:solidFill>
                <a:latin typeface="Courier New" pitchFamily="34" charset="0"/>
                <a:ea typeface="Courier New" pitchFamily="34" charset="-122"/>
                <a:cs typeface="Courier New" pitchFamily="34" charset="-120"/>
              </a:rPr>
              <a:t>sorted</a:t>
            </a:r>
            <a:pPr indent="0" marL="0">
              <a:buNone/>
            </a:pPr>
            <a:r>
              <a:rPr lang="en-US" sz="1600" dirty="0">
                <a:solidFill>
                  <a:schemeClr val="tx2"/>
                </a:solidFill>
              </a:rPr>
              <a:t> a </a:t>
            </a:r>
            <a:pPr indent="0" marL="0">
              <a:buNone/>
            </a:pPr>
            <a:r>
              <a:rPr lang="en-US" sz="1600" dirty="0">
                <a:solidFill>
                  <a:schemeClr val="tx2"/>
                </a:solidFill>
                <a:latin typeface="Courier New" pitchFamily="34" charset="0"/>
                <a:ea typeface="Courier New" pitchFamily="34" charset="-122"/>
                <a:cs typeface="Courier New" pitchFamily="34" charset="-120"/>
              </a:rPr>
              <a:t>Comparator</a:t>
            </a:r>
            <a:pPr indent="0" marL="0">
              <a:buNone/>
            </a:pPr>
            <a:r>
              <a:rPr lang="en-US" sz="16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IntelliJ suggestions are part of the lesson</a:t>
            </a:r>
            <a:endParaRPr lang="en-US" sz="3400" dirty="0"/>
          </a:p>
        </p:txBody>
      </p:sp>
      <p:sp>
        <p:nvSpPr>
          <p:cNvPr id="4" name="bullets"/>
          <p:cNvSpPr txBox="1"/>
          <p:nvPr/>
        </p:nvSpPr>
        <p:spPr>
          <a:xfrm>
            <a:off x="548640" y="1554480"/>
            <a:ext cx="5669280" cy="347472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chemeClr val="tx1"/>
                </a:solidFill>
              </a:rPr>
              <a:t>Some snippets are </a:t>
            </a:r>
            <a:pPr indent="0" marL="0">
              <a:buNone/>
            </a:pPr>
            <a:r>
              <a:rPr lang="en-US" sz="2000" b="1" dirty="0">
                <a:solidFill>
                  <a:schemeClr val="tx1"/>
                </a:solidFill>
              </a:rPr>
              <a:t>intentionally suboptimal</a:t>
            </a:r>
            <a:endParaRPr lang="en-US" sz="2000" dirty="0"/>
          </a:p>
          <a:p>
            <a:pPr marL="228600" indent="-228600">
              <a:spcAft>
                <a:spcPts val="1600"/>
              </a:spcAft>
              <a:buSzPct val="100000"/>
              <a:buChar char="•"/>
            </a:pPr>
            <a:r>
              <a:rPr lang="en-US" sz="2000" dirty="0">
                <a:solidFill>
                  <a:schemeClr val="tx1"/>
                </a:solidFill>
              </a:rPr>
              <a:t>Yellow or grey highlight in the editor? Press </a:t>
            </a:r>
            <a:pPr indent="0" marL="0">
              <a:buNone/>
            </a:pPr>
            <a:r>
              <a:rPr lang="en-US" sz="2000" b="1" dirty="0">
                <a:solidFill>
                  <a:schemeClr val="tx1"/>
                </a:solidFill>
              </a:rPr>
              <a:t>Alt+Enter</a:t>
            </a:r>
            <a:endParaRPr lang="en-US" sz="2000" dirty="0"/>
          </a:p>
          <a:p>
            <a:pPr marL="228600" indent="-228600">
              <a:spcAft>
                <a:spcPts val="1600"/>
              </a:spcAft>
              <a:buSzPct val="100000"/>
              <a:buChar char="•"/>
            </a:pPr>
            <a:r>
              <a:rPr lang="en-US" sz="2000" dirty="0">
                <a:solidFill>
                  <a:schemeClr val="tx1"/>
                </a:solidFill>
              </a:rPr>
              <a:t>Apply the suggestion, then </a:t>
            </a:r>
            <a:pPr indent="0" marL="0">
              <a:buNone/>
            </a:pPr>
            <a:r>
              <a:rPr lang="en-US" sz="2000" b="1" dirty="0">
                <a:solidFill>
                  <a:schemeClr val="tx1"/>
                </a:solidFill>
              </a:rPr>
              <a:t>compare before and after</a:t>
            </a:r>
            <a:endParaRPr lang="en-US" sz="2000" dirty="0"/>
          </a:p>
          <a:p>
            <a:pPr marL="228600" indent="-228600">
              <a:spcAft>
                <a:spcPts val="1600"/>
              </a:spcAft>
              <a:buSzPct val="100000"/>
              <a:buChar char="•"/>
            </a:pPr>
            <a:r>
              <a:rPr lang="en-US" sz="2000" dirty="0">
                <a:solidFill>
                  <a:schemeClr val="tx1"/>
                </a:solidFill>
              </a:rPr>
              <a:t>Example: </a:t>
            </a:r>
            <a:pPr indent="0" marL="0">
              <a:buNone/>
            </a:pPr>
            <a:r>
              <a:rPr lang="en-US" sz="2000" dirty="0">
                <a:solidFill>
                  <a:schemeClr val="tx2"/>
                </a:solidFill>
                <a:latin typeface="Courier New" pitchFamily="34" charset="0"/>
                <a:ea typeface="Courier New" pitchFamily="34" charset="-122"/>
                <a:cs typeface="Courier New" pitchFamily="34" charset="-120"/>
              </a:rPr>
              <a:t>Collectors.toList()</a:t>
            </a:r>
            <a:pPr indent="0" marL="0">
              <a:buNone/>
            </a:pPr>
            <a:r>
              <a:rPr lang="en-US" sz="2000" dirty="0">
                <a:solidFill>
                  <a:schemeClr val="tx1"/>
                </a:solidFill>
              </a:rPr>
              <a:t> → </a:t>
            </a:r>
            <a:pPr indent="0" marL="0">
              <a:buNone/>
            </a:pPr>
            <a:r>
              <a:rPr lang="en-US" sz="2000" dirty="0">
                <a:solidFill>
                  <a:schemeClr val="tx2"/>
                </a:solidFill>
                <a:latin typeface="Courier New" pitchFamily="34" charset="0"/>
                <a:ea typeface="Courier New" pitchFamily="34" charset="-122"/>
                <a:cs typeface="Courier New" pitchFamily="34" charset="-120"/>
              </a:rPr>
              <a:t>.toList()</a:t>
            </a:r>
            <a:pPr indent="0" marL="0">
              <a:buNone/>
            </a:pPr>
            <a:r>
              <a:rPr lang="en-US" sz="2000" dirty="0">
                <a:solidFill>
                  <a:schemeClr val="tx1"/>
                </a:solidFill>
              </a:rPr>
              <a:t>, lambda → method reference</a:t>
            </a:r>
            <a:endParaRPr lang="en-US" sz="2000" dirty="0"/>
          </a:p>
        </p:txBody>
      </p:sp>
      <p:sp>
        <p:nvSpPr>
          <p:cNvPr id="5" name="hulk-card"/>
          <p:cNvSpPr/>
          <p:nvPr/>
        </p:nvSpPr>
        <p:spPr>
          <a:xfrm>
            <a:off x="6675120" y="1463040"/>
            <a:ext cx="2514600" cy="3840480"/>
          </a:xfrm>
          <a:prstGeom prst="roundRect">
            <a:avLst>
              <a:gd name="adj" fmla="val 4364"/>
            </a:avLst>
          </a:prstGeom>
          <a:solidFill>
            <a:schemeClr val="bg2"/>
          </a:solidFill>
          <a:ln/>
        </p:spPr>
      </p:sp>
      <p:pic>
        <p:nvPicPr>
          <p:cNvPr id="6" name="Image 0" descr="Hulk suggesting changes">    </p:cNvPr>
          <p:cNvPicPr>
            <a:picLocks noChangeAspect="1"/>
          </p:cNvPicPr>
          <p:nvPr/>
        </p:nvPicPr>
        <p:blipFill>
          <a:blip r:embed="rId1"/>
          <a:stretch>
            <a:fillRect/>
          </a:stretch>
        </p:blipFill>
        <p:spPr>
          <a:xfrm>
            <a:off x="6812280" y="1600200"/>
            <a:ext cx="2240280" cy="2496312"/>
          </a:xfrm>
          <a:prstGeom prst="rect">
            <a:avLst/>
          </a:prstGeom>
        </p:spPr>
      </p:pic>
      <p:pic>
        <p:nvPicPr>
          <p:cNvPr id="7" name="Image 1" descr="IntelliJ code suggestion popup">    </p:cNvPr>
          <p:cNvPicPr>
            <a:picLocks noChangeAspect="1"/>
          </p:cNvPicPr>
          <p:nvPr/>
        </p:nvPicPr>
        <p:blipFill>
          <a:blip r:embed="rId2"/>
          <a:stretch>
            <a:fillRect/>
          </a:stretch>
        </p:blipFill>
        <p:spPr>
          <a:xfrm>
            <a:off x="9418320" y="1463040"/>
            <a:ext cx="2221992" cy="1417320"/>
          </a:xfrm>
          <a:prstGeom prst="rect">
            <a:avLst/>
          </a:prstGeom>
        </p:spPr>
      </p:pic>
      <p:sp>
        <p:nvSpPr>
          <p:cNvPr id="8" name="Text 3"/>
          <p:cNvSpPr txBox="1"/>
          <p:nvPr/>
        </p:nvSpPr>
        <p:spPr>
          <a:xfrm>
            <a:off x="6812280" y="4297680"/>
            <a:ext cx="2240280" cy="914400"/>
          </a:xfrm>
          <a:prstGeom prst="rect">
            <a:avLst/>
          </a:prstGeom>
          <a:noFill/>
          <a:ln/>
        </p:spPr>
        <p:txBody>
          <a:bodyPr wrap="square" lIns="0" tIns="0" rIns="0" bIns="0" rtlCol="0" anchor="t"/>
          <a:lstStyle/>
          <a:p>
            <a:pPr indent="0" marL="0">
              <a:buNone/>
            </a:pPr>
            <a:r>
              <a:rPr lang="en-US" sz="1600" dirty="0">
                <a:solidFill>
                  <a:schemeClr val="tx1"/>
                </a:solidFill>
              </a:rPr>
              <a:t>When you see this, </a:t>
            </a:r>
            <a:pPr indent="0" marL="0">
              <a:buNone/>
            </a:pPr>
            <a:r>
              <a:rPr lang="en-US" sz="1600" b="1" dirty="0">
                <a:solidFill>
                  <a:schemeClr val="tx1"/>
                </a:solidFill>
              </a:rPr>
              <a:t>you must</a:t>
            </a:r>
            <a:pPr indent="0" marL="0">
              <a:buNone/>
            </a:pPr>
            <a:r>
              <a:rPr lang="en-US" sz="1600" dirty="0">
                <a:solidFill>
                  <a:schemeClr val="tx1"/>
                </a:solidFill>
              </a:rPr>
              <a:t> apply it</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The domain: four records</a:t>
            </a:r>
            <a:endParaRPr lang="en-US" sz="3400" dirty="0"/>
          </a:p>
        </p:txBody>
      </p:sp>
      <p:sp>
        <p:nvSpPr>
          <p:cNvPr id="4" name="record-Customer"/>
          <p:cNvSpPr/>
          <p:nvPr/>
        </p:nvSpPr>
        <p:spPr>
          <a:xfrm>
            <a:off x="548640" y="1645920"/>
            <a:ext cx="3017520" cy="1554480"/>
          </a:xfrm>
          <a:prstGeom prst="roundRect">
            <a:avLst>
              <a:gd name="adj" fmla="val 7059"/>
            </a:avLst>
          </a:prstGeom>
          <a:solidFill>
            <a:schemeClr val="bg2"/>
          </a:solidFill>
          <a:ln/>
        </p:spPr>
      </p:sp>
      <p:sp>
        <p:nvSpPr>
          <p:cNvPr id="5" name="record-dot-Customer"/>
          <p:cNvSpPr/>
          <p:nvPr/>
        </p:nvSpPr>
        <p:spPr>
          <a:xfrm>
            <a:off x="777240" y="1892808"/>
            <a:ext cx="256032" cy="256032"/>
          </a:xfrm>
          <a:prstGeom prst="ellipse">
            <a:avLst/>
          </a:prstGeom>
          <a:solidFill>
            <a:schemeClr val="accent6"/>
          </a:solidFill>
          <a:ln/>
        </p:spPr>
      </p:sp>
      <p:sp>
        <p:nvSpPr>
          <p:cNvPr id="6" name="Text 3"/>
          <p:cNvSpPr txBox="1"/>
          <p:nvPr/>
        </p:nvSpPr>
        <p:spPr>
          <a:xfrm>
            <a:off x="1188720" y="1828800"/>
            <a:ext cx="2286000" cy="411480"/>
          </a:xfrm>
          <a:prstGeom prst="rect">
            <a:avLst/>
          </a:prstGeom>
          <a:noFill/>
          <a:ln/>
        </p:spPr>
        <p:txBody>
          <a:bodyPr wrap="square" lIns="0" tIns="0" rIns="0" bIns="0" rtlCol="0" anchor="t"/>
          <a:lstStyle/>
          <a:p>
            <a:pPr indent="0" marL="0">
              <a:buNone/>
            </a:pPr>
            <a:r>
              <a:rPr lang="en-US" sz="2200" b="1" dirty="0">
                <a:solidFill>
                  <a:schemeClr val="tx1"/>
                </a:solidFill>
              </a:rPr>
              <a:t>Customer</a:t>
            </a:r>
            <a:endParaRPr lang="en-US" sz="2200" dirty="0"/>
          </a:p>
        </p:txBody>
      </p:sp>
      <p:sp>
        <p:nvSpPr>
          <p:cNvPr id="7" name="Text 4"/>
          <p:cNvSpPr txBox="1"/>
          <p:nvPr/>
        </p:nvSpPr>
        <p:spPr>
          <a:xfrm>
            <a:off x="822960" y="2377440"/>
            <a:ext cx="2560320" cy="731520"/>
          </a:xfrm>
          <a:prstGeom prst="rect">
            <a:avLst/>
          </a:prstGeom>
          <a:noFill/>
          <a:ln/>
        </p:spPr>
        <p:txBody>
          <a:bodyPr wrap="square" lIns="0" tIns="0" rIns="0" bIns="0" rtlCol="0" anchor="t"/>
          <a:lstStyle/>
          <a:p>
            <a:pPr indent="0" marL="0">
              <a:buNone/>
            </a:pPr>
            <a:r>
              <a:rPr lang="en-US" sz="1500" dirty="0">
                <a:solidFill>
                  <a:schemeClr val="tx2"/>
                </a:solidFill>
              </a:rPr>
              <a:t>id · name · lastName</a:t>
            </a:r>
            <a:endParaRPr lang="en-US" sz="1500" dirty="0"/>
          </a:p>
        </p:txBody>
      </p:sp>
      <p:sp>
        <p:nvSpPr>
          <p:cNvPr id="8" name="record-Order"/>
          <p:cNvSpPr/>
          <p:nvPr/>
        </p:nvSpPr>
        <p:spPr>
          <a:xfrm>
            <a:off x="4572000" y="1645920"/>
            <a:ext cx="3017520" cy="1554480"/>
          </a:xfrm>
          <a:prstGeom prst="roundRect">
            <a:avLst>
              <a:gd name="adj" fmla="val 7059"/>
            </a:avLst>
          </a:prstGeom>
          <a:solidFill>
            <a:schemeClr val="bg2"/>
          </a:solidFill>
          <a:ln/>
        </p:spPr>
      </p:sp>
      <p:sp>
        <p:nvSpPr>
          <p:cNvPr id="9" name="record-dot-Order"/>
          <p:cNvSpPr/>
          <p:nvPr/>
        </p:nvSpPr>
        <p:spPr>
          <a:xfrm>
            <a:off x="4800600" y="1892808"/>
            <a:ext cx="256032" cy="256032"/>
          </a:xfrm>
          <a:prstGeom prst="ellipse">
            <a:avLst/>
          </a:prstGeom>
          <a:solidFill>
            <a:schemeClr val="accent1"/>
          </a:solidFill>
          <a:ln/>
        </p:spPr>
      </p:sp>
      <p:sp>
        <p:nvSpPr>
          <p:cNvPr id="10" name="Text 7"/>
          <p:cNvSpPr txBox="1"/>
          <p:nvPr/>
        </p:nvSpPr>
        <p:spPr>
          <a:xfrm>
            <a:off x="5212080" y="1828800"/>
            <a:ext cx="2286000" cy="411480"/>
          </a:xfrm>
          <a:prstGeom prst="rect">
            <a:avLst/>
          </a:prstGeom>
          <a:noFill/>
          <a:ln/>
        </p:spPr>
        <p:txBody>
          <a:bodyPr wrap="square" lIns="0" tIns="0" rIns="0" bIns="0" rtlCol="0" anchor="t"/>
          <a:lstStyle/>
          <a:p>
            <a:pPr indent="0" marL="0">
              <a:buNone/>
            </a:pPr>
            <a:r>
              <a:rPr lang="en-US" sz="2200" b="1" dirty="0">
                <a:solidFill>
                  <a:schemeClr val="tx1"/>
                </a:solidFill>
              </a:rPr>
              <a:t>Order</a:t>
            </a:r>
            <a:endParaRPr lang="en-US" sz="2200" dirty="0"/>
          </a:p>
        </p:txBody>
      </p:sp>
      <p:sp>
        <p:nvSpPr>
          <p:cNvPr id="11" name="Text 8"/>
          <p:cNvSpPr txBox="1"/>
          <p:nvPr/>
        </p:nvSpPr>
        <p:spPr>
          <a:xfrm>
            <a:off x="4846320" y="2377440"/>
            <a:ext cx="2560320" cy="731520"/>
          </a:xfrm>
          <a:prstGeom prst="rect">
            <a:avLst/>
          </a:prstGeom>
          <a:noFill/>
          <a:ln/>
        </p:spPr>
        <p:txBody>
          <a:bodyPr wrap="square" lIns="0" tIns="0" rIns="0" bIns="0" rtlCol="0" anchor="t"/>
          <a:lstStyle/>
          <a:p>
            <a:pPr indent="0" marL="0">
              <a:buNone/>
            </a:pPr>
            <a:r>
              <a:rPr lang="en-US" sz="1500" dirty="0">
                <a:solidFill>
                  <a:schemeClr val="tx2"/>
                </a:solidFill>
              </a:rPr>
              <a:t>id · customerId · paid · orderLines</a:t>
            </a:r>
            <a:endParaRPr lang="en-US" sz="1500" dirty="0"/>
          </a:p>
        </p:txBody>
      </p:sp>
      <p:sp>
        <p:nvSpPr>
          <p:cNvPr id="12" name="record-OrderLine"/>
          <p:cNvSpPr/>
          <p:nvPr/>
        </p:nvSpPr>
        <p:spPr>
          <a:xfrm>
            <a:off x="4572000" y="3840480"/>
            <a:ext cx="3017520" cy="1554480"/>
          </a:xfrm>
          <a:prstGeom prst="roundRect">
            <a:avLst>
              <a:gd name="adj" fmla="val 7059"/>
            </a:avLst>
          </a:prstGeom>
          <a:solidFill>
            <a:schemeClr val="bg2"/>
          </a:solidFill>
          <a:ln/>
        </p:spPr>
      </p:sp>
      <p:sp>
        <p:nvSpPr>
          <p:cNvPr id="13" name="record-dot-OrderLine"/>
          <p:cNvSpPr/>
          <p:nvPr/>
        </p:nvSpPr>
        <p:spPr>
          <a:xfrm>
            <a:off x="4800600" y="4087368"/>
            <a:ext cx="256032" cy="256032"/>
          </a:xfrm>
          <a:prstGeom prst="ellipse">
            <a:avLst/>
          </a:prstGeom>
          <a:solidFill>
            <a:schemeClr val="accent2"/>
          </a:solidFill>
          <a:ln/>
        </p:spPr>
      </p:sp>
      <p:sp>
        <p:nvSpPr>
          <p:cNvPr id="14" name="Text 11"/>
          <p:cNvSpPr txBox="1"/>
          <p:nvPr/>
        </p:nvSpPr>
        <p:spPr>
          <a:xfrm>
            <a:off x="5212080" y="4023360"/>
            <a:ext cx="2286000" cy="411480"/>
          </a:xfrm>
          <a:prstGeom prst="rect">
            <a:avLst/>
          </a:prstGeom>
          <a:noFill/>
          <a:ln/>
        </p:spPr>
        <p:txBody>
          <a:bodyPr wrap="square" lIns="0" tIns="0" rIns="0" bIns="0" rtlCol="0" anchor="t"/>
          <a:lstStyle/>
          <a:p>
            <a:pPr indent="0" marL="0">
              <a:buNone/>
            </a:pPr>
            <a:r>
              <a:rPr lang="en-US" sz="2200" b="1" dirty="0">
                <a:solidFill>
                  <a:schemeClr val="tx1"/>
                </a:solidFill>
              </a:rPr>
              <a:t>OrderLine</a:t>
            </a:r>
            <a:endParaRPr lang="en-US" sz="2200" dirty="0"/>
          </a:p>
        </p:txBody>
      </p:sp>
      <p:sp>
        <p:nvSpPr>
          <p:cNvPr id="15" name="Text 12"/>
          <p:cNvSpPr txBox="1"/>
          <p:nvPr/>
        </p:nvSpPr>
        <p:spPr>
          <a:xfrm>
            <a:off x="4846320" y="4572000"/>
            <a:ext cx="2560320" cy="731520"/>
          </a:xfrm>
          <a:prstGeom prst="rect">
            <a:avLst/>
          </a:prstGeom>
          <a:noFill/>
          <a:ln/>
        </p:spPr>
        <p:txBody>
          <a:bodyPr wrap="square" lIns="0" tIns="0" rIns="0" bIns="0" rtlCol="0" anchor="t"/>
          <a:lstStyle/>
          <a:p>
            <a:pPr indent="0" marL="0">
              <a:buNone/>
            </a:pPr>
            <a:r>
              <a:rPr lang="en-US" sz="1500" dirty="0">
                <a:solidFill>
                  <a:schemeClr val="tx2"/>
                </a:solidFill>
              </a:rPr>
              <a:t>articleId · quantity · price</a:t>
            </a:r>
            <a:endParaRPr lang="en-US" sz="1500" dirty="0"/>
          </a:p>
          <a:p>
            <a:pPr indent="0" marL="0">
              <a:buNone/>
            </a:pPr>
            <a:r>
              <a:rPr lang="en-US" sz="1500" dirty="0">
                <a:solidFill>
                  <a:schemeClr val="tx2"/>
                </a:solidFill>
              </a:rPr>
              <a:t>total() = price × quantity</a:t>
            </a:r>
            <a:endParaRPr lang="en-US" sz="1500" dirty="0"/>
          </a:p>
        </p:txBody>
      </p:sp>
      <p:sp>
        <p:nvSpPr>
          <p:cNvPr id="16" name="record-Article"/>
          <p:cNvSpPr/>
          <p:nvPr/>
        </p:nvSpPr>
        <p:spPr>
          <a:xfrm>
            <a:off x="8595360" y="3840480"/>
            <a:ext cx="3017520" cy="1554480"/>
          </a:xfrm>
          <a:prstGeom prst="roundRect">
            <a:avLst>
              <a:gd name="adj" fmla="val 7059"/>
            </a:avLst>
          </a:prstGeom>
          <a:solidFill>
            <a:schemeClr val="bg2"/>
          </a:solidFill>
          <a:ln/>
        </p:spPr>
      </p:sp>
      <p:sp>
        <p:nvSpPr>
          <p:cNvPr id="17" name="record-dot-Article"/>
          <p:cNvSpPr/>
          <p:nvPr/>
        </p:nvSpPr>
        <p:spPr>
          <a:xfrm>
            <a:off x="8823960" y="4087368"/>
            <a:ext cx="256032" cy="256032"/>
          </a:xfrm>
          <a:prstGeom prst="ellipse">
            <a:avLst/>
          </a:prstGeom>
          <a:solidFill>
            <a:schemeClr val="accent5"/>
          </a:solidFill>
          <a:ln/>
        </p:spPr>
      </p:sp>
      <p:sp>
        <p:nvSpPr>
          <p:cNvPr id="18" name="Text 15"/>
          <p:cNvSpPr txBox="1"/>
          <p:nvPr/>
        </p:nvSpPr>
        <p:spPr>
          <a:xfrm>
            <a:off x="9235440" y="4023360"/>
            <a:ext cx="2286000" cy="411480"/>
          </a:xfrm>
          <a:prstGeom prst="rect">
            <a:avLst/>
          </a:prstGeom>
          <a:noFill/>
          <a:ln/>
        </p:spPr>
        <p:txBody>
          <a:bodyPr wrap="square" lIns="0" tIns="0" rIns="0" bIns="0" rtlCol="0" anchor="t"/>
          <a:lstStyle/>
          <a:p>
            <a:pPr indent="0" marL="0">
              <a:buNone/>
            </a:pPr>
            <a:r>
              <a:rPr lang="en-US" sz="2200" b="1" dirty="0">
                <a:solidFill>
                  <a:schemeClr val="tx1"/>
                </a:solidFill>
              </a:rPr>
              <a:t>Article</a:t>
            </a:r>
            <a:endParaRPr lang="en-US" sz="2200" dirty="0"/>
          </a:p>
        </p:txBody>
      </p:sp>
      <p:sp>
        <p:nvSpPr>
          <p:cNvPr id="19" name="Text 16"/>
          <p:cNvSpPr txBox="1"/>
          <p:nvPr/>
        </p:nvSpPr>
        <p:spPr>
          <a:xfrm>
            <a:off x="8869680" y="4572000"/>
            <a:ext cx="2560320" cy="731520"/>
          </a:xfrm>
          <a:prstGeom prst="rect">
            <a:avLst/>
          </a:prstGeom>
          <a:noFill/>
          <a:ln/>
        </p:spPr>
        <p:txBody>
          <a:bodyPr wrap="square" lIns="0" tIns="0" rIns="0" bIns="0" rtlCol="0" anchor="t"/>
          <a:lstStyle/>
          <a:p>
            <a:pPr indent="0" marL="0">
              <a:buNone/>
            </a:pPr>
            <a:r>
              <a:rPr lang="en-US" sz="1500" dirty="0">
                <a:solidFill>
                  <a:schemeClr val="tx2"/>
                </a:solidFill>
              </a:rPr>
              <a:t>id · name</a:t>
            </a:r>
            <a:endParaRPr lang="en-US" sz="1500" dirty="0"/>
          </a:p>
        </p:txBody>
      </p:sp>
      <p:sp>
        <p:nvSpPr>
          <p:cNvPr id="20" name="arrow"/>
          <p:cNvSpPr/>
          <p:nvPr/>
        </p:nvSpPr>
        <p:spPr>
          <a:xfrm flipH="1">
            <a:off x="3657600" y="2423160"/>
            <a:ext cx="914400" cy="0"/>
          </a:xfrm>
          <a:prstGeom prst="line">
            <a:avLst/>
          </a:prstGeom>
          <a:noFill/>
          <a:ln w="25400">
            <a:solidFill>
              <a:schemeClr val="tx2"/>
            </a:solidFill>
            <a:prstDash val="solid"/>
            <a:tailEnd type="triangle"/>
          </a:ln>
        </p:spPr>
      </p:sp>
      <p:sp>
        <p:nvSpPr>
          <p:cNvPr id="21" name="Text 18"/>
          <p:cNvSpPr txBox="1"/>
          <p:nvPr/>
        </p:nvSpPr>
        <p:spPr>
          <a:xfrm>
            <a:off x="3657600" y="2057400"/>
            <a:ext cx="914400" cy="274320"/>
          </a:xfrm>
          <a:prstGeom prst="rect">
            <a:avLst/>
          </a:prstGeom>
          <a:noFill/>
          <a:ln/>
        </p:spPr>
        <p:txBody>
          <a:bodyPr wrap="square" lIns="0" tIns="0" rIns="0" bIns="0" rtlCol="0" anchor="t"/>
          <a:lstStyle/>
          <a:p>
            <a:pPr algn="ctr" indent="0" marL="0">
              <a:buNone/>
            </a:pPr>
            <a:r>
              <a:rPr lang="en-US" sz="1200" dirty="0">
                <a:solidFill>
                  <a:schemeClr val="tx2"/>
                </a:solidFill>
              </a:rPr>
              <a:t>customerId</a:t>
            </a:r>
            <a:endParaRPr lang="en-US" sz="1200" dirty="0"/>
          </a:p>
        </p:txBody>
      </p:sp>
      <p:sp>
        <p:nvSpPr>
          <p:cNvPr id="22" name="arrow"/>
          <p:cNvSpPr/>
          <p:nvPr/>
        </p:nvSpPr>
        <p:spPr>
          <a:xfrm>
            <a:off x="6080760" y="3200400"/>
            <a:ext cx="0" cy="640080"/>
          </a:xfrm>
          <a:prstGeom prst="line">
            <a:avLst/>
          </a:prstGeom>
          <a:noFill/>
          <a:ln w="25400">
            <a:solidFill>
              <a:schemeClr val="tx2"/>
            </a:solidFill>
            <a:prstDash val="solid"/>
            <a:tailEnd type="triangle"/>
          </a:ln>
        </p:spPr>
      </p:sp>
      <p:sp>
        <p:nvSpPr>
          <p:cNvPr id="23" name="Text 20"/>
          <p:cNvSpPr txBox="1"/>
          <p:nvPr/>
        </p:nvSpPr>
        <p:spPr>
          <a:xfrm>
            <a:off x="6217920" y="3383280"/>
            <a:ext cx="1280160" cy="274320"/>
          </a:xfrm>
          <a:prstGeom prst="rect">
            <a:avLst/>
          </a:prstGeom>
          <a:noFill/>
          <a:ln/>
        </p:spPr>
        <p:txBody>
          <a:bodyPr wrap="square" lIns="0" tIns="0" rIns="0" bIns="0" rtlCol="0" anchor="t"/>
          <a:lstStyle/>
          <a:p>
            <a:pPr indent="0" marL="0">
              <a:buNone/>
            </a:pPr>
            <a:r>
              <a:rPr lang="en-US" sz="1200" dirty="0">
                <a:solidFill>
                  <a:schemeClr val="tx2"/>
                </a:solidFill>
              </a:rPr>
              <a:t>orderLines</a:t>
            </a:r>
            <a:endParaRPr lang="en-US" sz="1200" dirty="0"/>
          </a:p>
        </p:txBody>
      </p:sp>
      <p:sp>
        <p:nvSpPr>
          <p:cNvPr id="24" name="arrow"/>
          <p:cNvSpPr/>
          <p:nvPr/>
        </p:nvSpPr>
        <p:spPr>
          <a:xfrm>
            <a:off x="7589520" y="4617720"/>
            <a:ext cx="1005840" cy="0"/>
          </a:xfrm>
          <a:prstGeom prst="line">
            <a:avLst/>
          </a:prstGeom>
          <a:noFill/>
          <a:ln w="25400">
            <a:solidFill>
              <a:schemeClr val="tx2"/>
            </a:solidFill>
            <a:prstDash val="solid"/>
            <a:tailEnd type="triangle"/>
          </a:ln>
        </p:spPr>
      </p:sp>
      <p:sp>
        <p:nvSpPr>
          <p:cNvPr id="25" name="Text 22"/>
          <p:cNvSpPr txBox="1"/>
          <p:nvPr/>
        </p:nvSpPr>
        <p:spPr>
          <a:xfrm>
            <a:off x="7589520" y="4251960"/>
            <a:ext cx="1005840" cy="274320"/>
          </a:xfrm>
          <a:prstGeom prst="rect">
            <a:avLst/>
          </a:prstGeom>
          <a:noFill/>
          <a:ln/>
        </p:spPr>
        <p:txBody>
          <a:bodyPr wrap="square" lIns="0" tIns="0" rIns="0" bIns="0" rtlCol="0" anchor="t"/>
          <a:lstStyle/>
          <a:p>
            <a:pPr algn="ctr" indent="0" marL="0">
              <a:buNone/>
            </a:pPr>
            <a:r>
              <a:rPr lang="en-US" sz="1200" dirty="0">
                <a:solidFill>
                  <a:schemeClr val="tx2"/>
                </a:solidFill>
              </a:rPr>
              <a:t>articleId</a:t>
            </a:r>
            <a:endParaRPr lang="en-US" sz="1200" dirty="0"/>
          </a:p>
        </p:txBody>
      </p:sp>
      <p:sp>
        <p:nvSpPr>
          <p:cNvPr id="26" name="Text 23"/>
          <p:cNvSpPr txBox="1"/>
          <p:nvPr/>
        </p:nvSpPr>
        <p:spPr>
          <a:xfrm>
            <a:off x="548640" y="3931920"/>
            <a:ext cx="3566160" cy="1463040"/>
          </a:xfrm>
          <a:prstGeom prst="rect">
            <a:avLst/>
          </a:prstGeom>
          <a:noFill/>
          <a:ln/>
        </p:spPr>
        <p:txBody>
          <a:bodyPr wrap="square" lIns="0" tIns="0" rIns="0" bIns="0" rtlCol="0" anchor="t"/>
          <a:lstStyle/>
          <a:p>
            <a:pPr indent="0" marL="0">
              <a:buNone/>
            </a:pPr>
            <a:r>
              <a:rPr lang="en-US" sz="1600" dirty="0">
                <a:solidFill>
                  <a:schemeClr val="tx1"/>
                </a:solidFill>
              </a:rPr>
              <a:t>References are plain ids, not objects: to get from an id to the </a:t>
            </a:r>
            <a:pPr indent="0" marL="0">
              <a:buNone/>
            </a:pPr>
            <a:r>
              <a:rPr lang="en-US" sz="1600" dirty="0">
                <a:solidFill>
                  <a:schemeClr val="tx2"/>
                </a:solidFill>
                <a:latin typeface="Courier New" pitchFamily="34" charset="0"/>
                <a:ea typeface="Courier New" pitchFamily="34" charset="-122"/>
                <a:cs typeface="Courier New" pitchFamily="34" charset="-120"/>
              </a:rPr>
              <a:t>Article</a:t>
            </a:r>
            <a:pPr indent="0" marL="0">
              <a:buNone/>
            </a:pPr>
            <a:r>
              <a:rPr lang="en-US" sz="1600" dirty="0">
                <a:solidFill>
                  <a:schemeClr val="tx1"/>
                </a:solidFill>
              </a:rPr>
              <a:t> or </a:t>
            </a:r>
            <a:pPr indent="0" marL="0">
              <a:buNone/>
            </a:pPr>
            <a:r>
              <a:rPr lang="en-US" sz="1600" dirty="0">
                <a:solidFill>
                  <a:schemeClr val="tx2"/>
                </a:solidFill>
                <a:latin typeface="Courier New" pitchFamily="34" charset="0"/>
                <a:ea typeface="Courier New" pitchFamily="34" charset="-122"/>
                <a:cs typeface="Courier New" pitchFamily="34" charset="-120"/>
              </a:rPr>
              <a:t>Customer</a:t>
            </a:r>
            <a:pPr indent="0" marL="0">
              <a:buNone/>
            </a:pPr>
            <a:r>
              <a:rPr lang="en-US" sz="1600" dirty="0">
                <a:solidFill>
                  <a:schemeClr val="tx1"/>
                </a:solidFill>
              </a:rPr>
              <a:t> you look it up.</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The sample data</a:t>
            </a:r>
            <a:endParaRPr lang="en-US" sz="3400" dirty="0"/>
          </a:p>
        </p:txBody>
      </p:sp>
      <p:pic>
        <p:nvPicPr>
          <p:cNvPr id="4" name="Image 0" descr="The five sample orders with their order lines">    </p:cNvPr>
          <p:cNvPicPr>
            <a:picLocks noChangeAspect="1"/>
          </p:cNvPicPr>
          <p:nvPr/>
        </p:nvPicPr>
        <p:blipFill>
          <a:blip r:embed="rId1"/>
          <a:stretch>
            <a:fillRect/>
          </a:stretch>
        </p:blipFill>
        <p:spPr>
          <a:xfrm>
            <a:off x="548640" y="1554480"/>
            <a:ext cx="6766560" cy="3813048"/>
          </a:xfrm>
          <a:prstGeom prst="rect">
            <a:avLst/>
          </a:prstGeom>
        </p:spPr>
      </p:pic>
      <p:sp>
        <p:nvSpPr>
          <p:cNvPr id="5" name="Text 1"/>
          <p:cNvSpPr txBox="1"/>
          <p:nvPr/>
        </p:nvSpPr>
        <p:spPr>
          <a:xfrm>
            <a:off x="548640" y="5486400"/>
            <a:ext cx="6766560" cy="457200"/>
          </a:xfrm>
          <a:prstGeom prst="rect">
            <a:avLst/>
          </a:prstGeom>
          <a:noFill/>
          <a:ln/>
        </p:spPr>
        <p:txBody>
          <a:bodyPr wrap="square" lIns="0" tIns="0" rIns="0" bIns="0" rtlCol="0" anchor="t"/>
          <a:lstStyle/>
          <a:p>
            <a:pPr indent="0" marL="0">
              <a:buNone/>
            </a:pPr>
            <a:r>
              <a:rPr lang="en-US" sz="1400" dirty="0">
                <a:solidFill>
                  <a:schemeClr val="tx2"/>
                </a:solidFill>
              </a:rPr>
              <a:t>Green phone = paid order, red phone = unpaid order, icons = order lines.</a:t>
            </a:r>
            <a:endParaRPr lang="en-US" sz="1400" dirty="0"/>
          </a:p>
        </p:txBody>
      </p:sp>
      <p:sp>
        <p:nvSpPr>
          <p:cNvPr id="6" name="stat-card-0"/>
          <p:cNvSpPr/>
          <p:nvPr/>
        </p:nvSpPr>
        <p:spPr>
          <a:xfrm>
            <a:off x="7680960" y="1554480"/>
            <a:ext cx="3959352" cy="1280160"/>
          </a:xfrm>
          <a:prstGeom prst="roundRect">
            <a:avLst>
              <a:gd name="adj" fmla="val 8571"/>
            </a:avLst>
          </a:prstGeom>
          <a:solidFill>
            <a:schemeClr val="bg2"/>
          </a:solidFill>
          <a:ln/>
        </p:spPr>
      </p:sp>
      <p:sp>
        <p:nvSpPr>
          <p:cNvPr id="7" name="Text 3"/>
          <p:cNvSpPr txBox="1"/>
          <p:nvPr/>
        </p:nvSpPr>
        <p:spPr>
          <a:xfrm>
            <a:off x="7909560" y="1691640"/>
            <a:ext cx="1280160" cy="1005840"/>
          </a:xfrm>
          <a:prstGeom prst="rect">
            <a:avLst/>
          </a:prstGeom>
          <a:noFill/>
          <a:ln/>
        </p:spPr>
        <p:txBody>
          <a:bodyPr wrap="square" lIns="0" tIns="0" rIns="0" bIns="0" rtlCol="0" anchor="ctr"/>
          <a:lstStyle/>
          <a:p>
            <a:pPr indent="0" marL="0">
              <a:buNone/>
            </a:pPr>
            <a:r>
              <a:rPr lang="en-US" sz="5400" b="1" dirty="0">
                <a:solidFill>
                  <a:schemeClr val="accent1"/>
                </a:solidFill>
              </a:rPr>
              <a:t>10</a:t>
            </a:r>
            <a:endParaRPr lang="en-US" sz="5400" dirty="0"/>
          </a:p>
        </p:txBody>
      </p:sp>
      <p:sp>
        <p:nvSpPr>
          <p:cNvPr id="8" name="Text 4"/>
          <p:cNvSpPr txBox="1"/>
          <p:nvPr/>
        </p:nvSpPr>
        <p:spPr>
          <a:xfrm>
            <a:off x="9235440" y="1828800"/>
            <a:ext cx="2286000" cy="365760"/>
          </a:xfrm>
          <a:prstGeom prst="rect">
            <a:avLst/>
          </a:prstGeom>
          <a:noFill/>
          <a:ln/>
        </p:spPr>
        <p:txBody>
          <a:bodyPr wrap="square" lIns="0" tIns="0" rIns="0" bIns="0" rtlCol="0" anchor="t"/>
          <a:lstStyle/>
          <a:p>
            <a:pPr indent="0" marL="0">
              <a:buNone/>
            </a:pPr>
            <a:r>
              <a:rPr lang="en-US" sz="2000" b="1" dirty="0">
                <a:solidFill>
                  <a:schemeClr val="tx1"/>
                </a:solidFill>
              </a:rPr>
              <a:t>articles</a:t>
            </a:r>
            <a:endParaRPr lang="en-US" sz="2000" dirty="0"/>
          </a:p>
        </p:txBody>
      </p:sp>
      <p:sp>
        <p:nvSpPr>
          <p:cNvPr id="9" name="Text 5"/>
          <p:cNvSpPr txBox="1"/>
          <p:nvPr/>
        </p:nvSpPr>
        <p:spPr>
          <a:xfrm>
            <a:off x="9235440" y="2240280"/>
            <a:ext cx="2286000" cy="457200"/>
          </a:xfrm>
          <a:prstGeom prst="rect">
            <a:avLst/>
          </a:prstGeom>
          <a:noFill/>
          <a:ln/>
        </p:spPr>
        <p:txBody>
          <a:bodyPr wrap="square" lIns="0" tIns="0" rIns="0" bIns="0" rtlCol="0" anchor="t"/>
          <a:lstStyle/>
          <a:p>
            <a:pPr indent="0" marL="0">
              <a:buNone/>
            </a:pPr>
            <a:r>
              <a:rPr lang="en-US" sz="1400" dirty="0">
                <a:solidFill>
                  <a:schemeClr val="tx2"/>
                </a:solidFill>
              </a:rPr>
              <a:t>Coffee, Pizza, Candy, Taco …</a:t>
            </a:r>
            <a:endParaRPr lang="en-US" sz="1400" dirty="0"/>
          </a:p>
        </p:txBody>
      </p:sp>
      <p:sp>
        <p:nvSpPr>
          <p:cNvPr id="10" name="stat-card-1"/>
          <p:cNvSpPr/>
          <p:nvPr/>
        </p:nvSpPr>
        <p:spPr>
          <a:xfrm>
            <a:off x="7680960" y="3017520"/>
            <a:ext cx="3959352" cy="1280160"/>
          </a:xfrm>
          <a:prstGeom prst="roundRect">
            <a:avLst>
              <a:gd name="adj" fmla="val 8571"/>
            </a:avLst>
          </a:prstGeom>
          <a:solidFill>
            <a:schemeClr val="bg2"/>
          </a:solidFill>
          <a:ln/>
        </p:spPr>
      </p:sp>
      <p:sp>
        <p:nvSpPr>
          <p:cNvPr id="11" name="Text 7"/>
          <p:cNvSpPr txBox="1"/>
          <p:nvPr/>
        </p:nvSpPr>
        <p:spPr>
          <a:xfrm>
            <a:off x="7909560" y="3154680"/>
            <a:ext cx="1280160" cy="1005840"/>
          </a:xfrm>
          <a:prstGeom prst="rect">
            <a:avLst/>
          </a:prstGeom>
          <a:noFill/>
          <a:ln/>
        </p:spPr>
        <p:txBody>
          <a:bodyPr wrap="square" lIns="0" tIns="0" rIns="0" bIns="0" rtlCol="0" anchor="ctr"/>
          <a:lstStyle/>
          <a:p>
            <a:pPr indent="0" marL="0">
              <a:buNone/>
            </a:pPr>
            <a:r>
              <a:rPr lang="en-US" sz="5400" b="1" dirty="0">
                <a:solidFill>
                  <a:schemeClr val="accent1"/>
                </a:solidFill>
              </a:rPr>
              <a:t>5</a:t>
            </a:r>
            <a:endParaRPr lang="en-US" sz="5400" dirty="0"/>
          </a:p>
        </p:txBody>
      </p:sp>
      <p:sp>
        <p:nvSpPr>
          <p:cNvPr id="12" name="Text 8"/>
          <p:cNvSpPr txBox="1"/>
          <p:nvPr/>
        </p:nvSpPr>
        <p:spPr>
          <a:xfrm>
            <a:off x="9235440" y="3291840"/>
            <a:ext cx="2286000" cy="365760"/>
          </a:xfrm>
          <a:prstGeom prst="rect">
            <a:avLst/>
          </a:prstGeom>
          <a:noFill/>
          <a:ln/>
        </p:spPr>
        <p:txBody>
          <a:bodyPr wrap="square" lIns="0" tIns="0" rIns="0" bIns="0" rtlCol="0" anchor="t"/>
          <a:lstStyle/>
          <a:p>
            <a:pPr indent="0" marL="0">
              <a:buNone/>
            </a:pPr>
            <a:r>
              <a:rPr lang="en-US" sz="2000" b="1" dirty="0">
                <a:solidFill>
                  <a:schemeClr val="tx1"/>
                </a:solidFill>
              </a:rPr>
              <a:t>orders</a:t>
            </a:r>
            <a:endParaRPr lang="en-US" sz="2000" dirty="0"/>
          </a:p>
        </p:txBody>
      </p:sp>
      <p:sp>
        <p:nvSpPr>
          <p:cNvPr id="13" name="Text 9"/>
          <p:cNvSpPr txBox="1"/>
          <p:nvPr/>
        </p:nvSpPr>
        <p:spPr>
          <a:xfrm>
            <a:off x="9235440" y="3703320"/>
            <a:ext cx="2286000" cy="457200"/>
          </a:xfrm>
          <a:prstGeom prst="rect">
            <a:avLst/>
          </a:prstGeom>
          <a:noFill/>
          <a:ln/>
        </p:spPr>
        <p:txBody>
          <a:bodyPr wrap="square" lIns="0" tIns="0" rIns="0" bIns="0" rtlCol="0" anchor="t"/>
          <a:lstStyle/>
          <a:p>
            <a:pPr indent="0" marL="0">
              <a:buNone/>
            </a:pPr>
            <a:r>
              <a:rPr lang="en-US" sz="1400" dirty="0">
                <a:solidFill>
                  <a:schemeClr val="tx2"/>
                </a:solidFill>
              </a:rPr>
              <a:t>3 paid, 2 unpaid</a:t>
            </a:r>
            <a:endParaRPr lang="en-US" sz="1400" dirty="0"/>
          </a:p>
        </p:txBody>
      </p:sp>
      <p:sp>
        <p:nvSpPr>
          <p:cNvPr id="14" name="stat-card-2"/>
          <p:cNvSpPr/>
          <p:nvPr/>
        </p:nvSpPr>
        <p:spPr>
          <a:xfrm>
            <a:off x="7680960" y="4480560"/>
            <a:ext cx="3959352" cy="1280160"/>
          </a:xfrm>
          <a:prstGeom prst="roundRect">
            <a:avLst>
              <a:gd name="adj" fmla="val 8571"/>
            </a:avLst>
          </a:prstGeom>
          <a:solidFill>
            <a:schemeClr val="bg2"/>
          </a:solidFill>
          <a:ln/>
        </p:spPr>
      </p:sp>
      <p:sp>
        <p:nvSpPr>
          <p:cNvPr id="15" name="Text 11"/>
          <p:cNvSpPr txBox="1"/>
          <p:nvPr/>
        </p:nvSpPr>
        <p:spPr>
          <a:xfrm>
            <a:off x="7909560" y="4617720"/>
            <a:ext cx="1280160" cy="1005840"/>
          </a:xfrm>
          <a:prstGeom prst="rect">
            <a:avLst/>
          </a:prstGeom>
          <a:noFill/>
          <a:ln/>
        </p:spPr>
        <p:txBody>
          <a:bodyPr wrap="square" lIns="0" tIns="0" rIns="0" bIns="0" rtlCol="0" anchor="ctr"/>
          <a:lstStyle/>
          <a:p>
            <a:pPr indent="0" marL="0">
              <a:buNone/>
            </a:pPr>
            <a:r>
              <a:rPr lang="en-US" sz="5400" b="1" dirty="0">
                <a:solidFill>
                  <a:schemeClr val="accent1"/>
                </a:solidFill>
              </a:rPr>
              <a:t>18</a:t>
            </a:r>
            <a:endParaRPr lang="en-US" sz="5400" dirty="0"/>
          </a:p>
        </p:txBody>
      </p:sp>
      <p:sp>
        <p:nvSpPr>
          <p:cNvPr id="16" name="Text 12"/>
          <p:cNvSpPr txBox="1"/>
          <p:nvPr/>
        </p:nvSpPr>
        <p:spPr>
          <a:xfrm>
            <a:off x="9235440" y="4754880"/>
            <a:ext cx="2286000" cy="365760"/>
          </a:xfrm>
          <a:prstGeom prst="rect">
            <a:avLst/>
          </a:prstGeom>
          <a:noFill/>
          <a:ln/>
        </p:spPr>
        <p:txBody>
          <a:bodyPr wrap="square" lIns="0" tIns="0" rIns="0" bIns="0" rtlCol="0" anchor="t"/>
          <a:lstStyle/>
          <a:p>
            <a:pPr indent="0" marL="0">
              <a:buNone/>
            </a:pPr>
            <a:r>
              <a:rPr lang="en-US" sz="2000" b="1" dirty="0">
                <a:solidFill>
                  <a:schemeClr val="tx1"/>
                </a:solidFill>
              </a:rPr>
              <a:t>order lines</a:t>
            </a:r>
            <a:endParaRPr lang="en-US" sz="2000" dirty="0"/>
          </a:p>
        </p:txBody>
      </p:sp>
      <p:sp>
        <p:nvSpPr>
          <p:cNvPr id="17" name="Text 13"/>
          <p:cNvSpPr txBox="1"/>
          <p:nvPr/>
        </p:nvSpPr>
        <p:spPr>
          <a:xfrm>
            <a:off x="9235440" y="5166360"/>
            <a:ext cx="2286000" cy="457200"/>
          </a:xfrm>
          <a:prstGeom prst="rect">
            <a:avLst/>
          </a:prstGeom>
          <a:noFill/>
          <a:ln/>
        </p:spPr>
        <p:txBody>
          <a:bodyPr wrap="square" lIns="0" tIns="0" rIns="0" bIns="0" rtlCol="0" anchor="t"/>
          <a:lstStyle/>
          <a:p>
            <a:pPr indent="0" marL="0">
              <a:buNone/>
            </a:pPr>
            <a:r>
              <a:rPr lang="en-US" sz="1400" dirty="0">
                <a:solidFill>
                  <a:schemeClr val="tx2"/>
                </a:solidFill>
              </a:rPr>
              <a:t>worth EUR 39.00 in total</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02</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What is a Stream</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A pipeline: source, steps, result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My first Stream: from loop to pipeline</a:t>
            </a:r>
            <a:endParaRPr lang="en-US" sz="3400" dirty="0"/>
          </a:p>
        </p:txBody>
      </p:sp>
      <p:sp>
        <p:nvSpPr>
          <p:cNvPr id="4" name="loop-card"/>
          <p:cNvSpPr/>
          <p:nvPr/>
        </p:nvSpPr>
        <p:spPr>
          <a:xfrm>
            <a:off x="548640" y="1554480"/>
            <a:ext cx="5394960" cy="2651760"/>
          </a:xfrm>
          <a:prstGeom prst="roundRect">
            <a:avLst>
              <a:gd name="adj" fmla="val 4138"/>
            </a:avLst>
          </a:prstGeom>
          <a:solidFill>
            <a:schemeClr val="bg2"/>
          </a:solidFill>
          <a:ln/>
        </p:spPr>
      </p:sp>
      <p:sp>
        <p:nvSpPr>
          <p:cNvPr id="5" name="Text 2"/>
          <p:cNvSpPr txBox="1"/>
          <p:nvPr/>
        </p:nvSpPr>
        <p:spPr>
          <a:xfrm>
            <a:off x="822960" y="16916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for loop</a:t>
            </a:r>
            <a:endParaRPr lang="en-US" sz="1800" dirty="0"/>
          </a:p>
        </p:txBody>
      </p:sp>
      <p:sp>
        <p:nvSpPr>
          <p:cNvPr id="6" name="loop-code-bg"/>
          <p:cNvSpPr/>
          <p:nvPr/>
        </p:nvSpPr>
        <p:spPr>
          <a:xfrm>
            <a:off x="777240" y="2194560"/>
            <a:ext cx="4937760" cy="1828800"/>
          </a:xfrm>
          <a:prstGeom prst="roundRect">
            <a:avLst>
              <a:gd name="adj" fmla="val 5000"/>
            </a:avLst>
          </a:prstGeom>
          <a:solidFill>
            <a:schemeClr val="tx1"/>
          </a:solidFill>
          <a:ln/>
        </p:spPr>
      </p:sp>
      <p:sp>
        <p:nvSpPr>
          <p:cNvPr id="7" name="loop-code"/>
          <p:cNvSpPr txBox="1"/>
          <p:nvPr/>
        </p:nvSpPr>
        <p:spPr>
          <a:xfrm>
            <a:off x="960120" y="2304288"/>
            <a:ext cx="4572000" cy="160934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double sum = 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for (OrderLine l : Database.orderLines)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sum += l.total();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 name="stream-card"/>
          <p:cNvSpPr/>
          <p:nvPr/>
        </p:nvSpPr>
        <p:spPr>
          <a:xfrm>
            <a:off x="6245352" y="1554480"/>
            <a:ext cx="5394960" cy="2651760"/>
          </a:xfrm>
          <a:prstGeom prst="roundRect">
            <a:avLst>
              <a:gd name="adj" fmla="val 4138"/>
            </a:avLst>
          </a:prstGeom>
          <a:solidFill>
            <a:schemeClr val="bg2"/>
          </a:solidFill>
          <a:ln/>
        </p:spPr>
      </p:sp>
      <p:sp>
        <p:nvSpPr>
          <p:cNvPr id="9" name="Text 6"/>
          <p:cNvSpPr txBox="1"/>
          <p:nvPr/>
        </p:nvSpPr>
        <p:spPr>
          <a:xfrm>
            <a:off x="6519672" y="16916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stream</a:t>
            </a:r>
            <a:endParaRPr lang="en-US" sz="1800" dirty="0"/>
          </a:p>
        </p:txBody>
      </p:sp>
      <p:sp>
        <p:nvSpPr>
          <p:cNvPr id="10" name="stream-code-bg"/>
          <p:cNvSpPr/>
          <p:nvPr/>
        </p:nvSpPr>
        <p:spPr>
          <a:xfrm>
            <a:off x="6473952" y="2194560"/>
            <a:ext cx="4937760" cy="1828800"/>
          </a:xfrm>
          <a:prstGeom prst="roundRect">
            <a:avLst>
              <a:gd name="adj" fmla="val 5000"/>
            </a:avLst>
          </a:prstGeom>
          <a:solidFill>
            <a:schemeClr val="tx1"/>
          </a:solidFill>
          <a:ln/>
        </p:spPr>
      </p:sp>
      <p:sp>
        <p:nvSpPr>
          <p:cNvPr id="11" name="stream-code"/>
          <p:cNvSpPr txBox="1"/>
          <p:nvPr/>
        </p:nvSpPr>
        <p:spPr>
          <a:xfrm>
            <a:off x="6656832" y="2304288"/>
            <a:ext cx="4572000" cy="160934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double sum = Database.orderLines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.stream()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.mapToDouble(OrderLine::total)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.sum();</a:t>
            </a:r>
            <a:endParaRPr lang="en-US" sz="1400" dirty="0"/>
          </a:p>
        </p:txBody>
      </p:sp>
      <p:sp>
        <p:nvSpPr>
          <p:cNvPr id="12" name="result-card"/>
          <p:cNvSpPr/>
          <p:nvPr/>
        </p:nvSpPr>
        <p:spPr>
          <a:xfrm>
            <a:off x="548640" y="4480560"/>
            <a:ext cx="11091672" cy="868680"/>
          </a:xfrm>
          <a:prstGeom prst="roundRect">
            <a:avLst>
              <a:gd name="adj" fmla="val 12632"/>
            </a:avLst>
          </a:prstGeom>
          <a:solidFill>
            <a:schemeClr val="tx2"/>
          </a:solidFill>
          <a:ln/>
        </p:spPr>
      </p:sp>
      <p:sp>
        <p:nvSpPr>
          <p:cNvPr id="13" name="Text 10"/>
          <p:cNvSpPr txBox="1"/>
          <p:nvPr/>
        </p:nvSpPr>
        <p:spPr>
          <a:xfrm>
            <a:off x="822960" y="4480560"/>
            <a:ext cx="10543032" cy="868680"/>
          </a:xfrm>
          <a:prstGeom prst="rect">
            <a:avLst/>
          </a:prstGeom>
          <a:noFill/>
          <a:ln/>
        </p:spPr>
        <p:txBody>
          <a:bodyPr wrap="square" lIns="0" tIns="0" rIns="0" bIns="0" rtlCol="0" anchor="ctr"/>
          <a:lstStyle/>
          <a:p>
            <a:pPr indent="0" marL="0">
              <a:buNone/>
            </a:pPr>
            <a:r>
              <a:rPr lang="en-US" sz="1800" dirty="0">
                <a:solidFill>
                  <a:schemeClr val="bg1"/>
                </a:solidFill>
              </a:rPr>
              <a:t>Both print:  </a:t>
            </a:r>
            <a:pPr indent="0" marL="0">
              <a:buNone/>
            </a:pPr>
            <a:r>
              <a:rPr lang="en-US" sz="1800" dirty="0">
                <a:solidFill>
                  <a:schemeClr val="accent3"/>
                </a:solidFill>
                <a:latin typeface="Courier New" pitchFamily="34" charset="0"/>
                <a:ea typeface="Courier New" pitchFamily="34" charset="-122"/>
                <a:cs typeface="Courier New" pitchFamily="34" charset="-120"/>
              </a:rPr>
              <a:t>The sum of all the order lines prices is: EUR39.00</a:t>
            </a:r>
            <a:endParaRPr lang="en-US" sz="1800" dirty="0"/>
          </a:p>
        </p:txBody>
      </p:sp>
      <p:sp>
        <p:nvSpPr>
          <p:cNvPr id="14" name="Text 11"/>
          <p:cNvSpPr txBox="1"/>
          <p:nvPr/>
        </p:nvSpPr>
        <p:spPr>
          <a:xfrm>
            <a:off x="548640" y="5623560"/>
            <a:ext cx="11091672" cy="365760"/>
          </a:xfrm>
          <a:prstGeom prst="rect">
            <a:avLst/>
          </a:prstGeom>
          <a:noFill/>
          <a:ln/>
        </p:spPr>
        <p:txBody>
          <a:bodyPr wrap="square" lIns="0" tIns="0" rIns="0" bIns="0" rtlCol="0" anchor="t"/>
          <a:lstStyle/>
          <a:p>
            <a:pPr indent="0" marL="0">
              <a:buNone/>
            </a:pPr>
            <a:r>
              <a:rPr lang="en-US" sz="1600" dirty="0">
                <a:solidFill>
                  <a:schemeClr val="tx2"/>
                </a:solidFill>
              </a:rPr>
              <a:t>Read it top to bottom: the stream gets smaller or changes shape at every step.</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Anatomy of a pipeline</a:t>
            </a:r>
            <a:endParaRPr lang="en-US" sz="3400" dirty="0"/>
          </a:p>
        </p:txBody>
      </p:sp>
      <p:sp>
        <p:nvSpPr>
          <p:cNvPr id="4" name="part-card-0"/>
          <p:cNvSpPr/>
          <p:nvPr/>
        </p:nvSpPr>
        <p:spPr>
          <a:xfrm>
            <a:off x="548640" y="1554480"/>
            <a:ext cx="3200400" cy="3017520"/>
          </a:xfrm>
          <a:prstGeom prst="roundRect">
            <a:avLst>
              <a:gd name="adj" fmla="val 3636"/>
            </a:avLst>
          </a:prstGeom>
          <a:solidFill>
            <a:schemeClr val="bg2"/>
          </a:solidFill>
          <a:ln/>
        </p:spPr>
      </p:sp>
      <p:sp>
        <p:nvSpPr>
          <p:cNvPr id="5" name="badge-bg"/>
          <p:cNvSpPr/>
          <p:nvPr/>
        </p:nvSpPr>
        <p:spPr>
          <a:xfrm>
            <a:off x="822960" y="1783080"/>
            <a:ext cx="731520" cy="731520"/>
          </a:xfrm>
          <a:prstGeom prst="ellipse">
            <a:avLst/>
          </a:prstGeom>
          <a:solidFill>
            <a:schemeClr val="accent1"/>
          </a:solidFill>
          <a:ln/>
        </p:spPr>
      </p:sp>
      <p:pic>
        <p:nvPicPr>
          <p:cNvPr id="6" name="Image 0" descr="FaDatabase">    </p:cNvPr>
          <p:cNvPicPr>
            <a:picLocks noChangeAspect="1"/>
          </p:cNvPicPr>
          <p:nvPr/>
        </p:nvPicPr>
        <p:blipFill>
          <a:blip r:embed="rId1"/>
          <a:stretch>
            <a:fillRect/>
          </a:stretch>
        </p:blipFill>
        <p:spPr>
          <a:xfrm>
            <a:off x="1020470" y="1980590"/>
            <a:ext cx="336499" cy="336499"/>
          </a:xfrm>
          <a:prstGeom prst="rect">
            <a:avLst/>
          </a:prstGeom>
        </p:spPr>
      </p:pic>
      <p:sp>
        <p:nvSpPr>
          <p:cNvPr id="7" name="Text 3"/>
          <p:cNvSpPr txBox="1"/>
          <p:nvPr/>
        </p:nvSpPr>
        <p:spPr>
          <a:xfrm>
            <a:off x="822960" y="2697480"/>
            <a:ext cx="2743200" cy="365760"/>
          </a:xfrm>
          <a:prstGeom prst="rect">
            <a:avLst/>
          </a:prstGeom>
          <a:noFill/>
          <a:ln/>
        </p:spPr>
        <p:txBody>
          <a:bodyPr wrap="square" lIns="0" tIns="0" rIns="0" bIns="0" rtlCol="0" anchor="t"/>
          <a:lstStyle/>
          <a:p>
            <a:pPr indent="0" marL="0">
              <a:buNone/>
            </a:pPr>
            <a:r>
              <a:rPr lang="en-US" sz="2000" b="1" dirty="0">
                <a:solidFill>
                  <a:schemeClr val="tx1"/>
                </a:solidFill>
              </a:rPr>
              <a:t>Source</a:t>
            </a:r>
            <a:endParaRPr lang="en-US" sz="2000" dirty="0"/>
          </a:p>
        </p:txBody>
      </p:sp>
      <p:sp>
        <p:nvSpPr>
          <p:cNvPr id="8" name="Text 4"/>
          <p:cNvSpPr txBox="1"/>
          <p:nvPr/>
        </p:nvSpPr>
        <p:spPr>
          <a:xfrm>
            <a:off x="822960" y="3108960"/>
            <a:ext cx="2651760" cy="731520"/>
          </a:xfrm>
          <a:prstGeom prst="rect">
            <a:avLst/>
          </a:prstGeom>
          <a:noFill/>
          <a:ln/>
        </p:spPr>
        <p:txBody>
          <a:bodyPr wrap="square" lIns="0" tIns="0" rIns="0" bIns="0" rtlCol="0" anchor="t"/>
          <a:lstStyle/>
          <a:p>
            <a:pPr indent="0" marL="0">
              <a:buNone/>
            </a:pPr>
            <a:r>
              <a:rPr lang="en-US" sz="1500" dirty="0">
                <a:solidFill>
                  <a:schemeClr val="tx1"/>
                </a:solidFill>
              </a:rPr>
              <a:t>Where the elements come from</a:t>
            </a:r>
            <a:endParaRPr lang="en-US" sz="1500" dirty="0"/>
          </a:p>
        </p:txBody>
      </p:sp>
      <p:sp>
        <p:nvSpPr>
          <p:cNvPr id="9" name="Text 5"/>
          <p:cNvSpPr txBox="1"/>
          <p:nvPr/>
        </p:nvSpPr>
        <p:spPr>
          <a:xfrm>
            <a:off x="822960" y="3977640"/>
            <a:ext cx="2743200" cy="36576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orderLines.stream()</a:t>
            </a:r>
            <a:endParaRPr lang="en-US" sz="1400" dirty="0"/>
          </a:p>
        </p:txBody>
      </p:sp>
      <p:sp>
        <p:nvSpPr>
          <p:cNvPr id="10" name="arrow"/>
          <p:cNvSpPr/>
          <p:nvPr/>
        </p:nvSpPr>
        <p:spPr>
          <a:xfrm>
            <a:off x="3794760" y="3063240"/>
            <a:ext cx="640080" cy="0"/>
          </a:xfrm>
          <a:prstGeom prst="line">
            <a:avLst/>
          </a:prstGeom>
          <a:noFill/>
          <a:ln w="25400">
            <a:solidFill>
              <a:schemeClr val="tx2"/>
            </a:solidFill>
            <a:prstDash val="solid"/>
            <a:tailEnd type="triangle"/>
          </a:ln>
        </p:spPr>
      </p:sp>
      <p:sp>
        <p:nvSpPr>
          <p:cNvPr id="11" name="part-card-1"/>
          <p:cNvSpPr/>
          <p:nvPr/>
        </p:nvSpPr>
        <p:spPr>
          <a:xfrm>
            <a:off x="4480560" y="1554480"/>
            <a:ext cx="3200400" cy="3017520"/>
          </a:xfrm>
          <a:prstGeom prst="roundRect">
            <a:avLst>
              <a:gd name="adj" fmla="val 3636"/>
            </a:avLst>
          </a:prstGeom>
          <a:solidFill>
            <a:schemeClr val="bg2"/>
          </a:solidFill>
          <a:ln/>
        </p:spPr>
      </p:sp>
      <p:sp>
        <p:nvSpPr>
          <p:cNvPr id="12" name="badge-bg"/>
          <p:cNvSpPr/>
          <p:nvPr/>
        </p:nvSpPr>
        <p:spPr>
          <a:xfrm>
            <a:off x="4754880" y="1783080"/>
            <a:ext cx="731520" cy="731520"/>
          </a:xfrm>
          <a:prstGeom prst="ellipse">
            <a:avLst/>
          </a:prstGeom>
          <a:solidFill>
            <a:schemeClr val="accent6"/>
          </a:solidFill>
          <a:ln/>
        </p:spPr>
      </p:sp>
      <p:pic>
        <p:nvPicPr>
          <p:cNvPr id="13" name="Image 1" descr="FaExchangeAlt">    </p:cNvPr>
          <p:cNvPicPr>
            <a:picLocks noChangeAspect="1"/>
          </p:cNvPicPr>
          <p:nvPr/>
        </p:nvPicPr>
        <p:blipFill>
          <a:blip r:embed="rId2"/>
          <a:stretch>
            <a:fillRect/>
          </a:stretch>
        </p:blipFill>
        <p:spPr>
          <a:xfrm>
            <a:off x="4952390" y="1980590"/>
            <a:ext cx="336499" cy="336499"/>
          </a:xfrm>
          <a:prstGeom prst="rect">
            <a:avLst/>
          </a:prstGeom>
        </p:spPr>
      </p:pic>
      <p:sp>
        <p:nvSpPr>
          <p:cNvPr id="14" name="Text 9"/>
          <p:cNvSpPr txBox="1"/>
          <p:nvPr/>
        </p:nvSpPr>
        <p:spPr>
          <a:xfrm>
            <a:off x="4754880" y="2697480"/>
            <a:ext cx="2743200" cy="365760"/>
          </a:xfrm>
          <a:prstGeom prst="rect">
            <a:avLst/>
          </a:prstGeom>
          <a:noFill/>
          <a:ln/>
        </p:spPr>
        <p:txBody>
          <a:bodyPr wrap="square" lIns="0" tIns="0" rIns="0" bIns="0" rtlCol="0" anchor="t"/>
          <a:lstStyle/>
          <a:p>
            <a:pPr indent="0" marL="0">
              <a:buNone/>
            </a:pPr>
            <a:r>
              <a:rPr lang="en-US" sz="2000" b="1" dirty="0">
                <a:solidFill>
                  <a:schemeClr val="tx1"/>
                </a:solidFill>
              </a:rPr>
              <a:t>Intermediate operations</a:t>
            </a:r>
            <a:endParaRPr lang="en-US" sz="2000" dirty="0"/>
          </a:p>
        </p:txBody>
      </p:sp>
      <p:sp>
        <p:nvSpPr>
          <p:cNvPr id="15" name="Text 10"/>
          <p:cNvSpPr txBox="1"/>
          <p:nvPr/>
        </p:nvSpPr>
        <p:spPr>
          <a:xfrm>
            <a:off x="4754880" y="3108960"/>
            <a:ext cx="2651760" cy="731520"/>
          </a:xfrm>
          <a:prstGeom prst="rect">
            <a:avLst/>
          </a:prstGeom>
          <a:noFill/>
          <a:ln/>
        </p:spPr>
        <p:txBody>
          <a:bodyPr wrap="square" lIns="0" tIns="0" rIns="0" bIns="0" rtlCol="0" anchor="t"/>
          <a:lstStyle/>
          <a:p>
            <a:pPr indent="0" marL="0">
              <a:buNone/>
            </a:pPr>
            <a:r>
              <a:rPr lang="en-US" sz="1500" dirty="0">
                <a:solidFill>
                  <a:schemeClr val="tx1"/>
                </a:solidFill>
              </a:rPr>
              <a:t>Zero or more steps that transform the stream</a:t>
            </a:r>
            <a:endParaRPr lang="en-US" sz="1500" dirty="0"/>
          </a:p>
        </p:txBody>
      </p:sp>
      <p:sp>
        <p:nvSpPr>
          <p:cNvPr id="16" name="Text 11"/>
          <p:cNvSpPr txBox="1"/>
          <p:nvPr/>
        </p:nvSpPr>
        <p:spPr>
          <a:xfrm>
            <a:off x="4754880" y="3977640"/>
            <a:ext cx="2743200" cy="36576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mapToDouble(…)</a:t>
            </a:r>
            <a:endParaRPr lang="en-US" sz="1400" dirty="0"/>
          </a:p>
        </p:txBody>
      </p:sp>
      <p:sp>
        <p:nvSpPr>
          <p:cNvPr id="17" name="arrow"/>
          <p:cNvSpPr/>
          <p:nvPr/>
        </p:nvSpPr>
        <p:spPr>
          <a:xfrm>
            <a:off x="7726680" y="3063240"/>
            <a:ext cx="640080" cy="0"/>
          </a:xfrm>
          <a:prstGeom prst="line">
            <a:avLst/>
          </a:prstGeom>
          <a:noFill/>
          <a:ln w="25400">
            <a:solidFill>
              <a:schemeClr val="tx2"/>
            </a:solidFill>
            <a:prstDash val="solid"/>
            <a:tailEnd type="triangle"/>
          </a:ln>
        </p:spPr>
      </p:sp>
      <p:sp>
        <p:nvSpPr>
          <p:cNvPr id="18" name="part-card-2"/>
          <p:cNvSpPr/>
          <p:nvPr/>
        </p:nvSpPr>
        <p:spPr>
          <a:xfrm>
            <a:off x="8412480" y="1554480"/>
            <a:ext cx="3200400" cy="3017520"/>
          </a:xfrm>
          <a:prstGeom prst="roundRect">
            <a:avLst>
              <a:gd name="adj" fmla="val 3636"/>
            </a:avLst>
          </a:prstGeom>
          <a:solidFill>
            <a:schemeClr val="bg2"/>
          </a:solidFill>
          <a:ln/>
        </p:spPr>
      </p:sp>
      <p:sp>
        <p:nvSpPr>
          <p:cNvPr id="19" name="badge-bg"/>
          <p:cNvSpPr/>
          <p:nvPr/>
        </p:nvSpPr>
        <p:spPr>
          <a:xfrm>
            <a:off x="8686800" y="1783080"/>
            <a:ext cx="731520" cy="731520"/>
          </a:xfrm>
          <a:prstGeom prst="ellipse">
            <a:avLst/>
          </a:prstGeom>
          <a:solidFill>
            <a:schemeClr val="accent2"/>
          </a:solidFill>
          <a:ln/>
        </p:spPr>
      </p:sp>
      <p:pic>
        <p:nvPicPr>
          <p:cNvPr id="20" name="Image 2" descr="FaFlagCheckered">    </p:cNvPr>
          <p:cNvPicPr>
            <a:picLocks noChangeAspect="1"/>
          </p:cNvPicPr>
          <p:nvPr/>
        </p:nvPicPr>
        <p:blipFill>
          <a:blip r:embed="rId3"/>
          <a:stretch>
            <a:fillRect/>
          </a:stretch>
        </p:blipFill>
        <p:spPr>
          <a:xfrm>
            <a:off x="8884310" y="1980590"/>
            <a:ext cx="336499" cy="336499"/>
          </a:xfrm>
          <a:prstGeom prst="rect">
            <a:avLst/>
          </a:prstGeom>
        </p:spPr>
      </p:pic>
      <p:sp>
        <p:nvSpPr>
          <p:cNvPr id="21" name="Text 15"/>
          <p:cNvSpPr txBox="1"/>
          <p:nvPr/>
        </p:nvSpPr>
        <p:spPr>
          <a:xfrm>
            <a:off x="8686800" y="2697480"/>
            <a:ext cx="2743200" cy="365760"/>
          </a:xfrm>
          <a:prstGeom prst="rect">
            <a:avLst/>
          </a:prstGeom>
          <a:noFill/>
          <a:ln/>
        </p:spPr>
        <p:txBody>
          <a:bodyPr wrap="square" lIns="0" tIns="0" rIns="0" bIns="0" rtlCol="0" anchor="t"/>
          <a:lstStyle/>
          <a:p>
            <a:pPr indent="0" marL="0">
              <a:buNone/>
            </a:pPr>
            <a:r>
              <a:rPr lang="en-US" sz="2000" b="1" dirty="0">
                <a:solidFill>
                  <a:schemeClr val="tx1"/>
                </a:solidFill>
              </a:rPr>
              <a:t>Terminal operation</a:t>
            </a:r>
            <a:endParaRPr lang="en-US" sz="2000" dirty="0"/>
          </a:p>
        </p:txBody>
      </p:sp>
      <p:sp>
        <p:nvSpPr>
          <p:cNvPr id="22" name="Text 16"/>
          <p:cNvSpPr txBox="1"/>
          <p:nvPr/>
        </p:nvSpPr>
        <p:spPr>
          <a:xfrm>
            <a:off x="8686800" y="3108960"/>
            <a:ext cx="2651760" cy="731520"/>
          </a:xfrm>
          <a:prstGeom prst="rect">
            <a:avLst/>
          </a:prstGeom>
          <a:noFill/>
          <a:ln/>
        </p:spPr>
        <p:txBody>
          <a:bodyPr wrap="square" lIns="0" tIns="0" rIns="0" bIns="0" rtlCol="0" anchor="t"/>
          <a:lstStyle/>
          <a:p>
            <a:pPr indent="0" marL="0">
              <a:buNone/>
            </a:pPr>
            <a:r>
              <a:rPr lang="en-US" sz="1500" dirty="0">
                <a:solidFill>
                  <a:schemeClr val="tx1"/>
                </a:solidFill>
              </a:rPr>
              <a:t>Exactly one. Produces the result and starts the pipeline</a:t>
            </a:r>
            <a:endParaRPr lang="en-US" sz="1500" dirty="0"/>
          </a:p>
        </p:txBody>
      </p:sp>
      <p:sp>
        <p:nvSpPr>
          <p:cNvPr id="23" name="Text 17"/>
          <p:cNvSpPr txBox="1"/>
          <p:nvPr/>
        </p:nvSpPr>
        <p:spPr>
          <a:xfrm>
            <a:off x="8686800" y="3977640"/>
            <a:ext cx="2743200" cy="36576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sum()</a:t>
            </a:r>
            <a:endParaRPr lang="en-US" sz="1400" dirty="0"/>
          </a:p>
        </p:txBody>
      </p:sp>
      <p:sp>
        <p:nvSpPr>
          <p:cNvPr id="24" name="pipeline-code-bg"/>
          <p:cNvSpPr/>
          <p:nvPr/>
        </p:nvSpPr>
        <p:spPr>
          <a:xfrm>
            <a:off x="548640" y="4846320"/>
            <a:ext cx="11091672" cy="1234440"/>
          </a:xfrm>
          <a:prstGeom prst="roundRect">
            <a:avLst>
              <a:gd name="adj" fmla="val 7407"/>
            </a:avLst>
          </a:prstGeom>
          <a:solidFill>
            <a:schemeClr val="tx1"/>
          </a:solidFill>
          <a:ln/>
        </p:spPr>
      </p:sp>
      <p:sp>
        <p:nvSpPr>
          <p:cNvPr id="25" name="pipeline-code"/>
          <p:cNvSpPr txBox="1"/>
          <p:nvPr/>
        </p:nvSpPr>
        <p:spPr>
          <a:xfrm>
            <a:off x="731520" y="4956048"/>
            <a:ext cx="10725912" cy="1014984"/>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double sum = Database.orderLines.stream()     // source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.mapToDouble(OrderLine::total)            // intermediate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.sum();                                   // terminal</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My first Stream: warehouse replenishment</a:t>
            </a:r>
            <a:endParaRPr lang="en-US" sz="3400" dirty="0"/>
          </a:p>
        </p:txBody>
      </p:sp>
      <p:sp>
        <p:nvSpPr>
          <p:cNvPr id="4" name="replenish-code-bg"/>
          <p:cNvSpPr/>
          <p:nvPr/>
        </p:nvSpPr>
        <p:spPr>
          <a:xfrm>
            <a:off x="548640" y="1554480"/>
            <a:ext cx="6583680" cy="2834640"/>
          </a:xfrm>
          <a:prstGeom prst="roundRect">
            <a:avLst>
              <a:gd name="adj" fmla="val 3226"/>
            </a:avLst>
          </a:prstGeom>
          <a:solidFill>
            <a:schemeClr val="tx1"/>
          </a:solidFill>
          <a:ln/>
        </p:spPr>
      </p:sp>
      <p:sp>
        <p:nvSpPr>
          <p:cNvPr id="5" name="replenish-code"/>
          <p:cNvSpPr txBox="1"/>
          <p:nvPr/>
        </p:nvSpPr>
        <p:spPr>
          <a:xfrm>
            <a:off x="731520" y="1664208"/>
            <a:ext cx="6217920" cy="2615184"/>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orders.stream()</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.filter(Order::paid)</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.flatMap(o -&gt; o.orderLines().stream())</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.collect(groupingBy(OrderLine::articleId,</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summingInt(OrderLine::quantity)));</a:t>
            </a:r>
            <a:endParaRPr lang="en-US" sz="1500" dirty="0"/>
          </a:p>
        </p:txBody>
      </p:sp>
      <p:sp>
        <p:nvSpPr>
          <p:cNvPr id="6" name="map-card-0"/>
          <p:cNvSpPr/>
          <p:nvPr/>
        </p:nvSpPr>
        <p:spPr>
          <a:xfrm>
            <a:off x="7406640" y="1554480"/>
            <a:ext cx="4233672" cy="822960"/>
          </a:xfrm>
          <a:prstGeom prst="roundRect">
            <a:avLst>
              <a:gd name="adj" fmla="val 13333"/>
            </a:avLst>
          </a:prstGeom>
          <a:solidFill>
            <a:schemeClr val="bg2"/>
          </a:solidFill>
          <a:ln/>
        </p:spPr>
      </p:sp>
      <p:sp>
        <p:nvSpPr>
          <p:cNvPr id="7" name="Text 4"/>
          <p:cNvSpPr txBox="1"/>
          <p:nvPr/>
        </p:nvSpPr>
        <p:spPr>
          <a:xfrm>
            <a:off x="7589520" y="1554480"/>
            <a:ext cx="2286000" cy="822960"/>
          </a:xfrm>
          <a:prstGeom prst="rect">
            <a:avLst/>
          </a:prstGeom>
          <a:noFill/>
          <a:ln/>
        </p:spPr>
        <p:txBody>
          <a:bodyPr wrap="square" lIns="0" tIns="0" rIns="0" bIns="0" rtlCol="0" anchor="ctr"/>
          <a:lstStyle/>
          <a:p>
            <a:pPr indent="0" marL="0">
              <a:buNone/>
            </a:pPr>
            <a:r>
              <a:rPr lang="en-US" sz="1500" dirty="0">
                <a:solidFill>
                  <a:schemeClr val="tx2"/>
                </a:solidFill>
                <a:latin typeface="Courier New" pitchFamily="34" charset="0"/>
                <a:ea typeface="Courier New" pitchFamily="34" charset="-122"/>
                <a:cs typeface="Courier New" pitchFamily="34" charset="-120"/>
              </a:rPr>
              <a:t>if (order.paid())</a:t>
            </a:r>
            <a:endParaRPr lang="en-US" sz="1500" dirty="0"/>
          </a:p>
        </p:txBody>
      </p:sp>
      <p:sp>
        <p:nvSpPr>
          <p:cNvPr id="8" name="Text 5"/>
          <p:cNvSpPr txBox="1"/>
          <p:nvPr/>
        </p:nvSpPr>
        <p:spPr>
          <a:xfrm>
            <a:off x="9784080" y="1554480"/>
            <a:ext cx="365760" cy="822960"/>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9" name="Text 6"/>
          <p:cNvSpPr txBox="1"/>
          <p:nvPr/>
        </p:nvSpPr>
        <p:spPr>
          <a:xfrm>
            <a:off x="10241280" y="1554480"/>
            <a:ext cx="1325880" cy="82296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filter</a:t>
            </a:r>
            <a:endParaRPr lang="en-US" sz="1600" dirty="0"/>
          </a:p>
        </p:txBody>
      </p:sp>
      <p:sp>
        <p:nvSpPr>
          <p:cNvPr id="10" name="map-card-1"/>
          <p:cNvSpPr/>
          <p:nvPr/>
        </p:nvSpPr>
        <p:spPr>
          <a:xfrm>
            <a:off x="7406640" y="2560320"/>
            <a:ext cx="4233672" cy="822960"/>
          </a:xfrm>
          <a:prstGeom prst="roundRect">
            <a:avLst>
              <a:gd name="adj" fmla="val 13333"/>
            </a:avLst>
          </a:prstGeom>
          <a:solidFill>
            <a:schemeClr val="bg2"/>
          </a:solidFill>
          <a:ln/>
        </p:spPr>
      </p:sp>
      <p:sp>
        <p:nvSpPr>
          <p:cNvPr id="11" name="Text 8"/>
          <p:cNvSpPr txBox="1"/>
          <p:nvPr/>
        </p:nvSpPr>
        <p:spPr>
          <a:xfrm>
            <a:off x="7589520" y="2560320"/>
            <a:ext cx="2286000" cy="822960"/>
          </a:xfrm>
          <a:prstGeom prst="rect">
            <a:avLst/>
          </a:prstGeom>
          <a:noFill/>
          <a:ln/>
        </p:spPr>
        <p:txBody>
          <a:bodyPr wrap="square" lIns="0" tIns="0" rIns="0" bIns="0" rtlCol="0" anchor="ctr"/>
          <a:lstStyle/>
          <a:p>
            <a:pPr indent="0" marL="0">
              <a:buNone/>
            </a:pPr>
            <a:r>
              <a:rPr lang="en-US" sz="1500" dirty="0">
                <a:solidFill>
                  <a:schemeClr val="tx1"/>
                </a:solidFill>
              </a:rPr>
              <a:t>inner loop over order lines</a:t>
            </a:r>
            <a:endParaRPr lang="en-US" sz="1500" dirty="0"/>
          </a:p>
        </p:txBody>
      </p:sp>
      <p:sp>
        <p:nvSpPr>
          <p:cNvPr id="12" name="Text 9"/>
          <p:cNvSpPr txBox="1"/>
          <p:nvPr/>
        </p:nvSpPr>
        <p:spPr>
          <a:xfrm>
            <a:off x="9784080" y="2560320"/>
            <a:ext cx="365760" cy="822960"/>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13" name="Text 10"/>
          <p:cNvSpPr txBox="1"/>
          <p:nvPr/>
        </p:nvSpPr>
        <p:spPr>
          <a:xfrm>
            <a:off x="10241280" y="2560320"/>
            <a:ext cx="1325880" cy="82296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flatMap</a:t>
            </a:r>
            <a:endParaRPr lang="en-US" sz="1600" dirty="0"/>
          </a:p>
        </p:txBody>
      </p:sp>
      <p:sp>
        <p:nvSpPr>
          <p:cNvPr id="14" name="map-card-2"/>
          <p:cNvSpPr/>
          <p:nvPr/>
        </p:nvSpPr>
        <p:spPr>
          <a:xfrm>
            <a:off x="7406640" y="3566160"/>
            <a:ext cx="4233672" cy="822960"/>
          </a:xfrm>
          <a:prstGeom prst="roundRect">
            <a:avLst>
              <a:gd name="adj" fmla="val 13333"/>
            </a:avLst>
          </a:prstGeom>
          <a:solidFill>
            <a:schemeClr val="bg2"/>
          </a:solidFill>
          <a:ln/>
        </p:spPr>
      </p:sp>
      <p:sp>
        <p:nvSpPr>
          <p:cNvPr id="15" name="Text 12"/>
          <p:cNvSpPr txBox="1"/>
          <p:nvPr/>
        </p:nvSpPr>
        <p:spPr>
          <a:xfrm>
            <a:off x="7589520" y="3566160"/>
            <a:ext cx="2286000" cy="822960"/>
          </a:xfrm>
          <a:prstGeom prst="rect">
            <a:avLst/>
          </a:prstGeom>
          <a:noFill/>
          <a:ln/>
        </p:spPr>
        <p:txBody>
          <a:bodyPr wrap="square" lIns="0" tIns="0" rIns="0" bIns="0" rtlCol="0" anchor="ctr"/>
          <a:lstStyle/>
          <a:p>
            <a:pPr indent="0" marL="0">
              <a:buNone/>
            </a:pPr>
            <a:r>
              <a:rPr lang="en-US" sz="1500" dirty="0">
                <a:solidFill>
                  <a:schemeClr val="tx2"/>
                </a:solidFill>
                <a:latin typeface="Courier New" pitchFamily="34" charset="0"/>
                <a:ea typeface="Courier New" pitchFamily="34" charset="-122"/>
                <a:cs typeface="Courier New" pitchFamily="34" charset="-120"/>
              </a:rPr>
              <a:t>Map</a:t>
            </a:r>
            <a:pPr indent="0" marL="0">
              <a:buNone/>
            </a:pPr>
            <a:r>
              <a:rPr lang="en-US" sz="1500" dirty="0">
                <a:solidFill>
                  <a:schemeClr val="tx1"/>
                </a:solidFill>
              </a:rPr>
              <a:t> accumulator</a:t>
            </a:r>
            <a:endParaRPr lang="en-US" sz="1500" dirty="0"/>
          </a:p>
        </p:txBody>
      </p:sp>
      <p:sp>
        <p:nvSpPr>
          <p:cNvPr id="16" name="Text 13"/>
          <p:cNvSpPr txBox="1"/>
          <p:nvPr/>
        </p:nvSpPr>
        <p:spPr>
          <a:xfrm>
            <a:off x="9784080" y="3566160"/>
            <a:ext cx="365760" cy="822960"/>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17" name="Text 14"/>
          <p:cNvSpPr txBox="1"/>
          <p:nvPr/>
        </p:nvSpPr>
        <p:spPr>
          <a:xfrm>
            <a:off x="10241280" y="3566160"/>
            <a:ext cx="1325880" cy="822960"/>
          </a:xfrm>
          <a:prstGeom prst="rect">
            <a:avLst/>
          </a:prstGeom>
          <a:noFill/>
          <a:ln/>
        </p:spPr>
        <p:txBody>
          <a:bodyPr wrap="square" lIns="0" tIns="0" rIns="0" bIns="0" rtlCol="0" anchor="ctr"/>
          <a:lstStyle/>
          <a:p>
            <a:pPr indent="0" marL="0">
              <a:buNone/>
            </a:pPr>
            <a:r>
              <a:rPr lang="en-US" sz="1600" b="1" dirty="0">
                <a:solidFill>
                  <a:schemeClr val="accent1"/>
                </a:solidFill>
              </a:rPr>
              <a:t>a collector</a:t>
            </a:r>
            <a:endParaRPr lang="en-US" sz="1600" dirty="0"/>
          </a:p>
        </p:txBody>
      </p:sp>
      <p:sp>
        <p:nvSpPr>
          <p:cNvPr id="18" name="example-card"/>
          <p:cNvSpPr/>
          <p:nvPr/>
        </p:nvSpPr>
        <p:spPr>
          <a:xfrm>
            <a:off x="548640" y="4663440"/>
            <a:ext cx="11091672" cy="1371600"/>
          </a:xfrm>
          <a:prstGeom prst="roundRect">
            <a:avLst>
              <a:gd name="adj" fmla="val 8000"/>
            </a:avLst>
          </a:prstGeom>
          <a:solidFill>
            <a:schemeClr val="bg2"/>
          </a:solidFill>
          <a:ln/>
        </p:spPr>
      </p:sp>
      <p:sp>
        <p:nvSpPr>
          <p:cNvPr id="19" name="Text 16"/>
          <p:cNvSpPr txBox="1"/>
          <p:nvPr/>
        </p:nvSpPr>
        <p:spPr>
          <a:xfrm>
            <a:off x="822960" y="4754880"/>
            <a:ext cx="10543032" cy="457200"/>
          </a:xfrm>
          <a:prstGeom prst="rect">
            <a:avLst/>
          </a:prstGeom>
          <a:noFill/>
          <a:ln/>
        </p:spPr>
        <p:txBody>
          <a:bodyPr wrap="square" lIns="0" tIns="0" rIns="0" bIns="0" rtlCol="0" anchor="t"/>
          <a:lstStyle/>
          <a:p>
            <a:pPr indent="0" marL="0">
              <a:buNone/>
            </a:pPr>
            <a:r>
              <a:rPr lang="en-US" sz="1600" b="1" dirty="0">
                <a:solidFill>
                  <a:schemeClr val="tx1"/>
                </a:solidFill>
              </a:rPr>
              <a:t>Example</a:t>
            </a:r>
            <a:pPr indent="0" marL="0">
              <a:buNone/>
            </a:pPr>
            <a:r>
              <a:rPr lang="en-US" sz="1600" dirty="0">
                <a:solidFill>
                  <a:schemeClr val="tx1"/>
                </a:solidFill>
              </a:rPr>
              <a:t> — Order 1 (paid): 2 Pizza + 1 Candy · Order 2 (paid): 1 Pizza + 1 Beer · Order 3 (unpaid): 5 Coffee</a:t>
            </a:r>
            <a:endParaRPr lang="en-US" sz="1600" dirty="0"/>
          </a:p>
        </p:txBody>
      </p:sp>
      <p:sp>
        <p:nvSpPr>
          <p:cNvPr id="20" name="Text 17"/>
          <p:cNvSpPr txBox="1"/>
          <p:nvPr/>
        </p:nvSpPr>
        <p:spPr>
          <a:xfrm>
            <a:off x="822960" y="5303520"/>
            <a:ext cx="10543032" cy="457200"/>
          </a:xfrm>
          <a:prstGeom prst="rect">
            <a:avLst/>
          </a:prstGeom>
          <a:noFill/>
          <a:ln/>
        </p:spPr>
        <p:txBody>
          <a:bodyPr wrap="square" lIns="0" tIns="0" rIns="0" bIns="0" rtlCol="0" anchor="t"/>
          <a:lstStyle/>
          <a:p>
            <a:pPr indent="0" marL="0">
              <a:buNone/>
            </a:pPr>
            <a:r>
              <a:rPr lang="en-US" sz="1800" b="1" dirty="0">
                <a:solidFill>
                  <a:schemeClr val="accent1"/>
                </a:solidFill>
              </a:rPr>
              <a:t>Delivery:</a:t>
            </a:r>
            <a:pPr indent="0" marL="0">
              <a:buNone/>
            </a:pPr>
            <a:r>
              <a:rPr lang="en-US" sz="1800" dirty="0">
                <a:solidFill>
                  <a:schemeClr val="accent1"/>
                </a:solidFill>
              </a:rPr>
              <a:t> 3 Pizza, 1 Candy, 1 Beer</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03</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Stream Initialization</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A stream always starts from a source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Ways to create a stream</a:t>
            </a:r>
            <a:endParaRPr lang="en-US" sz="3400" dirty="0"/>
          </a:p>
        </p:txBody>
      </p:sp>
      <p:sp>
        <p:nvSpPr>
          <p:cNvPr id="4" name="init-card-0"/>
          <p:cNvSpPr/>
          <p:nvPr/>
        </p:nvSpPr>
        <p:spPr>
          <a:xfrm>
            <a:off x="548640" y="1554480"/>
            <a:ext cx="3566160" cy="1371600"/>
          </a:xfrm>
          <a:prstGeom prst="roundRect">
            <a:avLst>
              <a:gd name="adj" fmla="val 8000"/>
            </a:avLst>
          </a:prstGeom>
          <a:solidFill>
            <a:schemeClr val="bg2"/>
          </a:solidFill>
          <a:ln/>
        </p:spPr>
      </p:sp>
      <p:sp>
        <p:nvSpPr>
          <p:cNvPr id="5" name="Text 2"/>
          <p:cNvSpPr txBox="1"/>
          <p:nvPr/>
        </p:nvSpPr>
        <p:spPr>
          <a:xfrm>
            <a:off x="777240" y="1783080"/>
            <a:ext cx="31089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collection.stream()</a:t>
            </a:r>
            <a:endParaRPr lang="en-US" sz="1700" dirty="0"/>
          </a:p>
        </p:txBody>
      </p:sp>
      <p:sp>
        <p:nvSpPr>
          <p:cNvPr id="6" name="Text 3"/>
          <p:cNvSpPr txBox="1"/>
          <p:nvPr/>
        </p:nvSpPr>
        <p:spPr>
          <a:xfrm>
            <a:off x="777240" y="2286000"/>
            <a:ext cx="3108960" cy="548640"/>
          </a:xfrm>
          <a:prstGeom prst="rect">
            <a:avLst/>
          </a:prstGeom>
          <a:noFill/>
          <a:ln/>
        </p:spPr>
        <p:txBody>
          <a:bodyPr wrap="square" lIns="0" tIns="0" rIns="0" bIns="0" rtlCol="0" anchor="t"/>
          <a:lstStyle/>
          <a:p>
            <a:pPr indent="0" marL="0">
              <a:buNone/>
            </a:pPr>
            <a:r>
              <a:rPr lang="en-US" sz="1500" dirty="0">
                <a:solidFill>
                  <a:schemeClr val="tx2"/>
                </a:solidFill>
              </a:rPr>
              <a:t>from any collection, also an empty one</a:t>
            </a:r>
            <a:endParaRPr lang="en-US" sz="1500" dirty="0"/>
          </a:p>
        </p:txBody>
      </p:sp>
      <p:sp>
        <p:nvSpPr>
          <p:cNvPr id="7" name="init-card-1"/>
          <p:cNvSpPr/>
          <p:nvPr/>
        </p:nvSpPr>
        <p:spPr>
          <a:xfrm>
            <a:off x="4297680" y="1554480"/>
            <a:ext cx="3566160" cy="1371600"/>
          </a:xfrm>
          <a:prstGeom prst="roundRect">
            <a:avLst>
              <a:gd name="adj" fmla="val 8000"/>
            </a:avLst>
          </a:prstGeom>
          <a:solidFill>
            <a:schemeClr val="bg2"/>
          </a:solidFill>
          <a:ln/>
        </p:spPr>
      </p:sp>
      <p:sp>
        <p:nvSpPr>
          <p:cNvPr id="8" name="Text 5"/>
          <p:cNvSpPr txBox="1"/>
          <p:nvPr/>
        </p:nvSpPr>
        <p:spPr>
          <a:xfrm>
            <a:off x="4526280" y="1783080"/>
            <a:ext cx="31089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Stream.of(a, b, c)</a:t>
            </a:r>
            <a:endParaRPr lang="en-US" sz="1700" dirty="0"/>
          </a:p>
        </p:txBody>
      </p:sp>
      <p:sp>
        <p:nvSpPr>
          <p:cNvPr id="9" name="Text 6"/>
          <p:cNvSpPr txBox="1"/>
          <p:nvPr/>
        </p:nvSpPr>
        <p:spPr>
          <a:xfrm>
            <a:off x="4526280" y="2286000"/>
            <a:ext cx="3108960" cy="548640"/>
          </a:xfrm>
          <a:prstGeom prst="rect">
            <a:avLst/>
          </a:prstGeom>
          <a:noFill/>
          <a:ln/>
        </p:spPr>
        <p:txBody>
          <a:bodyPr wrap="square" lIns="0" tIns="0" rIns="0" bIns="0" rtlCol="0" anchor="t"/>
          <a:lstStyle/>
          <a:p>
            <a:pPr indent="0" marL="0">
              <a:buNone/>
            </a:pPr>
            <a:r>
              <a:rPr lang="en-US" sz="1500" dirty="0">
                <a:solidFill>
                  <a:schemeClr val="tx2"/>
                </a:solidFill>
              </a:rPr>
              <a:t>from values</a:t>
            </a:r>
            <a:endParaRPr lang="en-US" sz="1500" dirty="0"/>
          </a:p>
        </p:txBody>
      </p:sp>
      <p:sp>
        <p:nvSpPr>
          <p:cNvPr id="10" name="init-card-2"/>
          <p:cNvSpPr/>
          <p:nvPr/>
        </p:nvSpPr>
        <p:spPr>
          <a:xfrm>
            <a:off x="8046720" y="1554480"/>
            <a:ext cx="3566160" cy="1371600"/>
          </a:xfrm>
          <a:prstGeom prst="roundRect">
            <a:avLst>
              <a:gd name="adj" fmla="val 8000"/>
            </a:avLst>
          </a:prstGeom>
          <a:solidFill>
            <a:schemeClr val="bg2"/>
          </a:solidFill>
          <a:ln/>
        </p:spPr>
      </p:sp>
      <p:sp>
        <p:nvSpPr>
          <p:cNvPr id="11" name="Text 8"/>
          <p:cNvSpPr txBox="1"/>
          <p:nvPr/>
        </p:nvSpPr>
        <p:spPr>
          <a:xfrm>
            <a:off x="8275320" y="1783080"/>
            <a:ext cx="31089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Stream.concat(s1, s2)</a:t>
            </a:r>
            <a:endParaRPr lang="en-US" sz="1700" dirty="0"/>
          </a:p>
        </p:txBody>
      </p:sp>
      <p:sp>
        <p:nvSpPr>
          <p:cNvPr id="12" name="Text 9"/>
          <p:cNvSpPr txBox="1"/>
          <p:nvPr/>
        </p:nvSpPr>
        <p:spPr>
          <a:xfrm>
            <a:off x="8275320" y="2286000"/>
            <a:ext cx="3108960" cy="548640"/>
          </a:xfrm>
          <a:prstGeom prst="rect">
            <a:avLst/>
          </a:prstGeom>
          <a:noFill/>
          <a:ln/>
        </p:spPr>
        <p:txBody>
          <a:bodyPr wrap="square" lIns="0" tIns="0" rIns="0" bIns="0" rtlCol="0" anchor="t"/>
          <a:lstStyle/>
          <a:p>
            <a:pPr indent="0" marL="0">
              <a:buNone/>
            </a:pPr>
            <a:r>
              <a:rPr lang="en-US" sz="1500" dirty="0">
                <a:solidFill>
                  <a:schemeClr val="tx2"/>
                </a:solidFill>
              </a:rPr>
              <a:t>two streams become one</a:t>
            </a:r>
            <a:endParaRPr lang="en-US" sz="1500" dirty="0"/>
          </a:p>
        </p:txBody>
      </p:sp>
      <p:sp>
        <p:nvSpPr>
          <p:cNvPr id="13" name="init-card-3"/>
          <p:cNvSpPr/>
          <p:nvPr/>
        </p:nvSpPr>
        <p:spPr>
          <a:xfrm>
            <a:off x="548640" y="3154680"/>
            <a:ext cx="3566160" cy="1371600"/>
          </a:xfrm>
          <a:prstGeom prst="roundRect">
            <a:avLst>
              <a:gd name="adj" fmla="val 8000"/>
            </a:avLst>
          </a:prstGeom>
          <a:solidFill>
            <a:schemeClr val="bg2"/>
          </a:solidFill>
          <a:ln/>
        </p:spPr>
      </p:sp>
      <p:sp>
        <p:nvSpPr>
          <p:cNvPr id="14" name="Text 11"/>
          <p:cNvSpPr txBox="1"/>
          <p:nvPr/>
        </p:nvSpPr>
        <p:spPr>
          <a:xfrm>
            <a:off x="777240" y="3383280"/>
            <a:ext cx="31089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Stream.builder()</a:t>
            </a:r>
            <a:endParaRPr lang="en-US" sz="1700" dirty="0"/>
          </a:p>
        </p:txBody>
      </p:sp>
      <p:sp>
        <p:nvSpPr>
          <p:cNvPr id="15" name="Text 12"/>
          <p:cNvSpPr txBox="1"/>
          <p:nvPr/>
        </p:nvSpPr>
        <p:spPr>
          <a:xfrm>
            <a:off x="777240" y="3886200"/>
            <a:ext cx="3108960" cy="548640"/>
          </a:xfrm>
          <a:prstGeom prst="rect">
            <a:avLst/>
          </a:prstGeom>
          <a:noFill/>
          <a:ln/>
        </p:spPr>
        <p:txBody>
          <a:bodyPr wrap="square" lIns="0" tIns="0" rIns="0" bIns="0" rtlCol="0" anchor="t"/>
          <a:lstStyle/>
          <a:p>
            <a:pPr indent="0" marL="0">
              <a:buNone/>
            </a:pPr>
            <a:r>
              <a:rPr lang="en-US" sz="1500" dirty="0">
                <a:solidFill>
                  <a:schemeClr val="tx2"/>
                </a:solidFill>
              </a:rPr>
              <a:t>add elements one by one, then build</a:t>
            </a:r>
            <a:endParaRPr lang="en-US" sz="1500" dirty="0"/>
          </a:p>
        </p:txBody>
      </p:sp>
      <p:sp>
        <p:nvSpPr>
          <p:cNvPr id="16" name="init-card-4"/>
          <p:cNvSpPr/>
          <p:nvPr/>
        </p:nvSpPr>
        <p:spPr>
          <a:xfrm>
            <a:off x="4297680" y="3154680"/>
            <a:ext cx="3566160" cy="1371600"/>
          </a:xfrm>
          <a:prstGeom prst="roundRect">
            <a:avLst>
              <a:gd name="adj" fmla="val 8000"/>
            </a:avLst>
          </a:prstGeom>
          <a:solidFill>
            <a:schemeClr val="bg2"/>
          </a:solidFill>
          <a:ln/>
        </p:spPr>
      </p:sp>
      <p:sp>
        <p:nvSpPr>
          <p:cNvPr id="17" name="Text 14"/>
          <p:cNvSpPr txBox="1"/>
          <p:nvPr/>
        </p:nvSpPr>
        <p:spPr>
          <a:xfrm>
            <a:off x="4526280" y="3383280"/>
            <a:ext cx="31089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IntStream.range(a, b)</a:t>
            </a:r>
            <a:endParaRPr lang="en-US" sz="1700" dirty="0"/>
          </a:p>
        </p:txBody>
      </p:sp>
      <p:sp>
        <p:nvSpPr>
          <p:cNvPr id="18" name="Text 15"/>
          <p:cNvSpPr txBox="1"/>
          <p:nvPr/>
        </p:nvSpPr>
        <p:spPr>
          <a:xfrm>
            <a:off x="4526280" y="3886200"/>
            <a:ext cx="3108960" cy="548640"/>
          </a:xfrm>
          <a:prstGeom prst="rect">
            <a:avLst/>
          </a:prstGeom>
          <a:noFill/>
          <a:ln/>
        </p:spPr>
        <p:txBody>
          <a:bodyPr wrap="square" lIns="0" tIns="0" rIns="0" bIns="0" rtlCol="0" anchor="t"/>
          <a:lstStyle/>
          <a:p>
            <a:pPr indent="0" marL="0">
              <a:buNone/>
            </a:pPr>
            <a:r>
              <a:rPr lang="en-US" sz="1500" dirty="0">
                <a:solidFill>
                  <a:schemeClr val="tx2"/>
                </a:solidFill>
              </a:rPr>
              <a:t>number range; also </a:t>
            </a:r>
            <a:pPr indent="0" marL="0">
              <a:buNone/>
            </a:pPr>
            <a:r>
              <a:rPr lang="en-US" sz="1500" dirty="0">
                <a:solidFill>
                  <a:schemeClr val="tx2"/>
                </a:solidFill>
                <a:latin typeface="Courier New" pitchFamily="34" charset="0"/>
                <a:ea typeface="Courier New" pitchFamily="34" charset="-122"/>
                <a:cs typeface="Courier New" pitchFamily="34" charset="-120"/>
              </a:rPr>
              <a:t>rangeClosed</a:t>
            </a:r>
            <a:endParaRPr lang="en-US" sz="1500" dirty="0"/>
          </a:p>
        </p:txBody>
      </p:sp>
      <p:sp>
        <p:nvSpPr>
          <p:cNvPr id="19" name="init-card-5"/>
          <p:cNvSpPr/>
          <p:nvPr/>
        </p:nvSpPr>
        <p:spPr>
          <a:xfrm>
            <a:off x="8046720" y="3154680"/>
            <a:ext cx="3566160" cy="1371600"/>
          </a:xfrm>
          <a:prstGeom prst="roundRect">
            <a:avLst>
              <a:gd name="adj" fmla="val 8000"/>
            </a:avLst>
          </a:prstGeom>
          <a:solidFill>
            <a:schemeClr val="bg2"/>
          </a:solidFill>
          <a:ln/>
        </p:spPr>
      </p:sp>
      <p:sp>
        <p:nvSpPr>
          <p:cNvPr id="20" name="Text 17"/>
          <p:cNvSpPr txBox="1"/>
          <p:nvPr/>
        </p:nvSpPr>
        <p:spPr>
          <a:xfrm>
            <a:off x="8275320" y="3383280"/>
            <a:ext cx="3108960" cy="36576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LongStream.range(a, b)</a:t>
            </a:r>
            <a:endParaRPr lang="en-US" sz="1700" dirty="0"/>
          </a:p>
        </p:txBody>
      </p:sp>
      <p:sp>
        <p:nvSpPr>
          <p:cNvPr id="21" name="Text 18"/>
          <p:cNvSpPr txBox="1"/>
          <p:nvPr/>
        </p:nvSpPr>
        <p:spPr>
          <a:xfrm>
            <a:off x="8275320" y="3886200"/>
            <a:ext cx="3108960" cy="548640"/>
          </a:xfrm>
          <a:prstGeom prst="rect">
            <a:avLst/>
          </a:prstGeom>
          <a:noFill/>
          <a:ln/>
        </p:spPr>
        <p:txBody>
          <a:bodyPr wrap="square" lIns="0" tIns="0" rIns="0" bIns="0" rtlCol="0" anchor="t"/>
          <a:lstStyle/>
          <a:p>
            <a:pPr indent="0" marL="0">
              <a:buNone/>
            </a:pPr>
            <a:r>
              <a:rPr lang="en-US" sz="1500" dirty="0">
                <a:solidFill>
                  <a:schemeClr val="tx2"/>
                </a:solidFill>
              </a:rPr>
              <a:t>same for </a:t>
            </a:r>
            <a:pPr indent="0" marL="0">
              <a:buNone/>
            </a:pPr>
            <a:r>
              <a:rPr lang="en-US" sz="1500" dirty="0">
                <a:solidFill>
                  <a:schemeClr val="tx2"/>
                </a:solidFill>
                <a:latin typeface="Courier New" pitchFamily="34" charset="0"/>
                <a:ea typeface="Courier New" pitchFamily="34" charset="-122"/>
                <a:cs typeface="Courier New" pitchFamily="34" charset="-120"/>
              </a:rPr>
              <a:t>long</a:t>
            </a:r>
            <a:pPr indent="0" marL="0">
              <a:buNone/>
            </a:pPr>
            <a:r>
              <a:rPr lang="en-US" sz="1500" dirty="0">
                <a:solidFill>
                  <a:schemeClr val="tx2"/>
                </a:solidFill>
              </a:rPr>
              <a:t>; also </a:t>
            </a:r>
            <a:pPr indent="0" marL="0">
              <a:buNone/>
            </a:pPr>
            <a:r>
              <a:rPr lang="en-US" sz="1500" dirty="0">
                <a:solidFill>
                  <a:schemeClr val="tx2"/>
                </a:solidFill>
                <a:latin typeface="Courier New" pitchFamily="34" charset="0"/>
                <a:ea typeface="Courier New" pitchFamily="34" charset="-122"/>
                <a:cs typeface="Courier New" pitchFamily="34" charset="-120"/>
              </a:rPr>
              <a:t>rangeClosed</a:t>
            </a:r>
            <a:endParaRPr lang="en-US" sz="1500" dirty="0"/>
          </a:p>
        </p:txBody>
      </p:sp>
      <p:sp>
        <p:nvSpPr>
          <p:cNvPr id="22" name="init-more"/>
          <p:cNvSpPr/>
          <p:nvPr/>
        </p:nvSpPr>
        <p:spPr>
          <a:xfrm>
            <a:off x="548640" y="4846320"/>
            <a:ext cx="11091672" cy="1280160"/>
          </a:xfrm>
          <a:prstGeom prst="roundRect">
            <a:avLst>
              <a:gd name="adj" fmla="val 8571"/>
            </a:avLst>
          </a:prstGeom>
          <a:solidFill>
            <a:schemeClr val="tx2"/>
          </a:solidFill>
          <a:ln/>
        </p:spPr>
      </p:sp>
      <p:sp>
        <p:nvSpPr>
          <p:cNvPr id="23" name="Text 20"/>
          <p:cNvSpPr txBox="1"/>
          <p:nvPr/>
        </p:nvSpPr>
        <p:spPr>
          <a:xfrm>
            <a:off x="822960" y="493776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Also good to know</a:t>
            </a:r>
            <a:endParaRPr lang="en-US" sz="1600" dirty="0"/>
          </a:p>
        </p:txBody>
      </p:sp>
      <p:sp>
        <p:nvSpPr>
          <p:cNvPr id="24" name="Text 21"/>
          <p:cNvSpPr txBox="1"/>
          <p:nvPr/>
        </p:nvSpPr>
        <p:spPr>
          <a:xfrm>
            <a:off x="822960" y="5349240"/>
            <a:ext cx="10543032" cy="640080"/>
          </a:xfrm>
          <a:prstGeom prst="rect">
            <a:avLst/>
          </a:prstGeom>
          <a:noFill/>
          <a:ln/>
        </p:spPr>
        <p:txBody>
          <a:bodyPr wrap="square" lIns="0" tIns="0" rIns="0" bIns="0" rtlCol="0" anchor="t"/>
          <a:lstStyle/>
          <a:p>
            <a:pPr indent="0" marL="0">
              <a:buNone/>
            </a:pPr>
            <a:r>
              <a:rPr lang="en-US" sz="1600" dirty="0">
                <a:solidFill>
                  <a:schemeClr val="accent3"/>
                </a:solidFill>
                <a:latin typeface="Courier New" pitchFamily="34" charset="0"/>
                <a:ea typeface="Courier New" pitchFamily="34" charset="-122"/>
                <a:cs typeface="Courier New" pitchFamily="34" charset="-120"/>
              </a:rPr>
              <a:t>Stream.empty()</a:t>
            </a:r>
            <a:pPr indent="0" marL="0">
              <a:buNone/>
            </a:pPr>
            <a:r>
              <a:rPr lang="en-US" sz="1600" dirty="0">
                <a:solidFill>
                  <a:schemeClr val="bg1"/>
                </a:solidFill>
              </a:rPr>
              <a:t> · </a:t>
            </a:r>
            <a:pPr indent="0" marL="0">
              <a:buNone/>
            </a:pPr>
            <a:r>
              <a:rPr lang="en-US" sz="1600" dirty="0">
                <a:solidFill>
                  <a:schemeClr val="accent3"/>
                </a:solidFill>
                <a:latin typeface="Courier New" pitchFamily="34" charset="0"/>
                <a:ea typeface="Courier New" pitchFamily="34" charset="-122"/>
                <a:cs typeface="Courier New" pitchFamily="34" charset="-120"/>
              </a:rPr>
              <a:t>Arrays.stream(array)</a:t>
            </a:r>
            <a:pPr indent="0" marL="0">
              <a:buNone/>
            </a:pPr>
            <a:r>
              <a:rPr lang="en-US" sz="1600" dirty="0">
                <a:solidFill>
                  <a:schemeClr val="bg1"/>
                </a:solidFill>
              </a:rPr>
              <a:t> · </a:t>
            </a:r>
            <a:pPr indent="0" marL="0">
              <a:buNone/>
            </a:pPr>
            <a:r>
              <a:rPr lang="en-US" sz="1600" dirty="0">
                <a:solidFill>
                  <a:schemeClr val="accent3"/>
                </a:solidFill>
                <a:latin typeface="Courier New" pitchFamily="34" charset="0"/>
                <a:ea typeface="Courier New" pitchFamily="34" charset="-122"/>
                <a:cs typeface="Courier New" pitchFamily="34" charset="-120"/>
              </a:rPr>
              <a:t>"text".chars()</a:t>
            </a:r>
            <a:pPr indent="0" marL="0">
              <a:buNone/>
            </a:pPr>
            <a:r>
              <a:rPr lang="en-US" sz="1600" dirty="0">
                <a:solidFill>
                  <a:schemeClr val="bg1"/>
                </a:solidFill>
              </a:rPr>
              <a:t> · </a:t>
            </a:r>
            <a:pPr indent="0" marL="0">
              <a:buNone/>
            </a:pPr>
            <a:r>
              <a:rPr lang="en-US" sz="1600" dirty="0">
                <a:solidFill>
                  <a:schemeClr val="accent3"/>
                </a:solidFill>
                <a:latin typeface="Courier New" pitchFamily="34" charset="0"/>
                <a:ea typeface="Courier New" pitchFamily="34" charset="-122"/>
                <a:cs typeface="Courier New" pitchFamily="34" charset="-120"/>
              </a:rPr>
              <a:t>map.entrySet().stream()</a:t>
            </a:r>
            <a:pPr indent="0" marL="0">
              <a:buNone/>
            </a:pPr>
            <a:r>
              <a:rPr lang="en-US" sz="1600" dirty="0">
                <a:solidFill>
                  <a:schemeClr val="bg1"/>
                </a:solidFill>
              </a:rPr>
              <a:t> · </a:t>
            </a:r>
            <a:pPr indent="0" marL="0">
              <a:buNone/>
            </a:pPr>
            <a:r>
              <a:rPr lang="en-US" sz="1600" dirty="0">
                <a:solidFill>
                  <a:schemeClr val="accent3"/>
                </a:solidFill>
                <a:latin typeface="Courier New" pitchFamily="34" charset="0"/>
                <a:ea typeface="Courier New" pitchFamily="34" charset="-122"/>
                <a:cs typeface="Courier New" pitchFamily="34" charset="-120"/>
              </a:rPr>
              <a:t>Files.lines(path)</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Ranges, infinite streams and empty sources</a:t>
            </a:r>
            <a:endParaRPr lang="en-US" sz="3400" dirty="0"/>
          </a:p>
        </p:txBody>
      </p:sp>
      <p:sp>
        <p:nvSpPr>
          <p:cNvPr id="4" name="range-card"/>
          <p:cNvSpPr/>
          <p:nvPr/>
        </p:nvSpPr>
        <p:spPr>
          <a:xfrm>
            <a:off x="548640" y="1554480"/>
            <a:ext cx="5394960" cy="2286000"/>
          </a:xfrm>
          <a:prstGeom prst="roundRect">
            <a:avLst>
              <a:gd name="adj" fmla="val 4800"/>
            </a:avLst>
          </a:prstGeom>
          <a:solidFill>
            <a:schemeClr val="bg2"/>
          </a:solidFill>
          <a:ln/>
        </p:spPr>
      </p:sp>
      <p:sp>
        <p:nvSpPr>
          <p:cNvPr id="5" name="Text 2"/>
          <p:cNvSpPr txBox="1"/>
          <p:nvPr/>
        </p:nvSpPr>
        <p:spPr>
          <a:xfrm>
            <a:off x="822960" y="16916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range vs rangeClosed</a:t>
            </a:r>
            <a:endParaRPr lang="en-US" sz="1800" dirty="0"/>
          </a:p>
        </p:txBody>
      </p:sp>
      <p:sp>
        <p:nvSpPr>
          <p:cNvPr id="6" name="range-code-bg"/>
          <p:cNvSpPr/>
          <p:nvPr/>
        </p:nvSpPr>
        <p:spPr>
          <a:xfrm>
            <a:off x="777240" y="2194560"/>
            <a:ext cx="4937760" cy="1371600"/>
          </a:xfrm>
          <a:prstGeom prst="roundRect">
            <a:avLst>
              <a:gd name="adj" fmla="val 6667"/>
            </a:avLst>
          </a:prstGeom>
          <a:solidFill>
            <a:schemeClr val="tx1"/>
          </a:solidFill>
          <a:ln/>
        </p:spPr>
      </p:sp>
      <p:sp>
        <p:nvSpPr>
          <p:cNvPr id="7" name="range-code"/>
          <p:cNvSpPr txBox="1"/>
          <p:nvPr/>
        </p:nvSpPr>
        <p:spPr>
          <a:xfrm>
            <a:off x="960120" y="2304288"/>
            <a:ext cx="4572000" cy="115214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IntStream.range(1, 5)        // 1 2 3 4</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IntStream.rangeClosed(1, 5)  // 1 2 3 4 5</a:t>
            </a:r>
            <a:endParaRPr lang="en-US" sz="1400" dirty="0"/>
          </a:p>
        </p:txBody>
      </p:sp>
      <p:sp>
        <p:nvSpPr>
          <p:cNvPr id="8" name="empty-card"/>
          <p:cNvSpPr/>
          <p:nvPr/>
        </p:nvSpPr>
        <p:spPr>
          <a:xfrm>
            <a:off x="6245352" y="1554480"/>
            <a:ext cx="5394960" cy="2286000"/>
          </a:xfrm>
          <a:prstGeom prst="roundRect">
            <a:avLst>
              <a:gd name="adj" fmla="val 4800"/>
            </a:avLst>
          </a:prstGeom>
          <a:solidFill>
            <a:schemeClr val="bg2"/>
          </a:solidFill>
          <a:ln/>
        </p:spPr>
      </p:sp>
      <p:sp>
        <p:nvSpPr>
          <p:cNvPr id="9" name="Text 6"/>
          <p:cNvSpPr txBox="1"/>
          <p:nvPr/>
        </p:nvSpPr>
        <p:spPr>
          <a:xfrm>
            <a:off x="6519672" y="16916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Empty and null</a:t>
            </a:r>
            <a:endParaRPr lang="en-US" sz="1800" dirty="0"/>
          </a:p>
        </p:txBody>
      </p:sp>
      <p:sp>
        <p:nvSpPr>
          <p:cNvPr id="10" name="bullets"/>
          <p:cNvSpPr txBox="1"/>
          <p:nvPr/>
        </p:nvSpPr>
        <p:spPr>
          <a:xfrm>
            <a:off x="6519672" y="2240280"/>
            <a:ext cx="4846320" cy="14630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An </a:t>
            </a:r>
            <a:pPr indent="0" marL="0">
              <a:buNone/>
            </a:pPr>
            <a:r>
              <a:rPr lang="en-US" sz="1700" b="1" dirty="0">
                <a:solidFill>
                  <a:schemeClr val="tx1"/>
                </a:solidFill>
              </a:rPr>
              <a:t>empty</a:t>
            </a:r>
            <a:pPr indent="0" marL="0">
              <a:buNone/>
            </a:pPr>
            <a:r>
              <a:rPr lang="en-US" sz="1700" dirty="0">
                <a:solidFill>
                  <a:schemeClr val="tx1"/>
                </a:solidFill>
              </a:rPr>
              <a:t> list gives an empty stream: fine</a:t>
            </a:r>
            <a:endParaRPr lang="en-US" sz="1700" dirty="0"/>
          </a:p>
          <a:p>
            <a:pPr marL="228600" indent="-228600">
              <a:spcAft>
                <a:spcPts val="1000"/>
              </a:spcAft>
              <a:buSzPct val="100000"/>
              <a:buChar char="•"/>
            </a:pPr>
            <a:r>
              <a:rPr lang="en-US" sz="1700" dirty="0">
                <a:solidFill>
                  <a:schemeClr val="tx1"/>
                </a:solidFill>
              </a:rPr>
              <a:t>A </a:t>
            </a:r>
            <a:pPr indent="0" marL="0">
              <a:buNone/>
            </a:pPr>
            <a:r>
              <a:rPr lang="en-US" sz="1700" dirty="0">
                <a:solidFill>
                  <a:schemeClr val="tx2"/>
                </a:solidFill>
                <a:latin typeface="Courier New" pitchFamily="34" charset="0"/>
                <a:ea typeface="Courier New" pitchFamily="34" charset="-122"/>
                <a:cs typeface="Courier New" pitchFamily="34" charset="-120"/>
              </a:rPr>
              <a:t>null</a:t>
            </a:r>
            <a:pPr indent="0" marL="0">
              <a:buNone/>
            </a:pPr>
            <a:r>
              <a:rPr lang="en-US" sz="1700" dirty="0">
                <a:solidFill>
                  <a:schemeClr val="tx1"/>
                </a:solidFill>
              </a:rPr>
              <a:t> source throws </a:t>
            </a:r>
            <a:pPr indent="0" marL="0">
              <a:buNone/>
            </a:pPr>
            <a:r>
              <a:rPr lang="en-US" sz="1700" dirty="0">
                <a:solidFill>
                  <a:schemeClr val="tx2"/>
                </a:solidFill>
                <a:latin typeface="Courier New" pitchFamily="34" charset="0"/>
                <a:ea typeface="Courier New" pitchFamily="34" charset="-122"/>
                <a:cs typeface="Courier New" pitchFamily="34" charset="-120"/>
              </a:rPr>
              <a:t>NullPointerException</a:t>
            </a:r>
            <a:endParaRPr lang="en-US" sz="1700" dirty="0"/>
          </a:p>
        </p:txBody>
      </p:sp>
      <p:sp>
        <p:nvSpPr>
          <p:cNvPr id="11" name="infinite-card"/>
          <p:cNvSpPr/>
          <p:nvPr/>
        </p:nvSpPr>
        <p:spPr>
          <a:xfrm>
            <a:off x="548640" y="4114800"/>
            <a:ext cx="11091672" cy="1920240"/>
          </a:xfrm>
          <a:prstGeom prst="roundRect">
            <a:avLst>
              <a:gd name="adj" fmla="val 5714"/>
            </a:avLst>
          </a:prstGeom>
          <a:solidFill>
            <a:schemeClr val="tx2"/>
          </a:solidFill>
          <a:ln/>
        </p:spPr>
      </p:sp>
      <p:sp>
        <p:nvSpPr>
          <p:cNvPr id="12" name="badge-bg"/>
          <p:cNvSpPr/>
          <p:nvPr/>
        </p:nvSpPr>
        <p:spPr>
          <a:xfrm>
            <a:off x="822960" y="4343400"/>
            <a:ext cx="685800" cy="685800"/>
          </a:xfrm>
          <a:prstGeom prst="ellipse">
            <a:avLst/>
          </a:prstGeom>
          <a:solidFill>
            <a:schemeClr val="accent2"/>
          </a:solidFill>
          <a:ln/>
        </p:spPr>
      </p:sp>
      <p:pic>
        <p:nvPicPr>
          <p:cNvPr id="13" name="Image 0" descr="FaInfinity">    </p:cNvPr>
          <p:cNvPicPr>
            <a:picLocks noChangeAspect="1"/>
          </p:cNvPicPr>
          <p:nvPr/>
        </p:nvPicPr>
        <p:blipFill>
          <a:blip r:embed="rId1"/>
          <a:stretch>
            <a:fillRect/>
          </a:stretch>
        </p:blipFill>
        <p:spPr>
          <a:xfrm>
            <a:off x="1008126" y="4528566"/>
            <a:ext cx="315468" cy="315468"/>
          </a:xfrm>
          <a:prstGeom prst="rect">
            <a:avLst/>
          </a:prstGeom>
        </p:spPr>
      </p:pic>
      <p:sp>
        <p:nvSpPr>
          <p:cNvPr id="14" name="Text 10"/>
          <p:cNvSpPr txBox="1"/>
          <p:nvPr/>
        </p:nvSpPr>
        <p:spPr>
          <a:xfrm>
            <a:off x="1737360" y="4297680"/>
            <a:ext cx="9144000" cy="365760"/>
          </a:xfrm>
          <a:prstGeom prst="rect">
            <a:avLst/>
          </a:prstGeom>
          <a:noFill/>
          <a:ln/>
        </p:spPr>
        <p:txBody>
          <a:bodyPr wrap="square" lIns="0" tIns="0" rIns="0" bIns="0" rtlCol="0" anchor="t"/>
          <a:lstStyle/>
          <a:p>
            <a:pPr indent="0" marL="0">
              <a:buNone/>
            </a:pPr>
            <a:r>
              <a:rPr lang="en-US" sz="1800" b="1" dirty="0">
                <a:solidFill>
                  <a:schemeClr val="bg1"/>
                </a:solidFill>
              </a:rPr>
              <a:t>Infinite sources: always combine with a limit</a:t>
            </a:r>
            <a:endParaRPr lang="en-US" sz="1800" dirty="0"/>
          </a:p>
        </p:txBody>
      </p:sp>
      <p:sp>
        <p:nvSpPr>
          <p:cNvPr id="15" name="Text 11"/>
          <p:cNvSpPr txBox="1"/>
          <p:nvPr/>
        </p:nvSpPr>
        <p:spPr>
          <a:xfrm>
            <a:off x="1737360" y="4800600"/>
            <a:ext cx="9875520" cy="914400"/>
          </a:xfrm>
          <a:prstGeom prst="rect">
            <a:avLst/>
          </a:prstGeom>
          <a:noFill/>
          <a:ln/>
        </p:spPr>
        <p:txBody>
          <a:bodyPr wrap="square" lIns="0" tIns="0" rIns="0" bIns="0" rtlCol="0" anchor="t"/>
          <a:lstStyle/>
          <a:p>
            <a:pPr indent="0" marL="0">
              <a:buNone/>
            </a:pPr>
            <a:r>
              <a:rPr lang="en-US" sz="1600" dirty="0">
                <a:solidFill>
                  <a:schemeClr val="accent3"/>
                </a:solidFill>
                <a:latin typeface="Courier New" pitchFamily="34" charset="0"/>
                <a:ea typeface="Courier New" pitchFamily="34" charset="-122"/>
                <a:cs typeface="Courier New" pitchFamily="34" charset="-120"/>
              </a:rPr>
              <a:t>Stream.generate(supplier)</a:t>
            </a:r>
            <a:pPr indent="0" marL="0">
              <a:buNone/>
            </a:pPr>
            <a:r>
              <a:rPr lang="en-US" sz="1600" dirty="0">
                <a:solidFill>
                  <a:schemeClr val="bg1"/>
                </a:solidFill>
              </a:rPr>
              <a:t> and </a:t>
            </a:r>
            <a:pPr indent="0" marL="0">
              <a:buNone/>
            </a:pPr>
            <a:r>
              <a:rPr lang="en-US" sz="1600" dirty="0">
                <a:solidFill>
                  <a:schemeClr val="accent3"/>
                </a:solidFill>
                <a:latin typeface="Courier New" pitchFamily="34" charset="0"/>
                <a:ea typeface="Courier New" pitchFamily="34" charset="-122"/>
                <a:cs typeface="Courier New" pitchFamily="34" charset="-120"/>
              </a:rPr>
              <a:t>Stream.iterate(seed, next)</a:t>
            </a:r>
            <a:pPr indent="0" marL="0">
              <a:buNone/>
            </a:pPr>
            <a:r>
              <a:rPr lang="en-US" sz="1600" dirty="0">
                <a:solidFill>
                  <a:schemeClr val="bg1"/>
                </a:solidFill>
              </a:rPr>
              <a:t> never end.</a:t>
            </a:r>
            <a:endParaRPr lang="en-US" sz="1600" dirty="0"/>
          </a:p>
          <a:p>
            <a:pPr indent="0" marL="0">
              <a:buNone/>
            </a:pPr>
            <a:r>
              <a:rPr lang="en-US" sz="1600" dirty="0">
                <a:solidFill>
                  <a:schemeClr val="bg1"/>
                </a:solidFill>
              </a:rPr>
              <a:t>The finite, for-like variant: </a:t>
            </a:r>
            <a:endParaRPr lang="en-US" sz="1600" dirty="0"/>
          </a:p>
          <a:p>
            <a:pPr indent="0" marL="0">
              <a:buNone/>
            </a:pPr>
            <a:r>
              <a:rPr lang="en-US" sz="1600" dirty="0">
                <a:solidFill>
                  <a:schemeClr val="accent3"/>
                </a:solidFill>
                <a:latin typeface="Courier New" pitchFamily="34" charset="0"/>
                <a:ea typeface="Courier New" pitchFamily="34" charset="-122"/>
                <a:cs typeface="Courier New" pitchFamily="34" charset="-120"/>
              </a:rPr>
              <a:t>Stream.iterate(seed, hasNext, next)</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04</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Stream Intermediate operations</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Transform and select, lazily</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The four core operations</a:t>
            </a:r>
            <a:endParaRPr lang="en-US" sz="34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377440"/>
                <a:gridCol w="3108960"/>
                <a:gridCol w="1737360"/>
                <a:gridCol w="3867912"/>
              </a:tblGrid>
              <a:tr h="594360">
                <a:tc>
                  <a:txBody>
                    <a:bodyPr/>
                    <a:lstStyle/>
                    <a:p>
                      <a:pPr indent="0" marL="0">
                        <a:buNone/>
                      </a:pPr>
                      <a:r>
                        <a:rPr lang="en-US" sz="1700" b="1" dirty="0">
                          <a:solidFill>
                            <a:schemeClr val="bg1"/>
                          </a:solidFill>
                        </a:rPr>
                        <a:t>Operation</a:t>
                      </a:r>
                      <a:endParaRPr lang="en-US" sz="17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Elements</a:t>
                      </a:r>
                      <a:endParaRPr lang="en-US" sz="17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Type</a:t>
                      </a:r>
                      <a:endParaRPr lang="en-US" sz="17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Example</a:t>
                      </a:r>
                      <a:endParaRPr lang="en-US" sz="17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94360">
                <a:tc>
                  <a:txBody>
                    <a:bodyPr/>
                    <a:lstStyle/>
                    <a:p>
                      <a:pPr indent="0" marL="0">
                        <a:buNone/>
                      </a:pPr>
                      <a:r>
                        <a:rPr lang="en-US" sz="1700" dirty="0">
                          <a:solidFill>
                            <a:schemeClr val="tx2"/>
                          </a:solidFill>
                          <a:latin typeface="Courier New" pitchFamily="34" charset="0"/>
                          <a:ea typeface="Courier New" pitchFamily="34" charset="-122"/>
                          <a:cs typeface="Courier New" pitchFamily="34" charset="-120"/>
                        </a:rPr>
                        <a:t>filter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fewer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same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keep the paid orders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700" dirty="0">
                          <a:solidFill>
                            <a:schemeClr val="tx2"/>
                          </a:solidFill>
                          <a:latin typeface="Courier New" pitchFamily="34" charset="0"/>
                          <a:ea typeface="Courier New" pitchFamily="34" charset="-122"/>
                          <a:cs typeface="Courier New" pitchFamily="34" charset="-120"/>
                        </a:rPr>
                        <a:t>map</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same number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new</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order → its total</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94360">
                <a:tc>
                  <a:txBody>
                    <a:bodyPr/>
                    <a:lstStyle/>
                    <a:p>
                      <a:pPr indent="0" marL="0">
                        <a:buNone/>
                      </a:pPr>
                      <a:r>
                        <a:rPr lang="en-US" sz="1700" dirty="0">
                          <a:solidFill>
                            <a:schemeClr val="tx2"/>
                          </a:solidFill>
                          <a:latin typeface="Courier New" pitchFamily="34" charset="0"/>
                          <a:ea typeface="Courier New" pitchFamily="34" charset="-122"/>
                          <a:cs typeface="Courier New" pitchFamily="34" charset="-120"/>
                        </a:rPr>
                        <a:t>flatMap</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one-to-many, merged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new</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order → its order lines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700" dirty="0">
                          <a:solidFill>
                            <a:schemeClr val="tx2"/>
                          </a:solidFill>
                          <a:latin typeface="Courier New" pitchFamily="34" charset="0"/>
                          <a:ea typeface="Courier New" pitchFamily="34" charset="-122"/>
                          <a:cs typeface="Courier New" pitchFamily="34" charset="-120"/>
                        </a:rPr>
                        <a:t>distinct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fewer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same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drop duplicates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lazy-card"/>
          <p:cNvSpPr/>
          <p:nvPr/>
        </p:nvSpPr>
        <p:spPr>
          <a:xfrm>
            <a:off x="548640" y="4754880"/>
            <a:ext cx="11091672" cy="1280160"/>
          </a:xfrm>
          <a:prstGeom prst="roundRect">
            <a:avLst>
              <a:gd name="adj" fmla="val 8571"/>
            </a:avLst>
          </a:prstGeom>
          <a:solidFill>
            <a:schemeClr val="tx2"/>
          </a:solidFill>
          <a:ln/>
        </p:spPr>
      </p:sp>
      <p:sp>
        <p:nvSpPr>
          <p:cNvPr id="6" name="badge-bg"/>
          <p:cNvSpPr/>
          <p:nvPr/>
        </p:nvSpPr>
        <p:spPr>
          <a:xfrm>
            <a:off x="822960" y="5029200"/>
            <a:ext cx="731520" cy="731520"/>
          </a:xfrm>
          <a:prstGeom prst="ellipse">
            <a:avLst/>
          </a:prstGeom>
          <a:solidFill>
            <a:schemeClr val="accent2"/>
          </a:solidFill>
          <a:ln/>
        </p:spPr>
      </p:sp>
      <p:pic>
        <p:nvPicPr>
          <p:cNvPr id="7" name="Image 0" descr="FaHourglassHalf">    </p:cNvPr>
          <p:cNvPicPr>
            <a:picLocks noChangeAspect="1"/>
          </p:cNvPicPr>
          <p:nvPr/>
        </p:nvPicPr>
        <p:blipFill>
          <a:blip r:embed="rId1"/>
          <a:stretch>
            <a:fillRect/>
          </a:stretch>
        </p:blipFill>
        <p:spPr>
          <a:xfrm>
            <a:off x="1020470" y="5226710"/>
            <a:ext cx="336499" cy="336499"/>
          </a:xfrm>
          <a:prstGeom prst="rect">
            <a:avLst/>
          </a:prstGeom>
        </p:spPr>
      </p:pic>
      <p:sp>
        <p:nvSpPr>
          <p:cNvPr id="8" name="Text 3"/>
          <p:cNvSpPr txBox="1"/>
          <p:nvPr/>
        </p:nvSpPr>
        <p:spPr>
          <a:xfrm>
            <a:off x="1828800" y="4754880"/>
            <a:ext cx="9784080" cy="1280160"/>
          </a:xfrm>
          <a:prstGeom prst="rect">
            <a:avLst/>
          </a:prstGeom>
          <a:noFill/>
          <a:ln/>
        </p:spPr>
        <p:txBody>
          <a:bodyPr wrap="square" lIns="0" tIns="0" rIns="0" bIns="0" rtlCol="0" anchor="ctr"/>
          <a:lstStyle/>
          <a:p>
            <a:pPr indent="0" marL="0">
              <a:buNone/>
            </a:pPr>
            <a:r>
              <a:rPr lang="en-US" sz="2000" b="1" dirty="0">
                <a:solidFill>
                  <a:schemeClr val="bg1"/>
                </a:solidFill>
              </a:rPr>
              <a:t>Returns a new stream, so you can chain.</a:t>
            </a:r>
            <a:pPr indent="0" marL="0">
              <a:buNone/>
            </a:pPr>
            <a:endParaRPr lang="en-US" sz="2000" dirty="0"/>
          </a:p>
          <a:p>
            <a:pPr indent="0" marL="0">
              <a:buNone/>
            </a:pPr>
            <a:r>
              <a:rPr lang="en-US" sz="2000" dirty="0">
                <a:solidFill>
                  <a:schemeClr val="bg1"/>
                </a:solidFill>
              </a:rPr>
              <a:t>Nothing runs until a terminal operation is called.</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More operations to know</a:t>
            </a:r>
            <a:endParaRPr lang="en-US" sz="3400" dirty="0"/>
          </a:p>
        </p:txBody>
      </p:sp>
      <p:sp>
        <p:nvSpPr>
          <p:cNvPr id="4" name="more-card-0"/>
          <p:cNvSpPr/>
          <p:nvPr/>
        </p:nvSpPr>
        <p:spPr>
          <a:xfrm>
            <a:off x="548640" y="1508760"/>
            <a:ext cx="3566160" cy="1371600"/>
          </a:xfrm>
          <a:prstGeom prst="roundRect">
            <a:avLst>
              <a:gd name="adj" fmla="val 8000"/>
            </a:avLst>
          </a:prstGeom>
          <a:solidFill>
            <a:schemeClr val="bg2"/>
          </a:solidFill>
          <a:ln/>
        </p:spPr>
      </p:sp>
      <p:sp>
        <p:nvSpPr>
          <p:cNvPr id="5" name="Text 2"/>
          <p:cNvSpPr txBox="1"/>
          <p:nvPr/>
        </p:nvSpPr>
        <p:spPr>
          <a:xfrm>
            <a:off x="777240" y="167335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skip(n)</a:t>
            </a:r>
            <a:endParaRPr lang="en-US" sz="1800" dirty="0"/>
          </a:p>
        </p:txBody>
      </p:sp>
      <p:sp>
        <p:nvSpPr>
          <p:cNvPr id="6" name="Text 3"/>
          <p:cNvSpPr txBox="1"/>
          <p:nvPr/>
        </p:nvSpPr>
        <p:spPr>
          <a:xfrm>
            <a:off x="777240" y="2148840"/>
            <a:ext cx="3108960" cy="640080"/>
          </a:xfrm>
          <a:prstGeom prst="rect">
            <a:avLst/>
          </a:prstGeom>
          <a:noFill/>
          <a:ln/>
        </p:spPr>
        <p:txBody>
          <a:bodyPr wrap="square" lIns="0" tIns="0" rIns="0" bIns="0" rtlCol="0" anchor="t"/>
          <a:lstStyle/>
          <a:p>
            <a:pPr indent="0" marL="0">
              <a:buNone/>
            </a:pPr>
            <a:r>
              <a:rPr lang="en-US" sz="1500" dirty="0">
                <a:solidFill>
                  <a:schemeClr val="tx1"/>
                </a:solidFill>
              </a:rPr>
              <a:t>drops the first n elements</a:t>
            </a:r>
            <a:endParaRPr lang="en-US" sz="1500" dirty="0"/>
          </a:p>
        </p:txBody>
      </p:sp>
      <p:sp>
        <p:nvSpPr>
          <p:cNvPr id="7" name="more-card-1"/>
          <p:cNvSpPr/>
          <p:nvPr/>
        </p:nvSpPr>
        <p:spPr>
          <a:xfrm>
            <a:off x="4297680" y="1508760"/>
            <a:ext cx="3566160" cy="1371600"/>
          </a:xfrm>
          <a:prstGeom prst="roundRect">
            <a:avLst>
              <a:gd name="adj" fmla="val 8000"/>
            </a:avLst>
          </a:prstGeom>
          <a:solidFill>
            <a:schemeClr val="bg2"/>
          </a:solidFill>
          <a:ln/>
        </p:spPr>
      </p:sp>
      <p:sp>
        <p:nvSpPr>
          <p:cNvPr id="8" name="Text 5"/>
          <p:cNvSpPr txBox="1"/>
          <p:nvPr/>
        </p:nvSpPr>
        <p:spPr>
          <a:xfrm>
            <a:off x="4526280" y="167335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limit(n)</a:t>
            </a:r>
            <a:endParaRPr lang="en-US" sz="1800" dirty="0"/>
          </a:p>
        </p:txBody>
      </p:sp>
      <p:sp>
        <p:nvSpPr>
          <p:cNvPr id="9" name="Text 6"/>
          <p:cNvSpPr txBox="1"/>
          <p:nvPr/>
        </p:nvSpPr>
        <p:spPr>
          <a:xfrm>
            <a:off x="4526280" y="2148840"/>
            <a:ext cx="3108960" cy="640080"/>
          </a:xfrm>
          <a:prstGeom prst="rect">
            <a:avLst/>
          </a:prstGeom>
          <a:noFill/>
          <a:ln/>
        </p:spPr>
        <p:txBody>
          <a:bodyPr wrap="square" lIns="0" tIns="0" rIns="0" bIns="0" rtlCol="0" anchor="t"/>
          <a:lstStyle/>
          <a:p>
            <a:pPr indent="0" marL="0">
              <a:buNone/>
            </a:pPr>
            <a:r>
              <a:rPr lang="en-US" sz="1500" dirty="0">
                <a:solidFill>
                  <a:schemeClr val="tx1"/>
                </a:solidFill>
              </a:rPr>
              <a:t>keeps at most n; makes an infinite stream finite</a:t>
            </a:r>
            <a:endParaRPr lang="en-US" sz="1500" dirty="0"/>
          </a:p>
        </p:txBody>
      </p:sp>
      <p:sp>
        <p:nvSpPr>
          <p:cNvPr id="10" name="more-card-2"/>
          <p:cNvSpPr/>
          <p:nvPr/>
        </p:nvSpPr>
        <p:spPr>
          <a:xfrm>
            <a:off x="8046720" y="1508760"/>
            <a:ext cx="3566160" cy="1371600"/>
          </a:xfrm>
          <a:prstGeom prst="roundRect">
            <a:avLst>
              <a:gd name="adj" fmla="val 8000"/>
            </a:avLst>
          </a:prstGeom>
          <a:solidFill>
            <a:schemeClr val="bg2"/>
          </a:solidFill>
          <a:ln/>
        </p:spPr>
      </p:sp>
      <p:sp>
        <p:nvSpPr>
          <p:cNvPr id="11" name="Text 8"/>
          <p:cNvSpPr txBox="1"/>
          <p:nvPr/>
        </p:nvSpPr>
        <p:spPr>
          <a:xfrm>
            <a:off x="8275320" y="167335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takeWhile(p)</a:t>
            </a:r>
            <a:endParaRPr lang="en-US" sz="1800" dirty="0"/>
          </a:p>
        </p:txBody>
      </p:sp>
      <p:sp>
        <p:nvSpPr>
          <p:cNvPr id="12" name="Text 9"/>
          <p:cNvSpPr txBox="1"/>
          <p:nvPr/>
        </p:nvSpPr>
        <p:spPr>
          <a:xfrm>
            <a:off x="8275320" y="2148840"/>
            <a:ext cx="3108960" cy="640080"/>
          </a:xfrm>
          <a:prstGeom prst="rect">
            <a:avLst/>
          </a:prstGeom>
          <a:noFill/>
          <a:ln/>
        </p:spPr>
        <p:txBody>
          <a:bodyPr wrap="square" lIns="0" tIns="0" rIns="0" bIns="0" rtlCol="0" anchor="t"/>
          <a:lstStyle/>
          <a:p>
            <a:pPr indent="0" marL="0">
              <a:buNone/>
            </a:pPr>
            <a:r>
              <a:rPr lang="en-US" sz="1500" dirty="0">
                <a:solidFill>
                  <a:schemeClr val="tx1"/>
                </a:solidFill>
              </a:rPr>
              <a:t>keeps until the condition first fails, then stops</a:t>
            </a:r>
            <a:endParaRPr lang="en-US" sz="1500" dirty="0"/>
          </a:p>
        </p:txBody>
      </p:sp>
      <p:sp>
        <p:nvSpPr>
          <p:cNvPr id="13" name="more-card-3"/>
          <p:cNvSpPr/>
          <p:nvPr/>
        </p:nvSpPr>
        <p:spPr>
          <a:xfrm>
            <a:off x="548640" y="3063240"/>
            <a:ext cx="3566160" cy="1371600"/>
          </a:xfrm>
          <a:prstGeom prst="roundRect">
            <a:avLst>
              <a:gd name="adj" fmla="val 8000"/>
            </a:avLst>
          </a:prstGeom>
          <a:solidFill>
            <a:schemeClr val="bg2"/>
          </a:solidFill>
          <a:ln/>
        </p:spPr>
      </p:sp>
      <p:sp>
        <p:nvSpPr>
          <p:cNvPr id="14" name="Text 11"/>
          <p:cNvSpPr txBox="1"/>
          <p:nvPr/>
        </p:nvSpPr>
        <p:spPr>
          <a:xfrm>
            <a:off x="777240" y="322783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dropWhile(p)</a:t>
            </a:r>
            <a:endParaRPr lang="en-US" sz="1800" dirty="0"/>
          </a:p>
        </p:txBody>
      </p:sp>
      <p:sp>
        <p:nvSpPr>
          <p:cNvPr id="15" name="Text 12"/>
          <p:cNvSpPr txBox="1"/>
          <p:nvPr/>
        </p:nvSpPr>
        <p:spPr>
          <a:xfrm>
            <a:off x="777240" y="3703320"/>
            <a:ext cx="3108960" cy="640080"/>
          </a:xfrm>
          <a:prstGeom prst="rect">
            <a:avLst/>
          </a:prstGeom>
          <a:noFill/>
          <a:ln/>
        </p:spPr>
        <p:txBody>
          <a:bodyPr wrap="square" lIns="0" tIns="0" rIns="0" bIns="0" rtlCol="0" anchor="t"/>
          <a:lstStyle/>
          <a:p>
            <a:pPr indent="0" marL="0">
              <a:buNone/>
            </a:pPr>
            <a:r>
              <a:rPr lang="en-US" sz="1500" dirty="0">
                <a:solidFill>
                  <a:schemeClr val="tx1"/>
                </a:solidFill>
              </a:rPr>
              <a:t>drops until the condition first fails, keeps the rest</a:t>
            </a:r>
            <a:endParaRPr lang="en-US" sz="1500" dirty="0"/>
          </a:p>
        </p:txBody>
      </p:sp>
      <p:sp>
        <p:nvSpPr>
          <p:cNvPr id="16" name="more-card-4"/>
          <p:cNvSpPr/>
          <p:nvPr/>
        </p:nvSpPr>
        <p:spPr>
          <a:xfrm>
            <a:off x="4297680" y="3063240"/>
            <a:ext cx="3566160" cy="1371600"/>
          </a:xfrm>
          <a:prstGeom prst="roundRect">
            <a:avLst>
              <a:gd name="adj" fmla="val 8000"/>
            </a:avLst>
          </a:prstGeom>
          <a:solidFill>
            <a:schemeClr val="bg2"/>
          </a:solidFill>
          <a:ln/>
        </p:spPr>
      </p:sp>
      <p:sp>
        <p:nvSpPr>
          <p:cNvPr id="17" name="Text 14"/>
          <p:cNvSpPr txBox="1"/>
          <p:nvPr/>
        </p:nvSpPr>
        <p:spPr>
          <a:xfrm>
            <a:off x="4526280" y="322783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sorted()</a:t>
            </a:r>
            <a:endParaRPr lang="en-US" sz="1800" dirty="0"/>
          </a:p>
        </p:txBody>
      </p:sp>
      <p:sp>
        <p:nvSpPr>
          <p:cNvPr id="18" name="Text 15"/>
          <p:cNvSpPr txBox="1"/>
          <p:nvPr/>
        </p:nvSpPr>
        <p:spPr>
          <a:xfrm>
            <a:off x="4526280" y="3703320"/>
            <a:ext cx="3108960" cy="640080"/>
          </a:xfrm>
          <a:prstGeom prst="rect">
            <a:avLst/>
          </a:prstGeom>
          <a:noFill/>
          <a:ln/>
        </p:spPr>
        <p:txBody>
          <a:bodyPr wrap="square" lIns="0" tIns="0" rIns="0" bIns="0" rtlCol="0" anchor="t"/>
          <a:lstStyle/>
          <a:p>
            <a:pPr indent="0" marL="0">
              <a:buNone/>
            </a:pPr>
            <a:r>
              <a:rPr lang="en-US" sz="1500" dirty="0">
                <a:solidFill>
                  <a:schemeClr val="tx1"/>
                </a:solidFill>
              </a:rPr>
              <a:t>new order; needs to see all elements first</a:t>
            </a:r>
            <a:endParaRPr lang="en-US" sz="1500" dirty="0"/>
          </a:p>
        </p:txBody>
      </p:sp>
      <p:sp>
        <p:nvSpPr>
          <p:cNvPr id="19" name="more-card-5"/>
          <p:cNvSpPr/>
          <p:nvPr/>
        </p:nvSpPr>
        <p:spPr>
          <a:xfrm>
            <a:off x="8046720" y="3063240"/>
            <a:ext cx="3566160" cy="1371600"/>
          </a:xfrm>
          <a:prstGeom prst="roundRect">
            <a:avLst>
              <a:gd name="adj" fmla="val 8000"/>
            </a:avLst>
          </a:prstGeom>
          <a:solidFill>
            <a:schemeClr val="bg2"/>
          </a:solidFill>
          <a:ln/>
        </p:spPr>
      </p:sp>
      <p:sp>
        <p:nvSpPr>
          <p:cNvPr id="20" name="Text 17"/>
          <p:cNvSpPr txBox="1"/>
          <p:nvPr/>
        </p:nvSpPr>
        <p:spPr>
          <a:xfrm>
            <a:off x="8275320" y="3227832"/>
            <a:ext cx="3108960" cy="365760"/>
          </a:xfrm>
          <a:prstGeom prst="rect">
            <a:avLst/>
          </a:prstGeom>
          <a:noFill/>
          <a:ln/>
        </p:spPr>
        <p:txBody>
          <a:bodyPr wrap="square" lIns="0" tIns="0" rIns="0" bIns="0" rtlCol="0" anchor="t"/>
          <a:lstStyle/>
          <a:p>
            <a:pPr indent="0" marL="0">
              <a:buNone/>
            </a:pPr>
            <a:r>
              <a:rPr lang="en-US" sz="1800" b="1" dirty="0">
                <a:solidFill>
                  <a:schemeClr val="accent4"/>
                </a:solidFill>
              </a:rPr>
              <a:t>peek(action)</a:t>
            </a:r>
            <a:endParaRPr lang="en-US" sz="1800" dirty="0"/>
          </a:p>
        </p:txBody>
      </p:sp>
      <p:sp>
        <p:nvSpPr>
          <p:cNvPr id="21" name="Text 18"/>
          <p:cNvSpPr txBox="1"/>
          <p:nvPr/>
        </p:nvSpPr>
        <p:spPr>
          <a:xfrm>
            <a:off x="8275320" y="3703320"/>
            <a:ext cx="3108960" cy="640080"/>
          </a:xfrm>
          <a:prstGeom prst="rect">
            <a:avLst/>
          </a:prstGeom>
          <a:noFill/>
          <a:ln/>
        </p:spPr>
        <p:txBody>
          <a:bodyPr wrap="square" lIns="0" tIns="0" rIns="0" bIns="0" rtlCol="0" anchor="t"/>
          <a:lstStyle/>
          <a:p>
            <a:pPr indent="0" marL="0">
              <a:buNone/>
            </a:pPr>
            <a:r>
              <a:rPr lang="en-US" sz="1500" dirty="0">
                <a:solidFill>
                  <a:schemeClr val="tx1"/>
                </a:solidFill>
              </a:rPr>
              <a:t>runs an action on the way past; debugging only</a:t>
            </a:r>
            <a:endParaRPr lang="en-US" sz="1500" dirty="0"/>
          </a:p>
        </p:txBody>
      </p:sp>
      <p:sp>
        <p:nvSpPr>
          <p:cNvPr id="22" name="more-card-6"/>
          <p:cNvSpPr/>
          <p:nvPr/>
        </p:nvSpPr>
        <p:spPr>
          <a:xfrm>
            <a:off x="548640" y="4617720"/>
            <a:ext cx="3566160" cy="1371600"/>
          </a:xfrm>
          <a:prstGeom prst="roundRect">
            <a:avLst>
              <a:gd name="adj" fmla="val 8000"/>
            </a:avLst>
          </a:prstGeom>
          <a:solidFill>
            <a:schemeClr val="bg2"/>
          </a:solidFill>
          <a:ln/>
        </p:spPr>
      </p:sp>
      <p:sp>
        <p:nvSpPr>
          <p:cNvPr id="23" name="Text 20"/>
          <p:cNvSpPr txBox="1"/>
          <p:nvPr/>
        </p:nvSpPr>
        <p:spPr>
          <a:xfrm>
            <a:off x="777240" y="478231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mapToInt</a:t>
            </a:r>
            <a:endParaRPr lang="en-US" sz="1800" dirty="0"/>
          </a:p>
        </p:txBody>
      </p:sp>
      <p:sp>
        <p:nvSpPr>
          <p:cNvPr id="24" name="Text 21"/>
          <p:cNvSpPr txBox="1"/>
          <p:nvPr/>
        </p:nvSpPr>
        <p:spPr>
          <a:xfrm>
            <a:off x="777240" y="5257800"/>
            <a:ext cx="3108960" cy="640080"/>
          </a:xfrm>
          <a:prstGeom prst="rect">
            <a:avLst/>
          </a:prstGeom>
          <a:noFill/>
          <a:ln/>
        </p:spPr>
        <p:txBody>
          <a:bodyPr wrap="square" lIns="0" tIns="0" rIns="0" bIns="0" rtlCol="0" anchor="t"/>
          <a:lstStyle/>
          <a:p>
            <a:pPr indent="0" marL="0">
              <a:buNone/>
            </a:pPr>
            <a:r>
              <a:rPr lang="en-US" sz="1500" dirty="0">
                <a:solidFill>
                  <a:schemeClr val="tx1"/>
                </a:solidFill>
              </a:rPr>
              <a:t>→ </a:t>
            </a:r>
            <a:pPr indent="0" marL="0">
              <a:buNone/>
            </a:pPr>
            <a:r>
              <a:rPr lang="en-US" sz="1500" dirty="0">
                <a:solidFill>
                  <a:schemeClr val="tx2"/>
                </a:solidFill>
                <a:latin typeface="Courier New" pitchFamily="34" charset="0"/>
                <a:ea typeface="Courier New" pitchFamily="34" charset="-122"/>
                <a:cs typeface="Courier New" pitchFamily="34" charset="-120"/>
              </a:rPr>
              <a:t>IntStream</a:t>
            </a:r>
            <a:pPr indent="0" marL="0">
              <a:buNone/>
            </a:pPr>
            <a:r>
              <a:rPr lang="en-US" sz="1500" dirty="0">
                <a:solidFill>
                  <a:schemeClr val="tx1"/>
                </a:solidFill>
              </a:rPr>
              <a:t>, same count</a:t>
            </a:r>
            <a:endParaRPr lang="en-US" sz="1500" dirty="0"/>
          </a:p>
        </p:txBody>
      </p:sp>
      <p:sp>
        <p:nvSpPr>
          <p:cNvPr id="25" name="more-card-7"/>
          <p:cNvSpPr/>
          <p:nvPr/>
        </p:nvSpPr>
        <p:spPr>
          <a:xfrm>
            <a:off x="4297680" y="4617720"/>
            <a:ext cx="3566160" cy="1371600"/>
          </a:xfrm>
          <a:prstGeom prst="roundRect">
            <a:avLst>
              <a:gd name="adj" fmla="val 8000"/>
            </a:avLst>
          </a:prstGeom>
          <a:solidFill>
            <a:schemeClr val="bg2"/>
          </a:solidFill>
          <a:ln/>
        </p:spPr>
      </p:sp>
      <p:sp>
        <p:nvSpPr>
          <p:cNvPr id="26" name="Text 23"/>
          <p:cNvSpPr txBox="1"/>
          <p:nvPr/>
        </p:nvSpPr>
        <p:spPr>
          <a:xfrm>
            <a:off x="4526280" y="478231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mapToDouble</a:t>
            </a:r>
            <a:endParaRPr lang="en-US" sz="1800" dirty="0"/>
          </a:p>
        </p:txBody>
      </p:sp>
      <p:sp>
        <p:nvSpPr>
          <p:cNvPr id="27" name="Text 24"/>
          <p:cNvSpPr txBox="1"/>
          <p:nvPr/>
        </p:nvSpPr>
        <p:spPr>
          <a:xfrm>
            <a:off x="4526280" y="5257800"/>
            <a:ext cx="3108960" cy="640080"/>
          </a:xfrm>
          <a:prstGeom prst="rect">
            <a:avLst/>
          </a:prstGeom>
          <a:noFill/>
          <a:ln/>
        </p:spPr>
        <p:txBody>
          <a:bodyPr wrap="square" lIns="0" tIns="0" rIns="0" bIns="0" rtlCol="0" anchor="t"/>
          <a:lstStyle/>
          <a:p>
            <a:pPr indent="0" marL="0">
              <a:buNone/>
            </a:pPr>
            <a:r>
              <a:rPr lang="en-US" sz="1500" dirty="0">
                <a:solidFill>
                  <a:schemeClr val="tx1"/>
                </a:solidFill>
              </a:rPr>
              <a:t>→ </a:t>
            </a:r>
            <a:pPr indent="0" marL="0">
              <a:buNone/>
            </a:pPr>
            <a:r>
              <a:rPr lang="en-US" sz="1500" dirty="0">
                <a:solidFill>
                  <a:schemeClr val="tx2"/>
                </a:solidFill>
                <a:latin typeface="Courier New" pitchFamily="34" charset="0"/>
                <a:ea typeface="Courier New" pitchFamily="34" charset="-122"/>
                <a:cs typeface="Courier New" pitchFamily="34" charset="-120"/>
              </a:rPr>
              <a:t>DoubleStream</a:t>
            </a:r>
            <a:pPr indent="0" marL="0">
              <a:buNone/>
            </a:pPr>
            <a:r>
              <a:rPr lang="en-US" sz="1500" dirty="0">
                <a:solidFill>
                  <a:schemeClr val="tx1"/>
                </a:solidFill>
              </a:rPr>
              <a:t>, same count</a:t>
            </a:r>
            <a:endParaRPr lang="en-US" sz="1500" dirty="0"/>
          </a:p>
        </p:txBody>
      </p:sp>
      <p:sp>
        <p:nvSpPr>
          <p:cNvPr id="28" name="more-card-8"/>
          <p:cNvSpPr/>
          <p:nvPr/>
        </p:nvSpPr>
        <p:spPr>
          <a:xfrm>
            <a:off x="8046720" y="4617720"/>
            <a:ext cx="3566160" cy="1371600"/>
          </a:xfrm>
          <a:prstGeom prst="roundRect">
            <a:avLst>
              <a:gd name="adj" fmla="val 8000"/>
            </a:avLst>
          </a:prstGeom>
          <a:solidFill>
            <a:schemeClr val="bg2"/>
          </a:solidFill>
          <a:ln/>
        </p:spPr>
      </p:sp>
      <p:sp>
        <p:nvSpPr>
          <p:cNvPr id="29" name="Text 26"/>
          <p:cNvSpPr txBox="1"/>
          <p:nvPr/>
        </p:nvSpPr>
        <p:spPr>
          <a:xfrm>
            <a:off x="8275320" y="4782312"/>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mapToLong</a:t>
            </a:r>
            <a:endParaRPr lang="en-US" sz="1800" dirty="0"/>
          </a:p>
        </p:txBody>
      </p:sp>
      <p:sp>
        <p:nvSpPr>
          <p:cNvPr id="30" name="Text 27"/>
          <p:cNvSpPr txBox="1"/>
          <p:nvPr/>
        </p:nvSpPr>
        <p:spPr>
          <a:xfrm>
            <a:off x="8275320" y="5257800"/>
            <a:ext cx="3108960" cy="640080"/>
          </a:xfrm>
          <a:prstGeom prst="rect">
            <a:avLst/>
          </a:prstGeom>
          <a:noFill/>
          <a:ln/>
        </p:spPr>
        <p:txBody>
          <a:bodyPr wrap="square" lIns="0" tIns="0" rIns="0" bIns="0" rtlCol="0" anchor="t"/>
          <a:lstStyle/>
          <a:p>
            <a:pPr indent="0" marL="0">
              <a:buNone/>
            </a:pPr>
            <a:r>
              <a:rPr lang="en-US" sz="1500" dirty="0">
                <a:solidFill>
                  <a:schemeClr val="tx1"/>
                </a:solidFill>
              </a:rPr>
              <a:t>→ </a:t>
            </a:r>
            <a:pPr indent="0" marL="0">
              <a:buNone/>
            </a:pPr>
            <a:r>
              <a:rPr lang="en-US" sz="1500" dirty="0">
                <a:solidFill>
                  <a:schemeClr val="tx2"/>
                </a:solidFill>
                <a:latin typeface="Courier New" pitchFamily="34" charset="0"/>
                <a:ea typeface="Courier New" pitchFamily="34" charset="-122"/>
                <a:cs typeface="Courier New" pitchFamily="34" charset="-120"/>
              </a:rPr>
              <a:t>LongStream</a:t>
            </a:r>
            <a:pPr indent="0" marL="0">
              <a:buNone/>
            </a:pPr>
            <a:r>
              <a:rPr lang="en-US" sz="1500" dirty="0">
                <a:solidFill>
                  <a:schemeClr val="tx1"/>
                </a:solidFill>
              </a:rPr>
              <a:t>, same count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One step, four shapes</a:t>
            </a:r>
            <a:endParaRPr lang="en-US" sz="3400" dirty="0"/>
          </a:p>
        </p:txBody>
      </p:sp>
      <p:sp>
        <p:nvSpPr>
          <p:cNvPr id="4" name="shape-card-0"/>
          <p:cNvSpPr/>
          <p:nvPr/>
        </p:nvSpPr>
        <p:spPr>
          <a:xfrm>
            <a:off x="548640" y="1554480"/>
            <a:ext cx="5422392" cy="2057400"/>
          </a:xfrm>
          <a:prstGeom prst="roundRect">
            <a:avLst>
              <a:gd name="adj" fmla="val 5333"/>
            </a:avLst>
          </a:prstGeom>
          <a:solidFill>
            <a:schemeClr val="bg2"/>
          </a:solidFill>
          <a:ln/>
        </p:spPr>
      </p:sp>
      <p:sp>
        <p:nvSpPr>
          <p:cNvPr id="5" name="Text 2"/>
          <p:cNvSpPr txBox="1"/>
          <p:nvPr/>
        </p:nvSpPr>
        <p:spPr>
          <a:xfrm>
            <a:off x="777240" y="1664208"/>
            <a:ext cx="3657600" cy="365760"/>
          </a:xfrm>
          <a:prstGeom prst="rect">
            <a:avLst/>
          </a:prstGeom>
          <a:noFill/>
          <a:ln/>
        </p:spPr>
        <p:txBody>
          <a:bodyPr wrap="square" lIns="0" tIns="0" rIns="0" bIns="0" rtlCol="0" anchor="t"/>
          <a:lstStyle/>
          <a:p>
            <a:pPr indent="0" marL="0">
              <a:buNone/>
            </a:pPr>
            <a:r>
              <a:rPr lang="en-US" sz="1700" b="1" dirty="0">
                <a:solidFill>
                  <a:schemeClr val="tx1"/>
                </a:solidFill>
              </a:rPr>
              <a:t>Statement lambda</a:t>
            </a:r>
            <a:endParaRPr lang="en-US" sz="1700" dirty="0"/>
          </a:p>
        </p:txBody>
      </p:sp>
      <p:sp>
        <p:nvSpPr>
          <p:cNvPr id="6" name="shape-code-0-bg"/>
          <p:cNvSpPr/>
          <p:nvPr/>
        </p:nvSpPr>
        <p:spPr>
          <a:xfrm>
            <a:off x="777240" y="2103120"/>
            <a:ext cx="4965192" cy="1325880"/>
          </a:xfrm>
          <a:prstGeom prst="roundRect">
            <a:avLst>
              <a:gd name="adj" fmla="val 6897"/>
            </a:avLst>
          </a:prstGeom>
          <a:solidFill>
            <a:schemeClr val="tx1"/>
          </a:solidFill>
          <a:ln/>
        </p:spPr>
      </p:sp>
      <p:sp>
        <p:nvSpPr>
          <p:cNvPr id="7" name="shape-code-0"/>
          <p:cNvSpPr txBox="1"/>
          <p:nvPr/>
        </p:nvSpPr>
        <p:spPr>
          <a:xfrm>
            <a:off x="960120" y="2212848"/>
            <a:ext cx="4599432" cy="1106424"/>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.filter(order -&gt;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return order.paid();</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8" name="shape-card-1"/>
          <p:cNvSpPr/>
          <p:nvPr/>
        </p:nvSpPr>
        <p:spPr>
          <a:xfrm>
            <a:off x="6217920" y="1554480"/>
            <a:ext cx="5422392" cy="2057400"/>
          </a:xfrm>
          <a:prstGeom prst="roundRect">
            <a:avLst>
              <a:gd name="adj" fmla="val 5333"/>
            </a:avLst>
          </a:prstGeom>
          <a:solidFill>
            <a:schemeClr val="bg2"/>
          </a:solidFill>
          <a:ln/>
        </p:spPr>
      </p:sp>
      <p:sp>
        <p:nvSpPr>
          <p:cNvPr id="9" name="Text 6"/>
          <p:cNvSpPr txBox="1"/>
          <p:nvPr/>
        </p:nvSpPr>
        <p:spPr>
          <a:xfrm>
            <a:off x="6446520" y="1664208"/>
            <a:ext cx="3657600" cy="365760"/>
          </a:xfrm>
          <a:prstGeom prst="rect">
            <a:avLst/>
          </a:prstGeom>
          <a:noFill/>
          <a:ln/>
        </p:spPr>
        <p:txBody>
          <a:bodyPr wrap="square" lIns="0" tIns="0" rIns="0" bIns="0" rtlCol="0" anchor="t"/>
          <a:lstStyle/>
          <a:p>
            <a:pPr indent="0" marL="0">
              <a:buNone/>
            </a:pPr>
            <a:r>
              <a:rPr lang="en-US" sz="1700" b="1" dirty="0">
                <a:solidFill>
                  <a:schemeClr val="tx1"/>
                </a:solidFill>
              </a:rPr>
              <a:t>Expression lambda</a:t>
            </a:r>
            <a:endParaRPr lang="en-US" sz="1700" dirty="0"/>
          </a:p>
        </p:txBody>
      </p:sp>
      <p:sp>
        <p:nvSpPr>
          <p:cNvPr id="10" name="shape-code-1-bg"/>
          <p:cNvSpPr/>
          <p:nvPr/>
        </p:nvSpPr>
        <p:spPr>
          <a:xfrm>
            <a:off x="6446520" y="2103120"/>
            <a:ext cx="4965192" cy="1325880"/>
          </a:xfrm>
          <a:prstGeom prst="roundRect">
            <a:avLst>
              <a:gd name="adj" fmla="val 6897"/>
            </a:avLst>
          </a:prstGeom>
          <a:solidFill>
            <a:schemeClr val="tx1"/>
          </a:solidFill>
          <a:ln/>
        </p:spPr>
      </p:sp>
      <p:sp>
        <p:nvSpPr>
          <p:cNvPr id="11" name="shape-code-1"/>
          <p:cNvSpPr txBox="1"/>
          <p:nvPr/>
        </p:nvSpPr>
        <p:spPr>
          <a:xfrm>
            <a:off x="6629400" y="2212848"/>
            <a:ext cx="4599432" cy="1106424"/>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.filter(order -&gt; order.paid())</a:t>
            </a:r>
            <a:endParaRPr lang="en-US" sz="1600" dirty="0"/>
          </a:p>
        </p:txBody>
      </p:sp>
      <p:sp>
        <p:nvSpPr>
          <p:cNvPr id="12" name="shape-card-2"/>
          <p:cNvSpPr/>
          <p:nvPr/>
        </p:nvSpPr>
        <p:spPr>
          <a:xfrm>
            <a:off x="548640" y="3794760"/>
            <a:ext cx="5422392" cy="2057400"/>
          </a:xfrm>
          <a:prstGeom prst="roundRect">
            <a:avLst>
              <a:gd name="adj" fmla="val 5333"/>
            </a:avLst>
          </a:prstGeom>
          <a:solidFill>
            <a:schemeClr val="bg2"/>
          </a:solidFill>
          <a:ln/>
        </p:spPr>
      </p:sp>
      <p:sp>
        <p:nvSpPr>
          <p:cNvPr id="13" name="Text 10"/>
          <p:cNvSpPr txBox="1"/>
          <p:nvPr/>
        </p:nvSpPr>
        <p:spPr>
          <a:xfrm>
            <a:off x="777240" y="3904488"/>
            <a:ext cx="3657600" cy="365760"/>
          </a:xfrm>
          <a:prstGeom prst="rect">
            <a:avLst/>
          </a:prstGeom>
          <a:noFill/>
          <a:ln/>
        </p:spPr>
        <p:txBody>
          <a:bodyPr wrap="square" lIns="0" tIns="0" rIns="0" bIns="0" rtlCol="0" anchor="t"/>
          <a:lstStyle/>
          <a:p>
            <a:pPr indent="0" marL="0">
              <a:buNone/>
            </a:pPr>
            <a:r>
              <a:rPr lang="en-US" sz="1700" b="1" dirty="0">
                <a:solidFill>
                  <a:schemeClr val="tx1"/>
                </a:solidFill>
              </a:rPr>
              <a:t>Method reference</a:t>
            </a:r>
            <a:endParaRPr lang="en-US" sz="1700" dirty="0"/>
          </a:p>
        </p:txBody>
      </p:sp>
      <p:sp>
        <p:nvSpPr>
          <p:cNvPr id="14" name="shape-code-2-bg"/>
          <p:cNvSpPr/>
          <p:nvPr/>
        </p:nvSpPr>
        <p:spPr>
          <a:xfrm>
            <a:off x="777240" y="4343400"/>
            <a:ext cx="4965192" cy="1325880"/>
          </a:xfrm>
          <a:prstGeom prst="roundRect">
            <a:avLst>
              <a:gd name="adj" fmla="val 6897"/>
            </a:avLst>
          </a:prstGeom>
          <a:solidFill>
            <a:schemeClr val="tx1"/>
          </a:solidFill>
          <a:ln/>
        </p:spPr>
      </p:sp>
      <p:sp>
        <p:nvSpPr>
          <p:cNvPr id="15" name="shape-code-2"/>
          <p:cNvSpPr txBox="1"/>
          <p:nvPr/>
        </p:nvSpPr>
        <p:spPr>
          <a:xfrm>
            <a:off x="960120" y="4453128"/>
            <a:ext cx="4599432" cy="1106424"/>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.filter(Order::paid)</a:t>
            </a:r>
            <a:endParaRPr lang="en-US" sz="1600" dirty="0"/>
          </a:p>
        </p:txBody>
      </p:sp>
      <p:sp>
        <p:nvSpPr>
          <p:cNvPr id="16" name="shape-card-3"/>
          <p:cNvSpPr/>
          <p:nvPr/>
        </p:nvSpPr>
        <p:spPr>
          <a:xfrm>
            <a:off x="6217920" y="3794760"/>
            <a:ext cx="5422392" cy="2057400"/>
          </a:xfrm>
          <a:prstGeom prst="roundRect">
            <a:avLst>
              <a:gd name="adj" fmla="val 5333"/>
            </a:avLst>
          </a:prstGeom>
          <a:solidFill>
            <a:schemeClr val="bg2"/>
          </a:solidFill>
          <a:ln/>
        </p:spPr>
      </p:sp>
      <p:sp>
        <p:nvSpPr>
          <p:cNvPr id="17" name="Text 14"/>
          <p:cNvSpPr txBox="1"/>
          <p:nvPr/>
        </p:nvSpPr>
        <p:spPr>
          <a:xfrm>
            <a:off x="6446520" y="3904488"/>
            <a:ext cx="3657600" cy="365760"/>
          </a:xfrm>
          <a:prstGeom prst="rect">
            <a:avLst/>
          </a:prstGeom>
          <a:noFill/>
          <a:ln/>
        </p:spPr>
        <p:txBody>
          <a:bodyPr wrap="square" lIns="0" tIns="0" rIns="0" bIns="0" rtlCol="0" anchor="t"/>
          <a:lstStyle/>
          <a:p>
            <a:pPr indent="0" marL="0">
              <a:buNone/>
            </a:pPr>
            <a:r>
              <a:rPr lang="en-US" sz="1700" b="1" dirty="0">
                <a:solidFill>
                  <a:schemeClr val="tx1"/>
                </a:solidFill>
              </a:rPr>
              <a:t>Method</a:t>
            </a:r>
            <a:endParaRPr lang="en-US" sz="1700" dirty="0"/>
          </a:p>
        </p:txBody>
      </p:sp>
      <p:sp>
        <p:nvSpPr>
          <p:cNvPr id="18" name="shape-code-3-bg"/>
          <p:cNvSpPr/>
          <p:nvPr/>
        </p:nvSpPr>
        <p:spPr>
          <a:xfrm>
            <a:off x="6446520" y="4343400"/>
            <a:ext cx="4965192" cy="1325880"/>
          </a:xfrm>
          <a:prstGeom prst="roundRect">
            <a:avLst>
              <a:gd name="adj" fmla="val 6897"/>
            </a:avLst>
          </a:prstGeom>
          <a:solidFill>
            <a:schemeClr val="tx1"/>
          </a:solidFill>
          <a:ln/>
        </p:spPr>
      </p:sp>
      <p:sp>
        <p:nvSpPr>
          <p:cNvPr id="19" name="shape-code-3"/>
          <p:cNvSpPr txBox="1"/>
          <p:nvPr/>
        </p:nvSpPr>
        <p:spPr>
          <a:xfrm>
            <a:off x="6629400" y="4453128"/>
            <a:ext cx="4599432" cy="1106424"/>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.filter(this::isPaid)</a:t>
            </a:r>
            <a:endParaRPr lang="en-US" sz="1600" dirty="0"/>
          </a:p>
        </p:txBody>
      </p:sp>
      <p:sp>
        <p:nvSpPr>
          <p:cNvPr id="20" name="Text 17"/>
          <p:cNvSpPr txBox="1"/>
          <p:nvPr/>
        </p:nvSpPr>
        <p:spPr>
          <a:xfrm>
            <a:off x="548640" y="6035040"/>
            <a:ext cx="11091672" cy="320040"/>
          </a:xfrm>
          <a:prstGeom prst="rect">
            <a:avLst/>
          </a:prstGeom>
          <a:noFill/>
          <a:ln/>
        </p:spPr>
        <p:txBody>
          <a:bodyPr wrap="square" lIns="0" tIns="0" rIns="0" bIns="0" rtlCol="0" anchor="t"/>
          <a:lstStyle/>
          <a:p>
            <a:pPr indent="0" marL="0">
              <a:buNone/>
            </a:pPr>
            <a:r>
              <a:rPr lang="en-US" sz="1400" dirty="0">
                <a:solidFill>
                  <a:schemeClr val="tx2"/>
                </a:solidFill>
              </a:rPr>
              <a:t>Same result in all four. The shorter the form, the easier to read.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Lazy: elements flow one at a time</a:t>
            </a:r>
            <a:endParaRPr lang="en-US" sz="3400" dirty="0"/>
          </a:p>
        </p:txBody>
      </p:sp>
      <p:sp>
        <p:nvSpPr>
          <p:cNvPr id="4" name="stage-filter"/>
          <p:cNvSpPr/>
          <p:nvPr/>
        </p:nvSpPr>
        <p:spPr>
          <a:xfrm>
            <a:off x="548640" y="1737360"/>
            <a:ext cx="1920240" cy="1188720"/>
          </a:xfrm>
          <a:prstGeom prst="roundRect">
            <a:avLst>
              <a:gd name="adj" fmla="val 9231"/>
            </a:avLst>
          </a:prstGeom>
          <a:solidFill>
            <a:schemeClr val="accent1"/>
          </a:solidFill>
          <a:ln/>
        </p:spPr>
      </p:sp>
      <p:sp>
        <p:nvSpPr>
          <p:cNvPr id="5" name="Text 2"/>
          <p:cNvSpPr txBox="1"/>
          <p:nvPr/>
        </p:nvSpPr>
        <p:spPr>
          <a:xfrm>
            <a:off x="548640" y="173736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filter</a:t>
            </a:r>
            <a:endParaRPr lang="en-US" sz="2000" dirty="0"/>
          </a:p>
        </p:txBody>
      </p:sp>
      <p:sp>
        <p:nvSpPr>
          <p:cNvPr id="6" name="arrow"/>
          <p:cNvSpPr/>
          <p:nvPr/>
        </p:nvSpPr>
        <p:spPr>
          <a:xfrm>
            <a:off x="2514600" y="2331720"/>
            <a:ext cx="457200" cy="0"/>
          </a:xfrm>
          <a:prstGeom prst="line">
            <a:avLst/>
          </a:prstGeom>
          <a:noFill/>
          <a:ln w="25400">
            <a:solidFill>
              <a:schemeClr val="tx2"/>
            </a:solidFill>
            <a:prstDash val="solid"/>
            <a:tailEnd type="triangle"/>
          </a:ln>
        </p:spPr>
      </p:sp>
      <p:sp>
        <p:nvSpPr>
          <p:cNvPr id="7" name="stage-map"/>
          <p:cNvSpPr/>
          <p:nvPr/>
        </p:nvSpPr>
        <p:spPr>
          <a:xfrm>
            <a:off x="3017520" y="1737360"/>
            <a:ext cx="1920240" cy="1188720"/>
          </a:xfrm>
          <a:prstGeom prst="roundRect">
            <a:avLst>
              <a:gd name="adj" fmla="val 9231"/>
            </a:avLst>
          </a:prstGeom>
          <a:solidFill>
            <a:schemeClr val="accent1"/>
          </a:solidFill>
          <a:ln/>
        </p:spPr>
      </p:sp>
      <p:sp>
        <p:nvSpPr>
          <p:cNvPr id="8" name="Text 5"/>
          <p:cNvSpPr txBox="1"/>
          <p:nvPr/>
        </p:nvSpPr>
        <p:spPr>
          <a:xfrm>
            <a:off x="3017520" y="173736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map</a:t>
            </a:r>
            <a:endParaRPr lang="en-US" sz="2000" dirty="0"/>
          </a:p>
        </p:txBody>
      </p:sp>
      <p:sp>
        <p:nvSpPr>
          <p:cNvPr id="9" name="arrow"/>
          <p:cNvSpPr/>
          <p:nvPr/>
        </p:nvSpPr>
        <p:spPr>
          <a:xfrm>
            <a:off x="4983480" y="2331720"/>
            <a:ext cx="457200" cy="0"/>
          </a:xfrm>
          <a:prstGeom prst="line">
            <a:avLst/>
          </a:prstGeom>
          <a:noFill/>
          <a:ln w="25400">
            <a:solidFill>
              <a:schemeClr val="tx2"/>
            </a:solidFill>
            <a:prstDash val="solid"/>
            <a:tailEnd type="triangle"/>
          </a:ln>
        </p:spPr>
      </p:sp>
      <p:sp>
        <p:nvSpPr>
          <p:cNvPr id="10" name="stage-terminal"/>
          <p:cNvSpPr/>
          <p:nvPr/>
        </p:nvSpPr>
        <p:spPr>
          <a:xfrm>
            <a:off x="5486400" y="1737360"/>
            <a:ext cx="1920240" cy="1188720"/>
          </a:xfrm>
          <a:prstGeom prst="roundRect">
            <a:avLst>
              <a:gd name="adj" fmla="val 9231"/>
            </a:avLst>
          </a:prstGeom>
          <a:solidFill>
            <a:schemeClr val="accent2"/>
          </a:solidFill>
          <a:ln/>
        </p:spPr>
      </p:sp>
      <p:sp>
        <p:nvSpPr>
          <p:cNvPr id="11" name="Text 8"/>
          <p:cNvSpPr txBox="1"/>
          <p:nvPr/>
        </p:nvSpPr>
        <p:spPr>
          <a:xfrm>
            <a:off x="5486400" y="173736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terminal</a:t>
            </a:r>
            <a:endParaRPr lang="en-US" sz="2000" dirty="0"/>
          </a:p>
        </p:txBody>
      </p:sp>
      <p:sp>
        <p:nvSpPr>
          <p:cNvPr id="12" name="Text 9"/>
          <p:cNvSpPr txBox="1"/>
          <p:nvPr/>
        </p:nvSpPr>
        <p:spPr>
          <a:xfrm>
            <a:off x="548640" y="3108960"/>
            <a:ext cx="6949440" cy="365760"/>
          </a:xfrm>
          <a:prstGeom prst="rect">
            <a:avLst/>
          </a:prstGeom>
          <a:noFill/>
          <a:ln/>
        </p:spPr>
        <p:txBody>
          <a:bodyPr wrap="square" lIns="0" tIns="0" rIns="0" bIns="0" rtlCol="0" anchor="t"/>
          <a:lstStyle/>
          <a:p>
            <a:pPr indent="0" marL="0">
              <a:buNone/>
            </a:pPr>
            <a:r>
              <a:rPr lang="en-US" sz="1500" dirty="0">
                <a:solidFill>
                  <a:schemeClr val="tx2"/>
                </a:solidFill>
              </a:rPr>
              <a:t>element 1 → all stages, then element 2 → all stages …</a:t>
            </a:r>
            <a:endParaRPr lang="en-US" sz="1500" dirty="0"/>
          </a:p>
        </p:txBody>
      </p:sp>
      <p:sp>
        <p:nvSpPr>
          <p:cNvPr id="13" name="bullets"/>
          <p:cNvSpPr txBox="1"/>
          <p:nvPr/>
        </p:nvSpPr>
        <p:spPr>
          <a:xfrm>
            <a:off x="548640" y="3749040"/>
            <a:ext cx="6949440" cy="2377440"/>
          </a:xfrm>
          <a:prstGeom prst="rect">
            <a:avLst/>
          </a:prstGeom>
          <a:noFill/>
          <a:ln/>
        </p:spPr>
        <p:txBody>
          <a:bodyPr wrap="square" lIns="0" tIns="0" rIns="0" bIns="0" rtlCol="0" anchor="t"/>
          <a:lstStyle/>
          <a:p>
            <a:pPr marL="228600" indent="-228600">
              <a:spcAft>
                <a:spcPts val="1200"/>
              </a:spcAft>
              <a:buSzPct val="100000"/>
              <a:buChar char="•"/>
            </a:pPr>
            <a:r>
              <a:rPr lang="en-US" sz="1900" dirty="0">
                <a:solidFill>
                  <a:schemeClr val="tx1"/>
                </a:solidFill>
              </a:rPr>
              <a:t>No terminal operation? </a:t>
            </a:r>
            <a:pPr indent="0" marL="0">
              <a:buNone/>
            </a:pPr>
            <a:r>
              <a:rPr lang="en-US" sz="1900" b="1" dirty="0">
                <a:solidFill>
                  <a:schemeClr val="tx1"/>
                </a:solidFill>
              </a:rPr>
              <a:t>Nothing runs.</a:t>
            </a:r>
            <a:endParaRPr lang="en-US" sz="1900" dirty="0"/>
          </a:p>
          <a:p>
            <a:pPr marL="228600" indent="-228600">
              <a:spcAft>
                <a:spcPts val="1200"/>
              </a:spcAft>
              <a:buSzPct val="100000"/>
              <a:buChar char="•"/>
            </a:pPr>
            <a:r>
              <a:rPr lang="en-US" sz="1900" dirty="0">
                <a:solidFill>
                  <a:schemeClr val="tx1"/>
                </a:solidFill>
              </a:rPr>
              <a:t>Each element passes </a:t>
            </a:r>
            <a:pPr indent="0" marL="0">
              <a:buNone/>
            </a:pPr>
            <a:r>
              <a:rPr lang="en-US" sz="1900" b="1" dirty="0">
                <a:solidFill>
                  <a:schemeClr val="tx1"/>
                </a:solidFill>
              </a:rPr>
              <a:t>all</a:t>
            </a:r>
            <a:pPr indent="0" marL="0">
              <a:buNone/>
            </a:pPr>
            <a:r>
              <a:rPr lang="en-US" sz="1900" dirty="0">
                <a:solidFill>
                  <a:schemeClr val="tx1"/>
                </a:solidFill>
              </a:rPr>
              <a:t> stages before the next one starts</a:t>
            </a:r>
            <a:endParaRPr lang="en-US" sz="1900" dirty="0"/>
          </a:p>
          <a:p>
            <a:pPr marL="228600" indent="-228600">
              <a:spcAft>
                <a:spcPts val="1200"/>
              </a:spcAft>
              <a:buSzPct val="100000"/>
              <a:buChar char="•"/>
            </a:pPr>
            <a:r>
              <a:rPr lang="en-US" sz="1900" dirty="0">
                <a:solidFill>
                  <a:schemeClr val="tx1"/>
                </a:solidFill>
              </a:rPr>
              <a:t>A failing </a:t>
            </a:r>
            <a:pPr indent="0" marL="0">
              <a:buNone/>
            </a:pPr>
            <a:r>
              <a:rPr lang="en-US" sz="1900" dirty="0">
                <a:solidFill>
                  <a:schemeClr val="tx2"/>
                </a:solidFill>
                <a:latin typeface="Courier New" pitchFamily="34" charset="0"/>
                <a:ea typeface="Courier New" pitchFamily="34" charset="-122"/>
                <a:cs typeface="Courier New" pitchFamily="34" charset="-120"/>
              </a:rPr>
              <a:t>map</a:t>
            </a:r>
            <a:pPr indent="0" marL="0">
              <a:buNone/>
            </a:pPr>
            <a:r>
              <a:rPr lang="en-US" sz="1900" dirty="0">
                <a:solidFill>
                  <a:schemeClr val="tx1"/>
                </a:solidFill>
              </a:rPr>
              <a:t> surfaces at the </a:t>
            </a:r>
            <a:pPr indent="0" marL="0">
              <a:buNone/>
            </a:pPr>
            <a:r>
              <a:rPr lang="en-US" sz="1900" b="1" dirty="0">
                <a:solidFill>
                  <a:schemeClr val="tx1"/>
                </a:solidFill>
              </a:rPr>
              <a:t>terminal</a:t>
            </a:r>
            <a:pPr indent="0" marL="0">
              <a:buNone/>
            </a:pPr>
            <a:r>
              <a:rPr lang="en-US" sz="1900" dirty="0">
                <a:solidFill>
                  <a:schemeClr val="tx1"/>
                </a:solidFill>
              </a:rPr>
              <a:t> operation</a:t>
            </a:r>
            <a:endParaRPr lang="en-US" sz="1900" dirty="0"/>
          </a:p>
          <a:p>
            <a:pPr marL="228600" indent="-228600">
              <a:spcAft>
                <a:spcPts val="1200"/>
              </a:spcAft>
              <a:buSzPct val="100000"/>
              <a:buChar char="•"/>
            </a:pPr>
            <a:r>
              <a:rPr lang="en-US" sz="1900" b="1" dirty="0">
                <a:solidFill>
                  <a:schemeClr val="tx1"/>
                </a:solidFill>
              </a:rPr>
              <a:t>Order matters</a:t>
            </a:r>
            <a:pPr indent="0" marL="0">
              <a:buNone/>
            </a:pPr>
            <a:r>
              <a:rPr lang="en-US" sz="1900" dirty="0">
                <a:solidFill>
                  <a:schemeClr val="tx1"/>
                </a:solidFill>
              </a:rPr>
              <a:t>: it changes the result and the amount of work</a:t>
            </a:r>
            <a:endParaRPr lang="en-US" sz="1900" dirty="0"/>
          </a:p>
        </p:txBody>
      </p:sp>
      <p:sp>
        <p:nvSpPr>
          <p:cNvPr id="14" name="peek-card"/>
          <p:cNvSpPr/>
          <p:nvPr/>
        </p:nvSpPr>
        <p:spPr>
          <a:xfrm>
            <a:off x="8046720" y="1554480"/>
            <a:ext cx="3593592" cy="4480560"/>
          </a:xfrm>
          <a:prstGeom prst="roundRect">
            <a:avLst>
              <a:gd name="adj" fmla="val 3053"/>
            </a:avLst>
          </a:prstGeom>
          <a:solidFill>
            <a:schemeClr val="tx2"/>
          </a:solidFill>
          <a:ln/>
        </p:spPr>
      </p:sp>
      <p:sp>
        <p:nvSpPr>
          <p:cNvPr id="15" name="badge-bg"/>
          <p:cNvSpPr/>
          <p:nvPr/>
        </p:nvSpPr>
        <p:spPr>
          <a:xfrm>
            <a:off x="8321040" y="1783080"/>
            <a:ext cx="685800" cy="685800"/>
          </a:xfrm>
          <a:prstGeom prst="ellipse">
            <a:avLst/>
          </a:prstGeom>
          <a:solidFill>
            <a:schemeClr val="accent4"/>
          </a:solidFill>
          <a:ln/>
        </p:spPr>
      </p:sp>
      <p:pic>
        <p:nvPicPr>
          <p:cNvPr id="16" name="Image 0" descr="FaEye">    </p:cNvPr>
          <p:cNvPicPr>
            <a:picLocks noChangeAspect="1"/>
          </p:cNvPicPr>
          <p:nvPr/>
        </p:nvPicPr>
        <p:blipFill>
          <a:blip r:embed="rId1"/>
          <a:stretch>
            <a:fillRect/>
          </a:stretch>
        </p:blipFill>
        <p:spPr>
          <a:xfrm>
            <a:off x="8506206" y="1968246"/>
            <a:ext cx="315468" cy="315468"/>
          </a:xfrm>
          <a:prstGeom prst="rect">
            <a:avLst/>
          </a:prstGeom>
        </p:spPr>
      </p:pic>
      <p:sp>
        <p:nvSpPr>
          <p:cNvPr id="17" name="Text 13"/>
          <p:cNvSpPr txBox="1"/>
          <p:nvPr/>
        </p:nvSpPr>
        <p:spPr>
          <a:xfrm>
            <a:off x="8321040" y="2651760"/>
            <a:ext cx="3017520" cy="365760"/>
          </a:xfrm>
          <a:prstGeom prst="rect">
            <a:avLst/>
          </a:prstGeom>
          <a:noFill/>
          <a:ln/>
        </p:spPr>
        <p:txBody>
          <a:bodyPr wrap="square" lIns="0" tIns="0" rIns="0" bIns="0" rtlCol="0" anchor="t"/>
          <a:lstStyle/>
          <a:p>
            <a:pPr indent="0" marL="0">
              <a:buNone/>
            </a:pPr>
            <a:r>
              <a:rPr lang="en-US" sz="2000" b="1" dirty="0">
                <a:solidFill>
                  <a:schemeClr val="bg1"/>
                </a:solidFill>
              </a:rPr>
              <a:t>peek</a:t>
            </a:r>
            <a:endParaRPr lang="en-US" sz="2000" dirty="0"/>
          </a:p>
        </p:txBody>
      </p:sp>
      <p:sp>
        <p:nvSpPr>
          <p:cNvPr id="18" name="Text 14"/>
          <p:cNvSpPr txBox="1"/>
          <p:nvPr/>
        </p:nvSpPr>
        <p:spPr>
          <a:xfrm>
            <a:off x="8321040" y="3108960"/>
            <a:ext cx="3063240" cy="2743200"/>
          </a:xfrm>
          <a:prstGeom prst="rect">
            <a:avLst/>
          </a:prstGeom>
          <a:noFill/>
          <a:ln/>
        </p:spPr>
        <p:txBody>
          <a:bodyPr wrap="square" lIns="0" tIns="0" rIns="0" bIns="0" rtlCol="0" anchor="t"/>
          <a:lstStyle/>
          <a:p>
            <a:pPr indent="0" marL="0">
              <a:buNone/>
            </a:pPr>
            <a:r>
              <a:rPr lang="en-US" sz="1500" dirty="0">
                <a:solidFill>
                  <a:schemeClr val="bg1"/>
                </a:solidFill>
              </a:rPr>
              <a:t>Looks at each element without changing the stream.
</a:t>
            </a:r>
            <a:pPr indent="0" marL="0">
              <a:buNone/>
            </a:pPr>
            <a:r>
              <a:rPr lang="en-US" sz="1500" b="1" dirty="0">
                <a:solidFill>
                  <a:schemeClr val="bg1"/>
                </a:solidFill>
              </a:rPr>
              <a:t>For debugging only.</a:t>
            </a:r>
            <a:pPr indent="0" marL="0">
              <a:buNone/>
            </a:pPr>
            <a:r>
              <a:rPr lang="en-US" sz="1500" dirty="0">
                <a:solidFill>
                  <a:schemeClr val="bg1"/>
                </a:solidFill>
              </a:rPr>
              <a:t> Not for production code, and never with an action that changes state.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Debugging streams: four tools</a:t>
            </a:r>
            <a:endParaRPr lang="en-US" sz="3400" dirty="0"/>
          </a:p>
        </p:txBody>
      </p:sp>
      <p:sp>
        <p:nvSpPr>
          <p:cNvPr id="4" name="dbg-card-0"/>
          <p:cNvSpPr/>
          <p:nvPr/>
        </p:nvSpPr>
        <p:spPr>
          <a:xfrm>
            <a:off x="548640" y="1508760"/>
            <a:ext cx="5422392" cy="1783080"/>
          </a:xfrm>
          <a:prstGeom prst="roundRect">
            <a:avLst>
              <a:gd name="adj" fmla="val 6154"/>
            </a:avLst>
          </a:prstGeom>
          <a:solidFill>
            <a:schemeClr val="bg2"/>
          </a:solidFill>
          <a:ln/>
        </p:spPr>
      </p:sp>
      <p:sp>
        <p:nvSpPr>
          <p:cNvPr id="5" name="badge-bg"/>
          <p:cNvSpPr/>
          <p:nvPr/>
        </p:nvSpPr>
        <p:spPr>
          <a:xfrm>
            <a:off x="777240" y="1737360"/>
            <a:ext cx="640080" cy="640080"/>
          </a:xfrm>
          <a:prstGeom prst="ellipse">
            <a:avLst/>
          </a:prstGeom>
          <a:solidFill>
            <a:schemeClr val="accent1"/>
          </a:solidFill>
          <a:ln/>
        </p:spPr>
      </p:sp>
      <p:pic>
        <p:nvPicPr>
          <p:cNvPr id="6" name="Image 0" descr="FaEye">    </p:cNvPr>
          <p:cNvPicPr>
            <a:picLocks noChangeAspect="1"/>
          </p:cNvPicPr>
          <p:nvPr/>
        </p:nvPicPr>
        <p:blipFill>
          <a:blip r:embed="rId1"/>
          <a:stretch>
            <a:fillRect/>
          </a:stretch>
        </p:blipFill>
        <p:spPr>
          <a:xfrm>
            <a:off x="950062" y="1910182"/>
            <a:ext cx="294437" cy="294437"/>
          </a:xfrm>
          <a:prstGeom prst="rect">
            <a:avLst/>
          </a:prstGeom>
        </p:spPr>
      </p:pic>
      <p:sp>
        <p:nvSpPr>
          <p:cNvPr id="7" name="Text 3"/>
          <p:cNvSpPr txBox="1"/>
          <p:nvPr/>
        </p:nvSpPr>
        <p:spPr>
          <a:xfrm>
            <a:off x="1600200" y="1691640"/>
            <a:ext cx="4206240" cy="365760"/>
          </a:xfrm>
          <a:prstGeom prst="rect">
            <a:avLst/>
          </a:prstGeom>
          <a:noFill/>
          <a:ln/>
        </p:spPr>
        <p:txBody>
          <a:bodyPr wrap="square" lIns="0" tIns="0" rIns="0" bIns="0" rtlCol="0" anchor="t"/>
          <a:lstStyle/>
          <a:p>
            <a:pPr indent="0" marL="0">
              <a:buNone/>
            </a:pPr>
            <a:r>
              <a:rPr lang="en-US" sz="1800" b="1" dirty="0">
                <a:solidFill>
                  <a:schemeClr val="tx1"/>
                </a:solidFill>
              </a:rPr>
              <a:t>1  peek</a:t>
            </a:r>
            <a:endParaRPr lang="en-US" sz="1800" dirty="0"/>
          </a:p>
        </p:txBody>
      </p:sp>
      <p:sp>
        <p:nvSpPr>
          <p:cNvPr id="8" name="Text 4"/>
          <p:cNvSpPr txBox="1"/>
          <p:nvPr/>
        </p:nvSpPr>
        <p:spPr>
          <a:xfrm>
            <a:off x="1600200" y="2148840"/>
            <a:ext cx="4206240" cy="1097280"/>
          </a:xfrm>
          <a:prstGeom prst="rect">
            <a:avLst/>
          </a:prstGeom>
          <a:noFill/>
          <a:ln/>
        </p:spPr>
        <p:txBody>
          <a:bodyPr wrap="square" lIns="0" tIns="0" rIns="0" bIns="0" rtlCol="0" anchor="t"/>
          <a:lstStyle/>
          <a:p>
            <a:pPr indent="0" marL="0">
              <a:buNone/>
            </a:pPr>
            <a:r>
              <a:rPr lang="en-US" sz="1400" dirty="0">
                <a:solidFill>
                  <a:schemeClr val="tx1"/>
                </a:solidFill>
              </a:rPr>
              <a:t>Quick, but you edit the code. Elements appear one at a time, interleaved with later stages. Remove it again.</a:t>
            </a:r>
            <a:endParaRPr lang="en-US" sz="1400" dirty="0"/>
          </a:p>
        </p:txBody>
      </p:sp>
      <p:sp>
        <p:nvSpPr>
          <p:cNvPr id="9" name="dbg-card-1"/>
          <p:cNvSpPr/>
          <p:nvPr/>
        </p:nvSpPr>
        <p:spPr>
          <a:xfrm>
            <a:off x="6217920" y="1508760"/>
            <a:ext cx="5422392" cy="1783080"/>
          </a:xfrm>
          <a:prstGeom prst="roundRect">
            <a:avLst>
              <a:gd name="adj" fmla="val 6154"/>
            </a:avLst>
          </a:prstGeom>
          <a:solidFill>
            <a:schemeClr val="bg2"/>
          </a:solidFill>
          <a:ln/>
        </p:spPr>
      </p:sp>
      <p:sp>
        <p:nvSpPr>
          <p:cNvPr id="10" name="badge-bg"/>
          <p:cNvSpPr/>
          <p:nvPr/>
        </p:nvSpPr>
        <p:spPr>
          <a:xfrm>
            <a:off x="6446520" y="1737360"/>
            <a:ext cx="640080" cy="640080"/>
          </a:xfrm>
          <a:prstGeom prst="ellipse">
            <a:avLst/>
          </a:prstGeom>
          <a:solidFill>
            <a:schemeClr val="accent1"/>
          </a:solidFill>
          <a:ln/>
        </p:spPr>
      </p:sp>
      <p:pic>
        <p:nvPicPr>
          <p:cNvPr id="11" name="Image 1" descr="FaBug">    </p:cNvPr>
          <p:cNvPicPr>
            <a:picLocks noChangeAspect="1"/>
          </p:cNvPicPr>
          <p:nvPr/>
        </p:nvPicPr>
        <p:blipFill>
          <a:blip r:embed="rId2"/>
          <a:stretch>
            <a:fillRect/>
          </a:stretch>
        </p:blipFill>
        <p:spPr>
          <a:xfrm>
            <a:off x="6619342" y="1910182"/>
            <a:ext cx="294437" cy="294437"/>
          </a:xfrm>
          <a:prstGeom prst="rect">
            <a:avLst/>
          </a:prstGeom>
        </p:spPr>
      </p:pic>
      <p:sp>
        <p:nvSpPr>
          <p:cNvPr id="12" name="Text 7"/>
          <p:cNvSpPr txBox="1"/>
          <p:nvPr/>
        </p:nvSpPr>
        <p:spPr>
          <a:xfrm>
            <a:off x="7269480" y="1691640"/>
            <a:ext cx="4206240" cy="365760"/>
          </a:xfrm>
          <a:prstGeom prst="rect">
            <a:avLst/>
          </a:prstGeom>
          <a:noFill/>
          <a:ln/>
        </p:spPr>
        <p:txBody>
          <a:bodyPr wrap="square" lIns="0" tIns="0" rIns="0" bIns="0" rtlCol="0" anchor="t"/>
          <a:lstStyle/>
          <a:p>
            <a:pPr indent="0" marL="0">
              <a:buNone/>
            </a:pPr>
            <a:r>
              <a:rPr lang="en-US" sz="1800" b="1" dirty="0">
                <a:solidFill>
                  <a:schemeClr val="tx1"/>
                </a:solidFill>
              </a:rPr>
              <a:t>2  Lambda breakpoint</a:t>
            </a:r>
            <a:endParaRPr lang="en-US" sz="1800" dirty="0"/>
          </a:p>
        </p:txBody>
      </p:sp>
      <p:sp>
        <p:nvSpPr>
          <p:cNvPr id="13" name="Text 8"/>
          <p:cNvSpPr txBox="1"/>
          <p:nvPr/>
        </p:nvSpPr>
        <p:spPr>
          <a:xfrm>
            <a:off x="7269480" y="2148840"/>
            <a:ext cx="4206240" cy="1097280"/>
          </a:xfrm>
          <a:prstGeom prst="rect">
            <a:avLst/>
          </a:prstGeom>
          <a:noFill/>
          <a:ln/>
        </p:spPr>
        <p:txBody>
          <a:bodyPr wrap="square" lIns="0" tIns="0" rIns="0" bIns="0" rtlCol="0" anchor="t"/>
          <a:lstStyle/>
          <a:p>
            <a:pPr indent="0" marL="0">
              <a:buNone/>
            </a:pPr>
            <a:r>
              <a:rPr lang="en-US" sz="1400" dirty="0">
                <a:solidFill>
                  <a:schemeClr val="tx1"/>
                </a:solidFill>
              </a:rPr>
              <a:t>Click the gutter next to the lambda and Debug. Hit once per element; inspect </a:t>
            </a:r>
            <a:pPr indent="0" marL="0">
              <a:buNone/>
            </a:pPr>
            <a:r>
              <a:rPr lang="en-US" sz="1400" dirty="0">
                <a:solidFill>
                  <a:schemeClr val="tx2"/>
                </a:solidFill>
                <a:latin typeface="Courier New" pitchFamily="34" charset="0"/>
                <a:ea typeface="Courier New" pitchFamily="34" charset="-122"/>
                <a:cs typeface="Courier New" pitchFamily="34" charset="-120"/>
              </a:rPr>
              <a:t>order</a:t>
            </a:r>
            <a:pPr indent="0" marL="0">
              <a:buNone/>
            </a:pPr>
            <a:r>
              <a:rPr lang="en-US" sz="1400" dirty="0">
                <a:solidFill>
                  <a:schemeClr val="tx1"/>
                </a:solidFill>
              </a:rPr>
              <a:t> in Variables.</a:t>
            </a:r>
            <a:endParaRPr lang="en-US" sz="1400" dirty="0"/>
          </a:p>
        </p:txBody>
      </p:sp>
      <p:sp>
        <p:nvSpPr>
          <p:cNvPr id="14" name="dbg-card-2"/>
          <p:cNvSpPr/>
          <p:nvPr/>
        </p:nvSpPr>
        <p:spPr>
          <a:xfrm>
            <a:off x="548640" y="3474720"/>
            <a:ext cx="5422392" cy="1783080"/>
          </a:xfrm>
          <a:prstGeom prst="roundRect">
            <a:avLst>
              <a:gd name="adj" fmla="val 6154"/>
            </a:avLst>
          </a:prstGeom>
          <a:solidFill>
            <a:schemeClr val="bg2"/>
          </a:solidFill>
          <a:ln/>
        </p:spPr>
      </p:sp>
      <p:sp>
        <p:nvSpPr>
          <p:cNvPr id="15" name="badge-bg"/>
          <p:cNvSpPr/>
          <p:nvPr/>
        </p:nvSpPr>
        <p:spPr>
          <a:xfrm>
            <a:off x="777240" y="3703320"/>
            <a:ext cx="640080" cy="640080"/>
          </a:xfrm>
          <a:prstGeom prst="ellipse">
            <a:avLst/>
          </a:prstGeom>
          <a:solidFill>
            <a:schemeClr val="accent1"/>
          </a:solidFill>
          <a:ln/>
        </p:spPr>
      </p:sp>
      <p:pic>
        <p:nvPicPr>
          <p:cNvPr id="16" name="Image 2" descr="FaProjectDiagram">    </p:cNvPr>
          <p:cNvPicPr>
            <a:picLocks noChangeAspect="1"/>
          </p:cNvPicPr>
          <p:nvPr/>
        </p:nvPicPr>
        <p:blipFill>
          <a:blip r:embed="rId3"/>
          <a:stretch>
            <a:fillRect/>
          </a:stretch>
        </p:blipFill>
        <p:spPr>
          <a:xfrm>
            <a:off x="950062" y="3876142"/>
            <a:ext cx="294437" cy="294437"/>
          </a:xfrm>
          <a:prstGeom prst="rect">
            <a:avLst/>
          </a:prstGeom>
        </p:spPr>
      </p:pic>
      <p:sp>
        <p:nvSpPr>
          <p:cNvPr id="17" name="Text 11"/>
          <p:cNvSpPr txBox="1"/>
          <p:nvPr/>
        </p:nvSpPr>
        <p:spPr>
          <a:xfrm>
            <a:off x="1600200" y="3657600"/>
            <a:ext cx="4206240" cy="365760"/>
          </a:xfrm>
          <a:prstGeom prst="rect">
            <a:avLst/>
          </a:prstGeom>
          <a:noFill/>
          <a:ln/>
        </p:spPr>
        <p:txBody>
          <a:bodyPr wrap="square" lIns="0" tIns="0" rIns="0" bIns="0" rtlCol="0" anchor="t"/>
          <a:lstStyle/>
          <a:p>
            <a:pPr indent="0" marL="0">
              <a:buNone/>
            </a:pPr>
            <a:r>
              <a:rPr lang="en-US" sz="1800" b="1" dirty="0">
                <a:solidFill>
                  <a:schemeClr val="tx1"/>
                </a:solidFill>
              </a:rPr>
              <a:t>3  Trace Current Stream Chain</a:t>
            </a:r>
            <a:endParaRPr lang="en-US" sz="1800" dirty="0"/>
          </a:p>
        </p:txBody>
      </p:sp>
      <p:sp>
        <p:nvSpPr>
          <p:cNvPr id="18" name="Text 12"/>
          <p:cNvSpPr txBox="1"/>
          <p:nvPr/>
        </p:nvSpPr>
        <p:spPr>
          <a:xfrm>
            <a:off x="1600200" y="4114800"/>
            <a:ext cx="4206240" cy="1097280"/>
          </a:xfrm>
          <a:prstGeom prst="rect">
            <a:avLst/>
          </a:prstGeom>
          <a:noFill/>
          <a:ln/>
        </p:spPr>
        <p:txBody>
          <a:bodyPr wrap="square" lIns="0" tIns="0" rIns="0" bIns="0" rtlCol="0" anchor="t"/>
          <a:lstStyle/>
          <a:p>
            <a:pPr indent="0" marL="0">
              <a:buNone/>
            </a:pPr>
            <a:r>
              <a:rPr lang="en-US" sz="1400" dirty="0">
                <a:solidFill>
                  <a:schemeClr val="tx1"/>
                </a:solidFill>
              </a:rPr>
              <a:t>In Debug: More → Trace Current Stream Chain. One tab per stage, plus Flat Mode. See where an element disappeared.</a:t>
            </a:r>
            <a:endParaRPr lang="en-US" sz="1400" dirty="0"/>
          </a:p>
        </p:txBody>
      </p:sp>
      <p:sp>
        <p:nvSpPr>
          <p:cNvPr id="19" name="dbg-card-3"/>
          <p:cNvSpPr/>
          <p:nvPr/>
        </p:nvSpPr>
        <p:spPr>
          <a:xfrm>
            <a:off x="6217920" y="3474720"/>
            <a:ext cx="5422392" cy="1783080"/>
          </a:xfrm>
          <a:prstGeom prst="roundRect">
            <a:avLst>
              <a:gd name="adj" fmla="val 6154"/>
            </a:avLst>
          </a:prstGeom>
          <a:solidFill>
            <a:schemeClr val="bg2"/>
          </a:solidFill>
          <a:ln/>
        </p:spPr>
      </p:sp>
      <p:sp>
        <p:nvSpPr>
          <p:cNvPr id="20" name="badge-bg"/>
          <p:cNvSpPr/>
          <p:nvPr/>
        </p:nvSpPr>
        <p:spPr>
          <a:xfrm>
            <a:off x="6446520" y="3703320"/>
            <a:ext cx="640080" cy="640080"/>
          </a:xfrm>
          <a:prstGeom prst="ellipse">
            <a:avLst/>
          </a:prstGeom>
          <a:solidFill>
            <a:schemeClr val="accent1"/>
          </a:solidFill>
          <a:ln/>
        </p:spPr>
      </p:sp>
      <p:pic>
        <p:nvPicPr>
          <p:cNvPr id="21" name="Image 3" descr="FaListUl">    </p:cNvPr>
          <p:cNvPicPr>
            <a:picLocks noChangeAspect="1"/>
          </p:cNvPicPr>
          <p:nvPr/>
        </p:nvPicPr>
        <p:blipFill>
          <a:blip r:embed="rId4"/>
          <a:stretch>
            <a:fillRect/>
          </a:stretch>
        </p:blipFill>
        <p:spPr>
          <a:xfrm>
            <a:off x="6619342" y="3876142"/>
            <a:ext cx="294437" cy="294437"/>
          </a:xfrm>
          <a:prstGeom prst="rect">
            <a:avLst/>
          </a:prstGeom>
        </p:spPr>
      </p:pic>
      <p:sp>
        <p:nvSpPr>
          <p:cNvPr id="22" name="Text 15"/>
          <p:cNvSpPr txBox="1"/>
          <p:nvPr/>
        </p:nvSpPr>
        <p:spPr>
          <a:xfrm>
            <a:off x="7269480" y="3657600"/>
            <a:ext cx="4206240" cy="365760"/>
          </a:xfrm>
          <a:prstGeom prst="rect">
            <a:avLst/>
          </a:prstGeom>
          <a:noFill/>
          <a:ln/>
        </p:spPr>
        <p:txBody>
          <a:bodyPr wrap="square" lIns="0" tIns="0" rIns="0" bIns="0" rtlCol="0" anchor="t"/>
          <a:lstStyle/>
          <a:p>
            <a:pPr indent="0" marL="0">
              <a:buNone/>
            </a:pPr>
            <a:r>
              <a:rPr lang="en-US" sz="1800" b="1" dirty="0">
                <a:solidFill>
                  <a:schemeClr val="tx1"/>
                </a:solidFill>
              </a:rPr>
              <a:t>4  Read the stack trace</a:t>
            </a:r>
            <a:endParaRPr lang="en-US" sz="1800" dirty="0"/>
          </a:p>
        </p:txBody>
      </p:sp>
      <p:sp>
        <p:nvSpPr>
          <p:cNvPr id="23" name="Text 16"/>
          <p:cNvSpPr txBox="1"/>
          <p:nvPr/>
        </p:nvSpPr>
        <p:spPr>
          <a:xfrm>
            <a:off x="7269480" y="4114800"/>
            <a:ext cx="4206240" cy="1097280"/>
          </a:xfrm>
          <a:prstGeom prst="rect">
            <a:avLst/>
          </a:prstGeom>
          <a:noFill/>
          <a:ln/>
        </p:spPr>
        <p:txBody>
          <a:bodyPr wrap="square" lIns="0" tIns="0" rIns="0" bIns="0" rtlCol="0" anchor="t"/>
          <a:lstStyle/>
          <a:p>
            <a:pPr indent="0" marL="0">
              <a:buNone/>
            </a:pPr>
            <a:r>
              <a:rPr lang="en-US" sz="1400" dirty="0">
                <a:solidFill>
                  <a:schemeClr val="tx1"/>
                </a:solidFill>
              </a:rPr>
              <a:t>Ignore the </a:t>
            </a:r>
            <a:pPr indent="0" marL="0">
              <a:buNone/>
            </a:pPr>
            <a:r>
              <a:rPr lang="en-US" sz="1400" dirty="0">
                <a:solidFill>
                  <a:schemeClr val="tx2"/>
                </a:solidFill>
                <a:latin typeface="Courier New" pitchFamily="34" charset="0"/>
                <a:ea typeface="Courier New" pitchFamily="34" charset="-122"/>
                <a:cs typeface="Courier New" pitchFamily="34" charset="-120"/>
              </a:rPr>
              <a:t>java.util.stream</a:t>
            </a:r>
            <a:pPr indent="0" marL="0">
              <a:buNone/>
            </a:pPr>
            <a:r>
              <a:rPr lang="en-US" sz="1400" dirty="0">
                <a:solidFill>
                  <a:schemeClr val="tx1"/>
                </a:solidFill>
              </a:rPr>
              <a:t> frames. Find the first frame in </a:t>
            </a:r>
            <a:pPr indent="0" marL="0">
              <a:buNone/>
            </a:pPr>
            <a:r>
              <a:rPr lang="en-US" sz="1400" b="1" dirty="0">
                <a:solidFill>
                  <a:schemeClr val="tx1"/>
                </a:solidFill>
              </a:rPr>
              <a:t>your</a:t>
            </a:r>
            <a:pPr indent="0" marL="0">
              <a:buNone/>
            </a:pPr>
            <a:r>
              <a:rPr lang="en-US" sz="1400" dirty="0">
                <a:solidFill>
                  <a:schemeClr val="tx1"/>
                </a:solidFill>
              </a:rPr>
              <a:t> code. The failure happens at the terminal operation.</a:t>
            </a:r>
            <a:endParaRPr lang="en-US" sz="1400" dirty="0"/>
          </a:p>
        </p:txBody>
      </p:sp>
      <p:sp>
        <p:nvSpPr>
          <p:cNvPr id="24" name="rule-card"/>
          <p:cNvSpPr/>
          <p:nvPr/>
        </p:nvSpPr>
        <p:spPr>
          <a:xfrm>
            <a:off x="548640" y="5486400"/>
            <a:ext cx="11091672" cy="640080"/>
          </a:xfrm>
          <a:prstGeom prst="roundRect">
            <a:avLst>
              <a:gd name="adj" fmla="val 17143"/>
            </a:avLst>
          </a:prstGeom>
          <a:solidFill>
            <a:schemeClr val="tx2"/>
          </a:solidFill>
          <a:ln/>
        </p:spPr>
      </p:sp>
      <p:sp>
        <p:nvSpPr>
          <p:cNvPr id="25" name="Text 18"/>
          <p:cNvSpPr txBox="1"/>
          <p:nvPr/>
        </p:nvSpPr>
        <p:spPr>
          <a:xfrm>
            <a:off x="822960" y="5486400"/>
            <a:ext cx="10543032" cy="640080"/>
          </a:xfrm>
          <a:prstGeom prst="rect">
            <a:avLst/>
          </a:prstGeom>
          <a:noFill/>
          <a:ln/>
        </p:spPr>
        <p:txBody>
          <a:bodyPr wrap="square" lIns="0" tIns="0" rIns="0" bIns="0" rtlCol="0" anchor="ctr"/>
          <a:lstStyle/>
          <a:p>
            <a:pPr indent="0" marL="0">
              <a:buNone/>
            </a:pPr>
            <a:r>
              <a:rPr lang="en-US" sz="1500" b="1" dirty="0">
                <a:solidFill>
                  <a:schemeClr val="bg1"/>
                </a:solidFill>
              </a:rPr>
              <a:t>Rule of thumb:</a:t>
            </a:r>
            <a:pPr indent="0" marL="0">
              <a:buNone/>
            </a:pPr>
            <a:r>
              <a:rPr lang="en-US" sz="1500" dirty="0">
                <a:solidFill>
                  <a:schemeClr val="bg1"/>
                </a:solidFill>
              </a:rPr>
              <a:t> </a:t>
            </a:r>
            <a:pPr indent="0" marL="0">
              <a:buNone/>
            </a:pPr>
            <a:r>
              <a:rPr lang="en-US" sz="1500" dirty="0">
                <a:solidFill>
                  <a:schemeClr val="accent3"/>
                </a:solidFill>
                <a:latin typeface="Courier New" pitchFamily="34" charset="0"/>
                <a:ea typeface="Courier New" pitchFamily="34" charset="-122"/>
                <a:cs typeface="Courier New" pitchFamily="34" charset="-120"/>
              </a:rPr>
              <a:t>peek</a:t>
            </a:r>
            <a:pPr indent="0" marL="0">
              <a:buNone/>
            </a:pPr>
            <a:r>
              <a:rPr lang="en-US" sz="1500" dirty="0">
                <a:solidFill>
                  <a:schemeClr val="bg1"/>
                </a:solidFill>
              </a:rPr>
              <a:t> for a quick look · lambda breakpoint for one element · Trace Current Stream Chain for the whole chain</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05</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Stream Terminal operations</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Finish the pipeline and start it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Terminal operations in the demo</a:t>
            </a:r>
            <a:endParaRPr lang="en-US" sz="34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5120640"/>
                <a:gridCol w="5971032"/>
              </a:tblGrid>
              <a:tr h="457200">
                <a:tc>
                  <a:txBody>
                    <a:bodyPr/>
                    <a:lstStyle/>
                    <a:p>
                      <a:pPr indent="0" marL="0">
                        <a:buNone/>
                      </a:pPr>
                      <a:r>
                        <a:rPr lang="en-US" sz="1400" b="1" dirty="0">
                          <a:solidFill>
                            <a:schemeClr val="bg1"/>
                          </a:solidFill>
                        </a:rPr>
                        <a:t>Operation</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does</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collect(Collectors.toList())</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toSet()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Collect into a </a:t>
                      </a:r>
                      <a:pPr indent="0" marL="0">
                        <a:buNone/>
                      </a:pPr>
                      <a:r>
                        <a:rPr lang="en-US" sz="1400" dirty="0">
                          <a:solidFill>
                            <a:schemeClr val="tx2"/>
                          </a:solidFill>
                          <a:latin typeface="Courier New" pitchFamily="34" charset="0"/>
                          <a:ea typeface="Courier New" pitchFamily="34" charset="-122"/>
                          <a:cs typeface="Courier New" pitchFamily="34" charset="-120"/>
                        </a:rPr>
                        <a:t>List</a:t>
                      </a:r>
                      <a:pPr indent="0" marL="0">
                        <a:buNone/>
                      </a:pPr>
                      <a:r>
                        <a:rPr lang="en-US" sz="1400" dirty="0">
                          <a:solidFill>
                            <a:schemeClr val="tx1"/>
                          </a:solidFill>
                        </a:rPr>
                        <a:t> or a </a:t>
                      </a:r>
                      <a:pPr indent="0" marL="0">
                        <a:buNone/>
                      </a:pPr>
                      <a:r>
                        <a:rPr lang="en-US" sz="1400" dirty="0">
                          <a:solidFill>
                            <a:schemeClr val="tx2"/>
                          </a:solidFill>
                          <a:latin typeface="Courier New" pitchFamily="34" charset="0"/>
                          <a:ea typeface="Courier New" pitchFamily="34" charset="-122"/>
                          <a:cs typeface="Courier New" pitchFamily="34" charset="-120"/>
                        </a:rPr>
                        <a:t>Set</a:t>
                      </a:r>
                      <a:pPr indent="0" marL="0">
                        <a:buNone/>
                      </a:pPr>
                      <a:r>
                        <a:rPr lang="en-US" sz="1400" dirty="0">
                          <a:solidFill>
                            <a:schemeClr val="tx1"/>
                          </a:solidFill>
                        </a:rPr>
                        <a:t> (duplicates disappear, no order)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toUnmodifiableList()</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toUnmodifiableSet()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Collect into a collection that cannot be changed afterwards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collect(Collectors.joining("|"))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Glue the elements (</a:t>
                      </a:r>
                      <a:pPr indent="0" marL="0">
                        <a:buNone/>
                      </a:pPr>
                      <a:r>
                        <a:rPr lang="en-US" sz="1400" dirty="0">
                          <a:solidFill>
                            <a:schemeClr val="tx2"/>
                          </a:solidFill>
                          <a:latin typeface="Courier New" pitchFamily="34" charset="0"/>
                          <a:ea typeface="Courier New" pitchFamily="34" charset="-122"/>
                          <a:cs typeface="Courier New" pitchFamily="34" charset="-120"/>
                        </a:rPr>
                        <a:t>String</a:t>
                      </a:r>
                      <a:pPr indent="0" marL="0">
                        <a:buNone/>
                      </a:pPr>
                      <a:r>
                        <a:rPr lang="en-US" sz="1400" dirty="0">
                          <a:solidFill>
                            <a:schemeClr val="tx1"/>
                          </a:solidFill>
                        </a:rPr>
                        <a:t>s) into one </a:t>
                      </a:r>
                      <a:pPr indent="0" marL="0">
                        <a:buNone/>
                      </a:pPr>
                      <a:r>
                        <a:rPr lang="en-US" sz="1400" dirty="0">
                          <a:solidFill>
                            <a:schemeClr val="tx2"/>
                          </a:solidFill>
                          <a:latin typeface="Courier New" pitchFamily="34" charset="0"/>
                          <a:ea typeface="Courier New" pitchFamily="34" charset="-122"/>
                          <a:cs typeface="Courier New" pitchFamily="34" charset="-120"/>
                        </a:rPr>
                        <a:t>String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count()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Number of elements left in the stream</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mapToDouble(...).sum()</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average()</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max()</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min()</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Totals on a primitive stream; the last three return an optional</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summingDouble(...)</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averagingDouble(...)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same totals, as a </a:t>
                      </a:r>
                      <a:pPr indent="0" marL="0">
                        <a:buNone/>
                      </a:pPr>
                      <a:r>
                        <a:rPr lang="en-US" sz="1400" dirty="0">
                          <a:solidFill>
                            <a:schemeClr val="tx2"/>
                          </a:solidFill>
                          <a:latin typeface="Courier New" pitchFamily="34" charset="0"/>
                          <a:ea typeface="Courier New" pitchFamily="34" charset="-122"/>
                          <a:cs typeface="Courier New" pitchFamily="34" charset="-120"/>
                        </a:rPr>
                        <a:t>Collector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max(Comparator)</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min(Comparator)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Largest or smallest element, e.g. </a:t>
                      </a:r>
                      <a:pPr indent="0" marL="0">
                        <a:buNone/>
                      </a:pPr>
                      <a:r>
                        <a:rPr lang="en-US" sz="1400" dirty="0">
                          <a:solidFill>
                            <a:schemeClr val="tx2"/>
                          </a:solidFill>
                          <a:latin typeface="Courier New" pitchFamily="34" charset="0"/>
                          <a:ea typeface="Courier New" pitchFamily="34" charset="-122"/>
                          <a:cs typeface="Courier New" pitchFamily="34" charset="-120"/>
                        </a:rPr>
                        <a:t>comparingDouble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findFirst()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First element, and stops the stream there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806440"/>
            <a:ext cx="11091672" cy="365760"/>
          </a:xfrm>
          <a:prstGeom prst="rect">
            <a:avLst/>
          </a:prstGeom>
          <a:noFill/>
          <a:ln/>
        </p:spPr>
        <p:txBody>
          <a:bodyPr wrap="square" lIns="0" tIns="0" rIns="0" bIns="0" rtlCol="0" anchor="t"/>
          <a:lstStyle/>
          <a:p>
            <a:pPr indent="0" marL="0">
              <a:buNone/>
            </a:pPr>
            <a:r>
              <a:rPr lang="en-US" sz="1400" b="1" dirty="0">
                <a:solidFill>
                  <a:schemeClr val="accent4"/>
                </a:solidFill>
              </a:rPr>
              <a:t>Money as double?</a:t>
            </a:r>
            <a:pPr indent="0" marL="0">
              <a:buNone/>
            </a:pPr>
            <a:r>
              <a:rPr lang="en-US" sz="1400" dirty="0">
                <a:solidFill>
                  <a:schemeClr val="accent4"/>
                </a:solidFill>
              </a:rPr>
              <a:t> Fine for a demo. In real code use </a:t>
            </a:r>
            <a:pPr indent="0" marL="0">
              <a:buNone/>
            </a:pPr>
            <a:r>
              <a:rPr lang="en-US" sz="1400" dirty="0">
                <a:solidFill>
                  <a:schemeClr val="accent4"/>
                </a:solidFill>
                <a:latin typeface="Courier New" pitchFamily="34" charset="0"/>
                <a:ea typeface="Courier New" pitchFamily="34" charset="-122"/>
                <a:cs typeface="Courier New" pitchFamily="34" charset="-120"/>
              </a:rPr>
              <a:t>BigDecimal</a:t>
            </a:r>
            <a:pPr indent="0" marL="0">
              <a:buNone/>
            </a:pPr>
            <a:r>
              <a:rPr lang="en-US" sz="1400" dirty="0">
                <a:solidFill>
                  <a:schemeClr val="accent4"/>
                </a:solidFill>
              </a:rPr>
              <a:t>: </a:t>
            </a:r>
            <a:pPr indent="0" marL="0">
              <a:buNone/>
            </a:pPr>
            <a:r>
              <a:rPr lang="en-US" sz="1400" dirty="0">
                <a:solidFill>
                  <a:schemeClr val="accent4"/>
                </a:solidFill>
                <a:latin typeface="Courier New" pitchFamily="34" charset="0"/>
                <a:ea typeface="Courier New" pitchFamily="34" charset="-122"/>
                <a:cs typeface="Courier New" pitchFamily="34" charset="-120"/>
              </a:rPr>
              <a:t>0.1</a:t>
            </a:r>
            <a:pPr indent="0" marL="0">
              <a:buNone/>
            </a:pPr>
            <a:r>
              <a:rPr lang="en-US" sz="1400" dirty="0">
                <a:solidFill>
                  <a:schemeClr val="accent4"/>
                </a:solidFill>
              </a:rPr>
              <a:t> cannot be represented exactly.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Three ways to get a List</a:t>
            </a:r>
            <a:endParaRPr lang="en-US" sz="34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4754880"/>
                <a:gridCol w="2743200"/>
                <a:gridCol w="2011680"/>
                <a:gridCol w="1581912"/>
              </a:tblGrid>
              <a:tr h="731520">
                <a:tc>
                  <a:txBody>
                    <a:bodyPr/>
                    <a:lstStyle/>
                    <a:p>
                      <a:pPr indent="0" marL="0">
                        <a:buNone/>
                      </a:pPr>
                      <a:r>
                        <a:rPr lang="en-US" sz="1400" b="1" dirty="0">
                          <a:solidFill>
                            <a:schemeClr val="bg1"/>
                          </a:solidFill>
                        </a:rPr>
                        <a:t>Call</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 list</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null elements</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Typical use</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7315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collect(Collectors.toList())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ArrayList</a:t>
                      </a:r>
                      <a:pPr indent="0" marL="0">
                        <a:buNone/>
                      </a:pPr>
                      <a:r>
                        <a:rPr lang="en-US" sz="1400" dirty="0">
                          <a:solidFill>
                            <a:schemeClr val="tx1"/>
                          </a:solidFill>
                        </a:rPr>
                        <a:t> in practice, not guaranteed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allowed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legacy code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7315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.toList()</a:t>
                      </a:r>
                      <a:pPr indent="0" marL="0">
                        <a:buNone/>
                      </a:pPr>
                      <a:r>
                        <a:rPr lang="en-US" sz="1400" dirty="0">
                          <a:solidFill>
                            <a:schemeClr val="tx1"/>
                          </a:solidFill>
                        </a:rPr>
                        <a:t> (Java 16+)</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unmodifiable</a:t>
                      </a:r>
                      <a:pPr indent="0" marL="0">
                        <a:buNone/>
                      </a:pPr>
                      <a:r>
                        <a:rPr lang="en-US" sz="1400" dirty="0">
                          <a:solidFill>
                            <a:schemeClr val="tx1"/>
                          </a:solidFill>
                        </a:rPr>
                        <a:t>: </a:t>
                      </a:r>
                      <a:pPr indent="0" marL="0">
                        <a:buNone/>
                      </a:pPr>
                      <a:r>
                        <a:rPr lang="en-US" sz="1400" dirty="0">
                          <a:solidFill>
                            <a:schemeClr val="tx2"/>
                          </a:solidFill>
                          <a:latin typeface="Courier New" pitchFamily="34" charset="0"/>
                          <a:ea typeface="Courier New" pitchFamily="34" charset="-122"/>
                          <a:cs typeface="Courier New" pitchFamily="34" charset="-120"/>
                        </a:rPr>
                        <a:t>add</a:t>
                      </a:r>
                      <a:pPr indent="0" marL="0">
                        <a:buNone/>
                      </a:pPr>
                      <a:r>
                        <a:rPr lang="en-US" sz="1400" dirty="0">
                          <a:solidFill>
                            <a:schemeClr val="tx1"/>
                          </a:solidFill>
                        </a:rPr>
                        <a:t> throws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allowed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default choice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7315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collect(Collectors.toUnmodifiableList())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unmodifiable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rejected</a:t>
                      </a:r>
                      <a:pPr indent="0" marL="0">
                        <a:buNone/>
                      </a:pPr>
                      <a:r>
                        <a:rPr lang="en-US" sz="1400" dirty="0">
                          <a:solidFill>
                            <a:schemeClr val="tx1"/>
                          </a:solidFill>
                        </a:rPr>
                        <a:t> (NPE)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nulls allowed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5" name="toList-warning"/>
          <p:cNvSpPr/>
          <p:nvPr/>
        </p:nvSpPr>
        <p:spPr>
          <a:xfrm>
            <a:off x="548640" y="4754880"/>
            <a:ext cx="11091672" cy="1280160"/>
          </a:xfrm>
          <a:prstGeom prst="roundRect">
            <a:avLst>
              <a:gd name="adj" fmla="val 8571"/>
            </a:avLst>
          </a:prstGeom>
          <a:solidFill>
            <a:schemeClr val="tx2"/>
          </a:solidFill>
          <a:ln/>
        </p:spPr>
      </p:sp>
      <p:sp>
        <p:nvSpPr>
          <p:cNvPr id="6" name="badge-bg"/>
          <p:cNvSpPr/>
          <p:nvPr/>
        </p:nvSpPr>
        <p:spPr>
          <a:xfrm>
            <a:off x="822960" y="5029200"/>
            <a:ext cx="731520" cy="731520"/>
          </a:xfrm>
          <a:prstGeom prst="ellipse">
            <a:avLst/>
          </a:prstGeom>
          <a:solidFill>
            <a:schemeClr val="accent2"/>
          </a:solidFill>
          <a:ln/>
        </p:spPr>
      </p:sp>
      <p:pic>
        <p:nvPicPr>
          <p:cNvPr id="7" name="Image 0" descr="FaExclamationTriangle">    </p:cNvPr>
          <p:cNvPicPr>
            <a:picLocks noChangeAspect="1"/>
          </p:cNvPicPr>
          <p:nvPr/>
        </p:nvPicPr>
        <p:blipFill>
          <a:blip r:embed="rId1"/>
          <a:stretch>
            <a:fillRect/>
          </a:stretch>
        </p:blipFill>
        <p:spPr>
          <a:xfrm>
            <a:off x="1020470" y="5226710"/>
            <a:ext cx="336499" cy="336499"/>
          </a:xfrm>
          <a:prstGeom prst="rect">
            <a:avLst/>
          </a:prstGeom>
        </p:spPr>
      </p:pic>
      <p:sp>
        <p:nvSpPr>
          <p:cNvPr id="8" name="Text 3"/>
          <p:cNvSpPr txBox="1"/>
          <p:nvPr/>
        </p:nvSpPr>
        <p:spPr>
          <a:xfrm>
            <a:off x="1828800" y="4754880"/>
            <a:ext cx="9784080" cy="1280160"/>
          </a:xfrm>
          <a:prstGeom prst="rect">
            <a:avLst/>
          </a:prstGeom>
          <a:noFill/>
          <a:ln/>
        </p:spPr>
        <p:txBody>
          <a:bodyPr wrap="square" lIns="0" tIns="0" rIns="0" bIns="0" rtlCol="0" anchor="ctr"/>
          <a:lstStyle/>
          <a:p>
            <a:pPr indent="0" marL="0">
              <a:buNone/>
            </a:pPr>
            <a:r>
              <a:rPr lang="en-US" sz="1900" dirty="0">
                <a:solidFill>
                  <a:schemeClr val="bg1"/>
                </a:solidFill>
              </a:rPr>
              <a:t>Accepting IntelliJ's suggestion can </a:t>
            </a:r>
            <a:pPr indent="0" marL="0">
              <a:buNone/>
            </a:pPr>
            <a:r>
              <a:rPr lang="en-US" sz="1900" b="1" dirty="0">
                <a:solidFill>
                  <a:schemeClr val="bg1"/>
                </a:solidFill>
              </a:rPr>
              <a:t>break</a:t>
            </a:r>
            <a:pPr indent="0" marL="0">
              <a:buNone/>
            </a:pPr>
            <a:r>
              <a:rPr lang="en-US" sz="1900" dirty="0">
                <a:solidFill>
                  <a:schemeClr val="bg1"/>
                </a:solidFill>
              </a:rPr>
              <a:t> code that calls </a:t>
            </a:r>
            <a:pPr indent="0" marL="0">
              <a:buNone/>
            </a:pPr>
            <a:r>
              <a:rPr lang="en-US" sz="1900" dirty="0">
                <a:solidFill>
                  <a:schemeClr val="accent3"/>
                </a:solidFill>
                <a:latin typeface="Courier New" pitchFamily="34" charset="0"/>
                <a:ea typeface="Courier New" pitchFamily="34" charset="-122"/>
                <a:cs typeface="Courier New" pitchFamily="34" charset="-120"/>
              </a:rPr>
              <a:t>add</a:t>
            </a:r>
            <a:pPr indent="0" marL="0">
              <a:buNone/>
            </a:pPr>
            <a:r>
              <a:rPr lang="en-US" sz="1900" dirty="0">
                <a:solidFill>
                  <a:schemeClr val="bg1"/>
                </a:solidFill>
              </a:rPr>
              <a:t> on the result of </a:t>
            </a:r>
            <a:pPr indent="0" marL="0">
              <a:buNone/>
            </a:pPr>
            <a:r>
              <a:rPr lang="en-US" sz="1900" dirty="0">
                <a:solidFill>
                  <a:schemeClr val="accent3"/>
                </a:solidFill>
                <a:latin typeface="Courier New" pitchFamily="34" charset="0"/>
                <a:ea typeface="Courier New" pitchFamily="34" charset="-122"/>
                <a:cs typeface="Courier New" pitchFamily="34" charset="-120"/>
              </a:rPr>
              <a:t>collect(Collectors.toList())</a:t>
            </a:r>
            <a:pPr indent="0" marL="0">
              <a:buNone/>
            </a:pPr>
            <a:r>
              <a:rPr lang="en-US" sz="1900" dirty="0">
                <a:solidFill>
                  <a:schemeClr val="bg1"/>
                </a:solidFill>
              </a:rPr>
              <a:t>.</a:t>
            </a:r>
            <a:endParaRPr lang="en-US" sz="19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Collectors: grouping</a:t>
            </a:r>
            <a:endParaRPr lang="en-US" sz="34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754880"/>
                <a:gridCol w="3291840"/>
                <a:gridCol w="3044952"/>
              </a:tblGrid>
              <a:tr h="640080">
                <a:tc>
                  <a:txBody>
                    <a:bodyPr/>
                    <a:lstStyle/>
                    <a:p>
                      <a:pPr indent="0" marL="0">
                        <a:buNone/>
                      </a:pPr>
                      <a:r>
                        <a:rPr lang="en-US" sz="1400" b="1" dirty="0">
                          <a:solidFill>
                            <a:schemeClr val="bg1"/>
                          </a:solidFill>
                        </a:rPr>
                        <a:t>Collector</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does</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 on the course data</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groupingBy(key)</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Map&lt;key, List&lt;…&gt;&gt;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customer id → list of their orders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groupingBy(key, counting())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group and count each group</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{1=2, 2=2, 3=1}</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groupingBy(key, summingDouble(…))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group and sum a value per group</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{1=20.5, 2=13.0, 3=5.5}</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groupingBy(key, mapping(f, toList()))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group and transform each element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{1=[1, 2], 2=[3, 4], 3=[5]}</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grouping-code-bg"/>
          <p:cNvSpPr/>
          <p:nvPr/>
        </p:nvSpPr>
        <p:spPr>
          <a:xfrm>
            <a:off x="548640" y="4937760"/>
            <a:ext cx="11091672" cy="1005840"/>
          </a:xfrm>
          <a:prstGeom prst="roundRect">
            <a:avLst>
              <a:gd name="adj" fmla="val 9091"/>
            </a:avLst>
          </a:prstGeom>
          <a:solidFill>
            <a:schemeClr val="tx1"/>
          </a:solidFill>
          <a:ln/>
        </p:spPr>
      </p:sp>
      <p:sp>
        <p:nvSpPr>
          <p:cNvPr id="6" name="grouping-code"/>
          <p:cNvSpPr txBox="1"/>
          <p:nvPr/>
        </p:nvSpPr>
        <p:spPr>
          <a:xfrm>
            <a:off x="731520" y="5047488"/>
            <a:ext cx="10725912" cy="78638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orders.stream().collect(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groupingBy(Order::customerId, summingDouble(Order::total)));   // {1=20.5, 2=13.0, 3=5.5}</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Collectors: more</a:t>
            </a:r>
            <a:endParaRPr lang="en-US" sz="34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754880"/>
                <a:gridCol w="3474720"/>
                <a:gridCol w="2862072"/>
              </a:tblGrid>
              <a:tr h="640080">
                <a:tc>
                  <a:txBody>
                    <a:bodyPr/>
                    <a:lstStyle/>
                    <a:p>
                      <a:pPr indent="0" marL="0">
                        <a:buNone/>
                      </a:pPr>
                      <a:r>
                        <a:rPr lang="en-US" sz="1400" b="1" dirty="0">
                          <a:solidFill>
                            <a:schemeClr val="bg1"/>
                          </a:solidFill>
                        </a:rPr>
                        <a:t>Collector</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does</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 on the course data</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partitioningBy(Order::paid, counting())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exactly two groups: </a:t>
                      </a:r>
                      <a:pPr indent="0" marL="0">
                        <a:buNone/>
                      </a:pPr>
                      <a:r>
                        <a:rPr lang="en-US" sz="1400" dirty="0">
                          <a:solidFill>
                            <a:schemeClr val="tx2"/>
                          </a:solidFill>
                          <a:latin typeface="Courier New" pitchFamily="34" charset="0"/>
                          <a:ea typeface="Courier New" pitchFamily="34" charset="-122"/>
                          <a:cs typeface="Courier New" pitchFamily="34" charset="-120"/>
                        </a:rPr>
                        <a:t>false</a:t>
                      </a:r>
                      <a:pPr indent="0" marL="0">
                        <a:buNone/>
                      </a:pPr>
                      <a:r>
                        <a:rPr lang="en-US" sz="1400" dirty="0">
                          <a:solidFill>
                            <a:schemeClr val="tx1"/>
                          </a:solidFill>
                        </a:rPr>
                        <a:t> and </a:t>
                      </a:r>
                      <a:pPr indent="0" marL="0">
                        <a:buNone/>
                      </a:pPr>
                      <a:r>
                        <a:rPr lang="en-US" sz="1400" dirty="0">
                          <a:solidFill>
                            <a:schemeClr val="tx2"/>
                          </a:solidFill>
                          <a:latin typeface="Courier New" pitchFamily="34" charset="0"/>
                          <a:ea typeface="Courier New" pitchFamily="34" charset="-122"/>
                          <a:cs typeface="Courier New" pitchFamily="34" charset="-120"/>
                        </a:rPr>
                        <a:t>true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{false=2, true=3}</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toMap(key, value, Integer::sum)</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build a </a:t>
                      </a:r>
                      <a:pPr indent="0" marL="0">
                        <a:buNone/>
                      </a:pPr>
                      <a:r>
                        <a:rPr lang="en-US" sz="1400" dirty="0">
                          <a:solidFill>
                            <a:schemeClr val="tx2"/>
                          </a:solidFill>
                          <a:latin typeface="Courier New" pitchFamily="34" charset="0"/>
                          <a:ea typeface="Courier New" pitchFamily="34" charset="-122"/>
                          <a:cs typeface="Courier New" pitchFamily="34" charset="-120"/>
                        </a:rPr>
                        <a:t>Map</a:t>
                      </a:r>
                      <a:pPr indent="0" marL="0">
                        <a:buNone/>
                      </a:pPr>
                      <a:r>
                        <a:rPr lang="en-US" sz="1400" dirty="0">
                          <a:solidFill>
                            <a:schemeClr val="tx1"/>
                          </a:solidFill>
                        </a:rPr>
                        <a:t>; merge function for duplicate keys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quantity per article id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summarizingDouble(OrderLine::total)</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count, sum, min, average, max in one pass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count=18, sum=39.0, …</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64008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teeing(c1, c2, merger)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two collectors over one stream, combined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5 orders, 39.0</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tomap-warning"/>
          <p:cNvSpPr/>
          <p:nvPr/>
        </p:nvSpPr>
        <p:spPr>
          <a:xfrm>
            <a:off x="548640" y="4937760"/>
            <a:ext cx="11091672" cy="1097280"/>
          </a:xfrm>
          <a:prstGeom prst="roundRect">
            <a:avLst>
              <a:gd name="adj" fmla="val 10000"/>
            </a:avLst>
          </a:prstGeom>
          <a:solidFill>
            <a:schemeClr val="tx2"/>
          </a:solidFill>
          <a:ln/>
        </p:spPr>
      </p:sp>
      <p:sp>
        <p:nvSpPr>
          <p:cNvPr id="6" name="Text 2"/>
          <p:cNvSpPr txBox="1"/>
          <p:nvPr/>
        </p:nvSpPr>
        <p:spPr>
          <a:xfrm>
            <a:off x="822960" y="4937760"/>
            <a:ext cx="10543032" cy="1097280"/>
          </a:xfrm>
          <a:prstGeom prst="rect">
            <a:avLst/>
          </a:prstGeom>
          <a:noFill/>
          <a:ln/>
        </p:spPr>
        <p:txBody>
          <a:bodyPr wrap="square" lIns="0" tIns="0" rIns="0" bIns="0" rtlCol="0" anchor="ctr"/>
          <a:lstStyle/>
          <a:p>
            <a:pPr indent="0" marL="0">
              <a:buNone/>
            </a:pPr>
            <a:r>
              <a:rPr lang="en-US" sz="1600" dirty="0">
                <a:solidFill>
                  <a:schemeClr val="accent3"/>
                </a:solidFill>
                <a:latin typeface="Courier New" pitchFamily="34" charset="0"/>
                <a:ea typeface="Courier New" pitchFamily="34" charset="-122"/>
                <a:cs typeface="Courier New" pitchFamily="34" charset="-120"/>
              </a:rPr>
              <a:t>toMap</a:t>
            </a:r>
            <a:pPr indent="0" marL="0">
              <a:buNone/>
            </a:pPr>
            <a:r>
              <a:rPr lang="en-US" sz="1600" dirty="0">
                <a:solidFill>
                  <a:schemeClr val="bg1"/>
                </a:solidFill>
              </a:rPr>
              <a:t> without a merge function throws </a:t>
            </a:r>
            <a:pPr indent="0" marL="0">
              <a:buNone/>
            </a:pPr>
            <a:r>
              <a:rPr lang="en-US" sz="1600" dirty="0">
                <a:solidFill>
                  <a:schemeClr val="accent3"/>
                </a:solidFill>
                <a:latin typeface="Courier New" pitchFamily="34" charset="0"/>
                <a:ea typeface="Courier New" pitchFamily="34" charset="-122"/>
                <a:cs typeface="Courier New" pitchFamily="34" charset="-120"/>
              </a:rPr>
              <a:t>IllegalStateException</a:t>
            </a:r>
            <a:pPr indent="0" marL="0">
              <a:buNone/>
            </a:pPr>
            <a:r>
              <a:rPr lang="en-US" sz="1600" dirty="0">
                <a:solidFill>
                  <a:schemeClr val="bg1"/>
                </a:solidFill>
              </a:rPr>
              <a:t> on a duplicate key:
</a:t>
            </a:r>
            <a:pPr indent="0" marL="0">
              <a:buNone/>
            </a:pPr>
            <a:r>
              <a:rPr lang="en-US" sz="1600" dirty="0">
                <a:solidFill>
                  <a:schemeClr val="accent3"/>
                </a:solidFill>
                <a:latin typeface="Courier New" pitchFamily="34" charset="0"/>
                <a:ea typeface="Courier New" pitchFamily="34" charset="-122"/>
                <a:cs typeface="Courier New" pitchFamily="34" charset="-120"/>
              </a:rPr>
              <a:t>Duplicate key 1 (attempted merging values 1 and 1)</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Yes/no questions, sorting and reduce</a:t>
            </a:r>
            <a:endParaRPr lang="en-US" sz="3400" dirty="0"/>
          </a:p>
        </p:txBody>
      </p:sp>
      <p:sp>
        <p:nvSpPr>
          <p:cNvPr id="4" name="match-card-0"/>
          <p:cNvSpPr/>
          <p:nvPr/>
        </p:nvSpPr>
        <p:spPr>
          <a:xfrm>
            <a:off x="548640" y="1554480"/>
            <a:ext cx="1691640" cy="2286000"/>
          </a:xfrm>
          <a:prstGeom prst="roundRect">
            <a:avLst>
              <a:gd name="adj" fmla="val 6486"/>
            </a:avLst>
          </a:prstGeom>
          <a:solidFill>
            <a:schemeClr val="bg2"/>
          </a:solidFill>
          <a:ln/>
        </p:spPr>
      </p:sp>
      <p:sp>
        <p:nvSpPr>
          <p:cNvPr id="5" name="Text 2"/>
          <p:cNvSpPr txBox="1"/>
          <p:nvPr/>
        </p:nvSpPr>
        <p:spPr>
          <a:xfrm>
            <a:off x="731520" y="1691640"/>
            <a:ext cx="1463040" cy="365760"/>
          </a:xfrm>
          <a:prstGeom prst="rect">
            <a:avLst/>
          </a:prstGeom>
          <a:noFill/>
          <a:ln/>
        </p:spPr>
        <p:txBody>
          <a:bodyPr wrap="square" lIns="0" tIns="0" rIns="0" bIns="0" rtlCol="0" anchor="t"/>
          <a:lstStyle/>
          <a:p>
            <a:pPr indent="0" marL="0">
              <a:buNone/>
            </a:pPr>
            <a:r>
              <a:rPr lang="en-US" sz="1600" b="1" dirty="0">
                <a:solidFill>
                  <a:schemeClr val="accent1"/>
                </a:solidFill>
              </a:rPr>
              <a:t>anyMatch</a:t>
            </a:r>
            <a:endParaRPr lang="en-US" sz="1600" dirty="0"/>
          </a:p>
        </p:txBody>
      </p:sp>
      <p:sp>
        <p:nvSpPr>
          <p:cNvPr id="6" name="Text 3"/>
          <p:cNvSpPr txBox="1"/>
          <p:nvPr/>
        </p:nvSpPr>
        <p:spPr>
          <a:xfrm>
            <a:off x="731520" y="2148840"/>
            <a:ext cx="1371600" cy="365760"/>
          </a:xfrm>
          <a:prstGeom prst="rect">
            <a:avLst/>
          </a:prstGeom>
          <a:noFill/>
          <a:ln/>
        </p:spPr>
        <p:txBody>
          <a:bodyPr wrap="square" lIns="0" tIns="0" rIns="0" bIns="0" rtlCol="0" anchor="t"/>
          <a:lstStyle/>
          <a:p>
            <a:pPr indent="0" marL="0">
              <a:buNone/>
            </a:pPr>
            <a:r>
              <a:rPr lang="en-US" sz="1500" dirty="0">
                <a:solidFill>
                  <a:schemeClr val="tx1"/>
                </a:solidFill>
              </a:rPr>
              <a:t>at least one?</a:t>
            </a:r>
            <a:endParaRPr lang="en-US" sz="1500" dirty="0"/>
          </a:p>
        </p:txBody>
      </p:sp>
      <p:sp>
        <p:nvSpPr>
          <p:cNvPr id="7" name="Text 4"/>
          <p:cNvSpPr txBox="1"/>
          <p:nvPr/>
        </p:nvSpPr>
        <p:spPr>
          <a:xfrm>
            <a:off x="731520" y="2560320"/>
            <a:ext cx="1371600" cy="640080"/>
          </a:xfrm>
          <a:prstGeom prst="rect">
            <a:avLst/>
          </a:prstGeom>
          <a:noFill/>
          <a:ln/>
        </p:spPr>
        <p:txBody>
          <a:bodyPr wrap="square" lIns="0" tIns="0" rIns="0" bIns="0" rtlCol="0" anchor="t"/>
          <a:lstStyle/>
          <a:p>
            <a:pPr indent="0" marL="0">
              <a:buNone/>
            </a:pPr>
            <a:r>
              <a:rPr lang="en-US" sz="1400" dirty="0">
                <a:solidFill>
                  <a:schemeClr val="tx2"/>
                </a:solidFill>
              </a:rPr>
              <a:t>stops at first hit</a:t>
            </a:r>
            <a:endParaRPr lang="en-US" sz="1400" dirty="0"/>
          </a:p>
        </p:txBody>
      </p:sp>
      <p:sp>
        <p:nvSpPr>
          <p:cNvPr id="8" name="Text 5"/>
          <p:cNvSpPr txBox="1"/>
          <p:nvPr/>
        </p:nvSpPr>
        <p:spPr>
          <a:xfrm>
            <a:off x="731520" y="3291840"/>
            <a:ext cx="1371600" cy="365760"/>
          </a:xfrm>
          <a:prstGeom prst="rect">
            <a:avLst/>
          </a:prstGeom>
          <a:noFill/>
          <a:ln/>
        </p:spPr>
        <p:txBody>
          <a:bodyPr wrap="square" lIns="0" tIns="0" rIns="0" bIns="0" rtlCol="0" anchor="t"/>
          <a:lstStyle/>
          <a:p>
            <a:pPr indent="0" marL="0">
              <a:buNone/>
            </a:pPr>
            <a:r>
              <a:rPr lang="en-US" sz="1500" dirty="0">
                <a:solidFill>
                  <a:schemeClr val="tx1"/>
                </a:solidFill>
              </a:rPr>
              <a:t>empty: </a:t>
            </a:r>
            <a:pPr indent="0" marL="0">
              <a:buNone/>
            </a:pPr>
            <a:r>
              <a:rPr lang="en-US" sz="1500" b="1" dirty="0">
                <a:solidFill>
                  <a:schemeClr val="tx1"/>
                </a:solidFill>
              </a:rPr>
              <a:t>false</a:t>
            </a:r>
            <a:endParaRPr lang="en-US" sz="1500" dirty="0"/>
          </a:p>
        </p:txBody>
      </p:sp>
      <p:sp>
        <p:nvSpPr>
          <p:cNvPr id="9" name="match-card-1"/>
          <p:cNvSpPr/>
          <p:nvPr/>
        </p:nvSpPr>
        <p:spPr>
          <a:xfrm>
            <a:off x="2350008" y="1554480"/>
            <a:ext cx="1691640" cy="2286000"/>
          </a:xfrm>
          <a:prstGeom prst="roundRect">
            <a:avLst>
              <a:gd name="adj" fmla="val 6486"/>
            </a:avLst>
          </a:prstGeom>
          <a:solidFill>
            <a:schemeClr val="bg2"/>
          </a:solidFill>
          <a:ln/>
        </p:spPr>
      </p:sp>
      <p:sp>
        <p:nvSpPr>
          <p:cNvPr id="10" name="Text 7"/>
          <p:cNvSpPr txBox="1"/>
          <p:nvPr/>
        </p:nvSpPr>
        <p:spPr>
          <a:xfrm>
            <a:off x="2532888" y="1691640"/>
            <a:ext cx="1463040" cy="365760"/>
          </a:xfrm>
          <a:prstGeom prst="rect">
            <a:avLst/>
          </a:prstGeom>
          <a:noFill/>
          <a:ln/>
        </p:spPr>
        <p:txBody>
          <a:bodyPr wrap="square" lIns="0" tIns="0" rIns="0" bIns="0" rtlCol="0" anchor="t"/>
          <a:lstStyle/>
          <a:p>
            <a:pPr indent="0" marL="0">
              <a:buNone/>
            </a:pPr>
            <a:r>
              <a:rPr lang="en-US" sz="1600" b="1" dirty="0">
                <a:solidFill>
                  <a:schemeClr val="accent1"/>
                </a:solidFill>
              </a:rPr>
              <a:t>allMatch</a:t>
            </a:r>
            <a:endParaRPr lang="en-US" sz="1600" dirty="0"/>
          </a:p>
        </p:txBody>
      </p:sp>
      <p:sp>
        <p:nvSpPr>
          <p:cNvPr id="11" name="Text 8"/>
          <p:cNvSpPr txBox="1"/>
          <p:nvPr/>
        </p:nvSpPr>
        <p:spPr>
          <a:xfrm>
            <a:off x="2532888" y="2148840"/>
            <a:ext cx="1371600" cy="365760"/>
          </a:xfrm>
          <a:prstGeom prst="rect">
            <a:avLst/>
          </a:prstGeom>
          <a:noFill/>
          <a:ln/>
        </p:spPr>
        <p:txBody>
          <a:bodyPr wrap="square" lIns="0" tIns="0" rIns="0" bIns="0" rtlCol="0" anchor="t"/>
          <a:lstStyle/>
          <a:p>
            <a:pPr indent="0" marL="0">
              <a:buNone/>
            </a:pPr>
            <a:r>
              <a:rPr lang="en-US" sz="1500" dirty="0">
                <a:solidFill>
                  <a:schemeClr val="tx1"/>
                </a:solidFill>
              </a:rPr>
              <a:t>all of them?</a:t>
            </a:r>
            <a:endParaRPr lang="en-US" sz="1500" dirty="0"/>
          </a:p>
        </p:txBody>
      </p:sp>
      <p:sp>
        <p:nvSpPr>
          <p:cNvPr id="12" name="Text 9"/>
          <p:cNvSpPr txBox="1"/>
          <p:nvPr/>
        </p:nvSpPr>
        <p:spPr>
          <a:xfrm>
            <a:off x="2532888" y="2560320"/>
            <a:ext cx="1371600" cy="640080"/>
          </a:xfrm>
          <a:prstGeom prst="rect">
            <a:avLst/>
          </a:prstGeom>
          <a:noFill/>
          <a:ln/>
        </p:spPr>
        <p:txBody>
          <a:bodyPr wrap="square" lIns="0" tIns="0" rIns="0" bIns="0" rtlCol="0" anchor="t"/>
          <a:lstStyle/>
          <a:p>
            <a:pPr indent="0" marL="0">
              <a:buNone/>
            </a:pPr>
            <a:r>
              <a:rPr lang="en-US" sz="1400" dirty="0">
                <a:solidFill>
                  <a:schemeClr val="tx2"/>
                </a:solidFill>
              </a:rPr>
              <a:t>stops at first miss</a:t>
            </a:r>
            <a:endParaRPr lang="en-US" sz="1400" dirty="0"/>
          </a:p>
        </p:txBody>
      </p:sp>
      <p:sp>
        <p:nvSpPr>
          <p:cNvPr id="13" name="Text 10"/>
          <p:cNvSpPr txBox="1"/>
          <p:nvPr/>
        </p:nvSpPr>
        <p:spPr>
          <a:xfrm>
            <a:off x="2532888" y="3291840"/>
            <a:ext cx="1371600" cy="365760"/>
          </a:xfrm>
          <a:prstGeom prst="rect">
            <a:avLst/>
          </a:prstGeom>
          <a:noFill/>
          <a:ln/>
        </p:spPr>
        <p:txBody>
          <a:bodyPr wrap="square" lIns="0" tIns="0" rIns="0" bIns="0" rtlCol="0" anchor="t"/>
          <a:lstStyle/>
          <a:p>
            <a:pPr indent="0" marL="0">
              <a:buNone/>
            </a:pPr>
            <a:r>
              <a:rPr lang="en-US" sz="1500" dirty="0">
                <a:solidFill>
                  <a:schemeClr val="tx1"/>
                </a:solidFill>
              </a:rPr>
              <a:t>empty: </a:t>
            </a:r>
            <a:pPr indent="0" marL="0">
              <a:buNone/>
            </a:pPr>
            <a:r>
              <a:rPr lang="en-US" sz="1500" b="1" dirty="0">
                <a:solidFill>
                  <a:schemeClr val="tx1"/>
                </a:solidFill>
              </a:rPr>
              <a:t>true</a:t>
            </a:r>
            <a:endParaRPr lang="en-US" sz="1500" dirty="0"/>
          </a:p>
        </p:txBody>
      </p:sp>
      <p:sp>
        <p:nvSpPr>
          <p:cNvPr id="14" name="match-card-2"/>
          <p:cNvSpPr/>
          <p:nvPr/>
        </p:nvSpPr>
        <p:spPr>
          <a:xfrm>
            <a:off x="4151376" y="1554480"/>
            <a:ext cx="1691640" cy="2286000"/>
          </a:xfrm>
          <a:prstGeom prst="roundRect">
            <a:avLst>
              <a:gd name="adj" fmla="val 6486"/>
            </a:avLst>
          </a:prstGeom>
          <a:solidFill>
            <a:schemeClr val="bg2"/>
          </a:solidFill>
          <a:ln/>
        </p:spPr>
      </p:sp>
      <p:sp>
        <p:nvSpPr>
          <p:cNvPr id="15" name="Text 12"/>
          <p:cNvSpPr txBox="1"/>
          <p:nvPr/>
        </p:nvSpPr>
        <p:spPr>
          <a:xfrm>
            <a:off x="4334256" y="1691640"/>
            <a:ext cx="1463040" cy="365760"/>
          </a:xfrm>
          <a:prstGeom prst="rect">
            <a:avLst/>
          </a:prstGeom>
          <a:noFill/>
          <a:ln/>
        </p:spPr>
        <p:txBody>
          <a:bodyPr wrap="square" lIns="0" tIns="0" rIns="0" bIns="0" rtlCol="0" anchor="t"/>
          <a:lstStyle/>
          <a:p>
            <a:pPr indent="0" marL="0">
              <a:buNone/>
            </a:pPr>
            <a:r>
              <a:rPr lang="en-US" sz="1600" b="1" dirty="0">
                <a:solidFill>
                  <a:schemeClr val="accent1"/>
                </a:solidFill>
              </a:rPr>
              <a:t>noneMatch</a:t>
            </a:r>
            <a:endParaRPr lang="en-US" sz="1600" dirty="0"/>
          </a:p>
        </p:txBody>
      </p:sp>
      <p:sp>
        <p:nvSpPr>
          <p:cNvPr id="16" name="Text 13"/>
          <p:cNvSpPr txBox="1"/>
          <p:nvPr/>
        </p:nvSpPr>
        <p:spPr>
          <a:xfrm>
            <a:off x="4334256" y="2148840"/>
            <a:ext cx="1371600" cy="365760"/>
          </a:xfrm>
          <a:prstGeom prst="rect">
            <a:avLst/>
          </a:prstGeom>
          <a:noFill/>
          <a:ln/>
        </p:spPr>
        <p:txBody>
          <a:bodyPr wrap="square" lIns="0" tIns="0" rIns="0" bIns="0" rtlCol="0" anchor="t"/>
          <a:lstStyle/>
          <a:p>
            <a:pPr indent="0" marL="0">
              <a:buNone/>
            </a:pPr>
            <a:r>
              <a:rPr lang="en-US" sz="1500" dirty="0">
                <a:solidFill>
                  <a:schemeClr val="tx1"/>
                </a:solidFill>
              </a:rPr>
              <a:t>none of them?</a:t>
            </a:r>
            <a:endParaRPr lang="en-US" sz="1500" dirty="0"/>
          </a:p>
        </p:txBody>
      </p:sp>
      <p:sp>
        <p:nvSpPr>
          <p:cNvPr id="17" name="Text 14"/>
          <p:cNvSpPr txBox="1"/>
          <p:nvPr/>
        </p:nvSpPr>
        <p:spPr>
          <a:xfrm>
            <a:off x="4334256" y="2560320"/>
            <a:ext cx="1371600" cy="640080"/>
          </a:xfrm>
          <a:prstGeom prst="rect">
            <a:avLst/>
          </a:prstGeom>
          <a:noFill/>
          <a:ln/>
        </p:spPr>
        <p:txBody>
          <a:bodyPr wrap="square" lIns="0" tIns="0" rIns="0" bIns="0" rtlCol="0" anchor="t"/>
          <a:lstStyle/>
          <a:p>
            <a:pPr indent="0" marL="0">
              <a:buNone/>
            </a:pPr>
            <a:r>
              <a:rPr lang="en-US" sz="1400" dirty="0">
                <a:solidFill>
                  <a:schemeClr val="tx2"/>
                </a:solidFill>
              </a:rPr>
              <a:t>stops at first miss</a:t>
            </a:r>
            <a:endParaRPr lang="en-US" sz="1400" dirty="0"/>
          </a:p>
        </p:txBody>
      </p:sp>
      <p:sp>
        <p:nvSpPr>
          <p:cNvPr id="18" name="Text 15"/>
          <p:cNvSpPr txBox="1"/>
          <p:nvPr/>
        </p:nvSpPr>
        <p:spPr>
          <a:xfrm>
            <a:off x="4334256" y="3291840"/>
            <a:ext cx="1371600" cy="365760"/>
          </a:xfrm>
          <a:prstGeom prst="rect">
            <a:avLst/>
          </a:prstGeom>
          <a:noFill/>
          <a:ln/>
        </p:spPr>
        <p:txBody>
          <a:bodyPr wrap="square" lIns="0" tIns="0" rIns="0" bIns="0" rtlCol="0" anchor="t"/>
          <a:lstStyle/>
          <a:p>
            <a:pPr indent="0" marL="0">
              <a:buNone/>
            </a:pPr>
            <a:r>
              <a:rPr lang="en-US" sz="1500" dirty="0">
                <a:solidFill>
                  <a:schemeClr val="tx1"/>
                </a:solidFill>
              </a:rPr>
              <a:t>empty: </a:t>
            </a:r>
            <a:pPr indent="0" marL="0">
              <a:buNone/>
            </a:pPr>
            <a:r>
              <a:rPr lang="en-US" sz="1500" b="1" dirty="0">
                <a:solidFill>
                  <a:schemeClr val="tx1"/>
                </a:solidFill>
              </a:rPr>
              <a:t>true</a:t>
            </a:r>
            <a:endParaRPr lang="en-US" sz="1500" dirty="0"/>
          </a:p>
        </p:txBody>
      </p:sp>
      <p:sp>
        <p:nvSpPr>
          <p:cNvPr id="19" name="sorted-code-bg"/>
          <p:cNvSpPr/>
          <p:nvPr/>
        </p:nvSpPr>
        <p:spPr>
          <a:xfrm>
            <a:off x="6035040" y="1554480"/>
            <a:ext cx="5605272" cy="2286000"/>
          </a:xfrm>
          <a:prstGeom prst="roundRect">
            <a:avLst>
              <a:gd name="adj" fmla="val 4000"/>
            </a:avLst>
          </a:prstGeom>
          <a:solidFill>
            <a:schemeClr val="tx1"/>
          </a:solidFill>
          <a:ln/>
        </p:spPr>
      </p:sp>
      <p:sp>
        <p:nvSpPr>
          <p:cNvPr id="20" name="sorted-code"/>
          <p:cNvSpPr txBox="1"/>
          <p:nvPr/>
        </p:nvSpPr>
        <p:spPr>
          <a:xfrm>
            <a:off x="6217920" y="1664208"/>
            <a:ext cx="5239512" cy="206654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orderLines.stream()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.sorted(comparingDouble(OrderLine::total)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.reversed()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.thenComparing(OrderLine::articleId))</a:t>
            </a:r>
            <a:endParaRPr lang="en-US" sz="1400" dirty="0"/>
          </a:p>
        </p:txBody>
      </p:sp>
      <p:sp>
        <p:nvSpPr>
          <p:cNvPr id="21" name="reduce-code-bg"/>
          <p:cNvSpPr/>
          <p:nvPr/>
        </p:nvSpPr>
        <p:spPr>
          <a:xfrm>
            <a:off x="548640" y="4114800"/>
            <a:ext cx="6492240" cy="1280160"/>
          </a:xfrm>
          <a:prstGeom prst="roundRect">
            <a:avLst>
              <a:gd name="adj" fmla="val 7143"/>
            </a:avLst>
          </a:prstGeom>
          <a:solidFill>
            <a:schemeClr val="tx1"/>
          </a:solidFill>
          <a:ln/>
        </p:spPr>
      </p:sp>
      <p:sp>
        <p:nvSpPr>
          <p:cNvPr id="22" name="reduce-code"/>
          <p:cNvSpPr txBox="1"/>
          <p:nvPr/>
        </p:nvSpPr>
        <p:spPr>
          <a:xfrm>
            <a:off x="731520" y="4224528"/>
            <a:ext cx="6126480" cy="1060704"/>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double total = orderLines.stream()</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.map(OrderLine::total)</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.reduce(0.0, Double::sum);   // 39.0</a:t>
            </a:r>
            <a:endParaRPr lang="en-US" sz="1500" dirty="0"/>
          </a:p>
        </p:txBody>
      </p:sp>
      <p:sp>
        <p:nvSpPr>
          <p:cNvPr id="23" name="reduce-note"/>
          <p:cNvSpPr/>
          <p:nvPr/>
        </p:nvSpPr>
        <p:spPr>
          <a:xfrm>
            <a:off x="7223760" y="4114800"/>
            <a:ext cx="4416552" cy="1920240"/>
          </a:xfrm>
          <a:prstGeom prst="roundRect">
            <a:avLst>
              <a:gd name="adj" fmla="val 5714"/>
            </a:avLst>
          </a:prstGeom>
          <a:solidFill>
            <a:schemeClr val="bg2"/>
          </a:solidFill>
          <a:ln/>
        </p:spPr>
      </p:sp>
      <p:sp>
        <p:nvSpPr>
          <p:cNvPr id="24" name="Text 21"/>
          <p:cNvSpPr txBox="1"/>
          <p:nvPr/>
        </p:nvSpPr>
        <p:spPr>
          <a:xfrm>
            <a:off x="7452360" y="4251960"/>
            <a:ext cx="3977640" cy="1645920"/>
          </a:xfrm>
          <a:prstGeom prst="rect">
            <a:avLst/>
          </a:prstGeom>
          <a:noFill/>
          <a:ln/>
        </p:spPr>
        <p:txBody>
          <a:bodyPr wrap="square" lIns="0" tIns="0" rIns="0" bIns="0" rtlCol="0" anchor="t"/>
          <a:lstStyle/>
          <a:p>
            <a:pPr indent="0" marL="0">
              <a:buNone/>
            </a:pPr>
            <a:r>
              <a:rPr lang="en-US" sz="1500" dirty="0">
                <a:solidFill>
                  <a:schemeClr val="tx2"/>
                </a:solidFill>
                <a:latin typeface="Courier New" pitchFamily="34" charset="0"/>
                <a:ea typeface="Courier New" pitchFamily="34" charset="-122"/>
                <a:cs typeface="Courier New" pitchFamily="34" charset="-120"/>
              </a:rPr>
              <a:t>reduce</a:t>
            </a:r>
            <a:pPr indent="0" marL="0">
              <a:buNone/>
            </a:pPr>
            <a:r>
              <a:rPr lang="en-US" sz="1500" dirty="0">
                <a:solidFill>
                  <a:schemeClr val="tx1"/>
                </a:solidFill>
              </a:rPr>
              <a:t> is the general fold. Prefer </a:t>
            </a:r>
            <a:pPr indent="0" marL="0">
              <a:buNone/>
            </a:pPr>
            <a:r>
              <a:rPr lang="en-US" sz="1500" dirty="0">
                <a:solidFill>
                  <a:schemeClr val="tx2"/>
                </a:solidFill>
                <a:latin typeface="Courier New" pitchFamily="34" charset="0"/>
                <a:ea typeface="Courier New" pitchFamily="34" charset="-122"/>
                <a:cs typeface="Courier New" pitchFamily="34" charset="-120"/>
              </a:rPr>
              <a:t>mapToDouble(…).sum()</a:t>
            </a:r>
            <a:pPr indent="0" marL="0">
              <a:buNone/>
            </a:pPr>
            <a:r>
              <a:rPr lang="en-US" sz="1500" dirty="0">
                <a:solidFill>
                  <a:schemeClr val="tx1"/>
                </a:solidFill>
              </a:rPr>
              <a:t>: shorter, and no boxing.</a:t>
            </a:r>
            <a:endParaRPr lang="en-US" sz="1500" dirty="0"/>
          </a:p>
          <a:p>
            <a:pPr indent="0" marL="0">
              <a:buNone/>
            </a:pPr>
            <a:endParaRPr lang="en-US" sz="1500" dirty="0"/>
          </a:p>
          <a:p>
            <a:pPr indent="0" marL="0">
              <a:buNone/>
            </a:pPr>
            <a:r>
              <a:rPr lang="en-US" sz="1500" dirty="0">
                <a:solidFill>
                  <a:schemeClr val="tx1"/>
                </a:solidFill>
              </a:rPr>
              <a:t>Prefer </a:t>
            </a:r>
            <a:endParaRPr lang="en-US" sz="1500" dirty="0"/>
          </a:p>
          <a:p>
            <a:pPr indent="0" marL="0">
              <a:buNone/>
            </a:pPr>
            <a:r>
              <a:rPr lang="en-US" sz="1500" dirty="0">
                <a:solidFill>
                  <a:schemeClr val="tx2"/>
                </a:solidFill>
                <a:latin typeface="Courier New" pitchFamily="34" charset="0"/>
                <a:ea typeface="Courier New" pitchFamily="34" charset="-122"/>
                <a:cs typeface="Courier New" pitchFamily="34" charset="-120"/>
              </a:rPr>
              <a:t>findFirst()</a:t>
            </a:r>
            <a:pPr indent="0" marL="0">
              <a:buNone/>
            </a:pPr>
            <a:r>
              <a:rPr lang="en-US" sz="1500" dirty="0">
                <a:solidFill>
                  <a:schemeClr val="tx1"/>
                </a:solidFill>
              </a:rPr>
              <a:t> over </a:t>
            </a:r>
            <a:pPr indent="0" marL="0">
              <a:buNone/>
            </a:pPr>
            <a:r>
              <a:rPr lang="en-US" sz="1500" dirty="0">
                <a:solidFill>
                  <a:schemeClr val="tx2"/>
                </a:solidFill>
                <a:latin typeface="Courier New" pitchFamily="34" charset="0"/>
                <a:ea typeface="Courier New" pitchFamily="34" charset="-122"/>
                <a:cs typeface="Courier New" pitchFamily="34" charset="-120"/>
              </a:rPr>
              <a:t>findAny()</a:t>
            </a:r>
            <a:pPr indent="0" marL="0">
              <a:buNone/>
            </a:pPr>
            <a:r>
              <a:rPr lang="en-US" sz="1500" dirty="0">
                <a:solidFill>
                  <a:schemeClr val="tx1"/>
                </a:solidFill>
              </a:rPr>
              <a:t>.</a:t>
            </a:r>
            <a:endParaRPr lang="en-US" sz="1500" dirty="0"/>
          </a:p>
        </p:txBody>
      </p:sp>
      <p:sp>
        <p:nvSpPr>
          <p:cNvPr id="25" name="Text 22"/>
          <p:cNvSpPr txBox="1"/>
          <p:nvPr/>
        </p:nvSpPr>
        <p:spPr>
          <a:xfrm>
            <a:off x="548640" y="5532120"/>
            <a:ext cx="6492240" cy="365760"/>
          </a:xfrm>
          <a:prstGeom prst="rect">
            <a:avLst/>
          </a:prstGeom>
          <a:noFill/>
          <a:ln/>
        </p:spPr>
        <p:txBody>
          <a:bodyPr wrap="square" lIns="0" tIns="0" rIns="0" bIns="0" rtlCol="0" anchor="t"/>
          <a:lstStyle/>
          <a:p>
            <a:pPr indent="0" marL="0">
              <a:buNone/>
            </a:pPr>
            <a:r>
              <a:rPr lang="en-US" sz="1400" dirty="0">
                <a:solidFill>
                  <a:schemeClr val="tx2"/>
                </a:solidFill>
              </a:rPr>
              <a:t>Identity must be neutral (</a:t>
            </a:r>
            <a:pPr indent="0" marL="0">
              <a:buNone/>
            </a:pPr>
            <a:r>
              <a:rPr lang="en-US" sz="1400" dirty="0">
                <a:solidFill>
                  <a:schemeClr val="tx2"/>
                </a:solidFill>
                <a:latin typeface="Courier New" pitchFamily="34" charset="0"/>
                <a:ea typeface="Courier New" pitchFamily="34" charset="-122"/>
                <a:cs typeface="Courier New" pitchFamily="34" charset="-120"/>
              </a:rPr>
              <a:t>0.0</a:t>
            </a:r>
            <a:pPr indent="0" marL="0">
              <a:buNone/>
            </a:pPr>
            <a:r>
              <a:rPr lang="en-US" sz="1400" dirty="0">
                <a:solidFill>
                  <a:schemeClr val="tx2"/>
                </a:solidFill>
              </a:rPr>
              <a:t> for a sum).</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Optional: decide what nothing means</a:t>
            </a:r>
            <a:endParaRPr lang="en-US" sz="34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840480"/>
                <a:gridCol w="2926080"/>
                <a:gridCol w="4325112"/>
              </a:tblGrid>
              <a:tr h="457200">
                <a:tc>
                  <a:txBody>
                    <a:bodyPr/>
                    <a:lstStyle/>
                    <a:p>
                      <a:pPr indent="0" marL="0">
                        <a:buNone/>
                      </a:pPr>
                      <a:r>
                        <a:rPr lang="en-US" sz="1400" b="1" dirty="0">
                          <a:solidFill>
                            <a:schemeClr val="bg1"/>
                          </a:solidFill>
                        </a:rPr>
                        <a:t>Call</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Present</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Empty</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orElse(-1)</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value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a:t>
                      </a:r>
                      <a:pPr indent="0" marL="0">
                        <a:buNone/>
                      </a:pPr>
                      <a:r>
                        <a:rPr lang="en-US" sz="1400" dirty="0">
                          <a:solidFill>
                            <a:schemeClr val="tx1"/>
                          </a:solidFill>
                        </a:rPr>
                        <a:t> (argument always evaluated)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orElseGet(() -&gt; -1)</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value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a:t>
                      </a:r>
                      <a:pPr indent="0" marL="0">
                        <a:buNone/>
                      </a:pPr>
                      <a:r>
                        <a:rPr lang="en-US" sz="1400" dirty="0">
                          <a:solidFill>
                            <a:schemeClr val="tx1"/>
                          </a:solidFill>
                        </a:rPr>
                        <a:t> (supplier only runs when empty)</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orElseThrow(() -&gt; new …)</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value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throws your exception</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orElseThrow()</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value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NoSuchElementException</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ifPresent(consumer)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runs the consumer</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does nothing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map(f)</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Optional</a:t>
                      </a:r>
                      <a:pPr indent="0" marL="0">
                        <a:buNone/>
                      </a:pPr>
                      <a:r>
                        <a:rPr lang="en-US" sz="1400" dirty="0">
                          <a:solidFill>
                            <a:schemeClr val="tx1"/>
                          </a:solidFill>
                        </a:rPr>
                        <a:t> of the result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stays empty</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orelse-null"/>
          <p:cNvSpPr/>
          <p:nvPr/>
        </p:nvSpPr>
        <p:spPr>
          <a:xfrm>
            <a:off x="548640" y="5029200"/>
            <a:ext cx="11091672" cy="1005840"/>
          </a:xfrm>
          <a:prstGeom prst="roundRect">
            <a:avLst>
              <a:gd name="adj" fmla="val 10909"/>
            </a:avLst>
          </a:prstGeom>
          <a:solidFill>
            <a:schemeClr val="tx2"/>
          </a:solidFill>
          <a:ln/>
        </p:spPr>
      </p:sp>
      <p:sp>
        <p:nvSpPr>
          <p:cNvPr id="6" name="Text 2"/>
          <p:cNvSpPr txBox="1"/>
          <p:nvPr/>
        </p:nvSpPr>
        <p:spPr>
          <a:xfrm>
            <a:off x="822960" y="5029200"/>
            <a:ext cx="10543032" cy="1005840"/>
          </a:xfrm>
          <a:prstGeom prst="rect">
            <a:avLst/>
          </a:prstGeom>
          <a:noFill/>
          <a:ln/>
        </p:spPr>
        <p:txBody>
          <a:bodyPr wrap="square" lIns="0" tIns="0" rIns="0" bIns="0" rtlCol="0" anchor="ctr"/>
          <a:lstStyle/>
          <a:p>
            <a:pPr indent="0" marL="0">
              <a:buNone/>
            </a:pPr>
            <a:r>
              <a:rPr lang="en-US" sz="1600" dirty="0">
                <a:solidFill>
                  <a:schemeClr val="accent3"/>
                </a:solidFill>
                <a:latin typeface="Courier New" pitchFamily="34" charset="0"/>
                <a:ea typeface="Courier New" pitchFamily="34" charset="-122"/>
                <a:cs typeface="Courier New" pitchFamily="34" charset="-120"/>
              </a:rPr>
              <a:t>orElse(null)</a:t>
            </a:r>
            <a:pPr indent="0" marL="0">
              <a:buNone/>
            </a:pPr>
            <a:r>
              <a:rPr lang="en-US" sz="1600" dirty="0">
                <a:solidFill>
                  <a:schemeClr val="bg1"/>
                </a:solidFill>
              </a:rPr>
              <a:t> is a smell: it turns the explicit “maybe” back into a </a:t>
            </a:r>
            <a:pPr indent="0" marL="0">
              <a:buNone/>
            </a:pPr>
            <a:r>
              <a:rPr lang="en-US" sz="1600" dirty="0">
                <a:solidFill>
                  <a:schemeClr val="accent3"/>
                </a:solidFill>
                <a:latin typeface="Courier New" pitchFamily="34" charset="0"/>
                <a:ea typeface="Courier New" pitchFamily="34" charset="-122"/>
                <a:cs typeface="Courier New" pitchFamily="34" charset="-120"/>
              </a:rPr>
              <a:t>null</a:t>
            </a:r>
            <a:pPr indent="0" marL="0">
              <a:buNone/>
            </a:pPr>
            <a:r>
              <a:rPr lang="en-US" sz="1600" dirty="0">
                <a:solidFill>
                  <a:schemeClr val="bg1"/>
                </a:solidFill>
              </a:rPr>
              <a:t>. Choose a default, </a:t>
            </a:r>
            <a:pPr indent="0" marL="0">
              <a:buNone/>
            </a:pPr>
            <a:r>
              <a:rPr lang="en-US" sz="1600" dirty="0">
                <a:solidFill>
                  <a:schemeClr val="accent3"/>
                </a:solidFill>
                <a:latin typeface="Courier New" pitchFamily="34" charset="0"/>
                <a:ea typeface="Courier New" pitchFamily="34" charset="-122"/>
                <a:cs typeface="Courier New" pitchFamily="34" charset="-120"/>
              </a:rPr>
              <a:t>orElseThrow</a:t>
            </a:r>
            <a:pPr indent="0" marL="0">
              <a:buNone/>
            </a:pPr>
            <a:r>
              <a:rPr lang="en-US" sz="1600" dirty="0">
                <a:solidFill>
                  <a:schemeClr val="bg1"/>
                </a:solidFill>
              </a:rPr>
              <a:t>, or keep mapping.</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What is new since Java 8</a:t>
            </a:r>
            <a:endParaRPr lang="en-US" sz="34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840480"/>
                <a:gridCol w="1097280"/>
                <a:gridCol w="6153912"/>
              </a:tblGrid>
              <a:tr h="512064">
                <a:tc>
                  <a:txBody>
                    <a:bodyPr/>
                    <a:lstStyle/>
                    <a:p>
                      <a:pPr indent="0" marL="0">
                        <a:buNone/>
                      </a:pPr>
                      <a:r>
                        <a:rPr lang="en-US" sz="1500" b="1" dirty="0">
                          <a:solidFill>
                            <a:schemeClr val="bg1"/>
                          </a:solidFill>
                        </a:rPr>
                        <a:t>Feature</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Since</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it does</a:t>
                      </a:r>
                      <a:endParaRPr lang="en-US" sz="15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12064">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Stream.toList()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16</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shortcut for a list: unmodifiable, </a:t>
                      </a:r>
                      <a:pPr indent="0" marL="0">
                        <a:buNone/>
                      </a:pPr>
                      <a:r>
                        <a:rPr lang="en-US" sz="1500" dirty="0">
                          <a:solidFill>
                            <a:schemeClr val="tx2"/>
                          </a:solidFill>
                          <a:latin typeface="Courier New" pitchFamily="34" charset="0"/>
                          <a:ea typeface="Courier New" pitchFamily="34" charset="-122"/>
                          <a:cs typeface="Courier New" pitchFamily="34" charset="-120"/>
                        </a:rPr>
                        <a:t>null</a:t>
                      </a:r>
                      <a:pPr indent="0" marL="0">
                        <a:buNone/>
                      </a:pPr>
                      <a:r>
                        <a:rPr lang="en-US" sz="1500" dirty="0">
                          <a:solidFill>
                            <a:schemeClr val="tx1"/>
                          </a:solidFill>
                        </a:rPr>
                        <a:t> allowed</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12064">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Stream.ofNullable(x)</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9</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one element, or empty when </a:t>
                      </a:r>
                      <a:pPr indent="0" marL="0">
                        <a:buNone/>
                      </a:pPr>
                      <a:r>
                        <a:rPr lang="en-US" sz="1500" dirty="0">
                          <a:solidFill>
                            <a:schemeClr val="tx2"/>
                          </a:solidFill>
                          <a:latin typeface="Courier New" pitchFamily="34" charset="0"/>
                          <a:ea typeface="Courier New" pitchFamily="34" charset="-122"/>
                          <a:cs typeface="Courier New" pitchFamily="34" charset="-120"/>
                        </a:rPr>
                        <a:t>x</a:t>
                      </a:r>
                      <a:pPr indent="0" marL="0">
                        <a:buNone/>
                      </a:pPr>
                      <a:r>
                        <a:rPr lang="en-US" sz="1500" dirty="0">
                          <a:solidFill>
                            <a:schemeClr val="tx1"/>
                          </a:solidFill>
                        </a:rPr>
                        <a:t> is </a:t>
                      </a:r>
                      <a:pPr indent="0" marL="0">
                        <a:buNone/>
                      </a:pPr>
                      <a:r>
                        <a:rPr lang="en-US" sz="1500" dirty="0">
                          <a:solidFill>
                            <a:schemeClr val="tx2"/>
                          </a:solidFill>
                          <a:latin typeface="Courier New" pitchFamily="34" charset="0"/>
                          <a:ea typeface="Courier New" pitchFamily="34" charset="-122"/>
                          <a:cs typeface="Courier New" pitchFamily="34" charset="-120"/>
                        </a:rPr>
                        <a:t>null</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12064">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iterate(seed, hasNext, next)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9</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 finite, for-like stream</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12064">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takeWhile</a:t>
                      </a:r>
                      <a:pPr indent="0" marL="0">
                        <a:buNone/>
                      </a:pPr>
                      <a:r>
                        <a:rPr lang="en-US" sz="1500" dirty="0">
                          <a:solidFill>
                            <a:schemeClr val="tx1"/>
                          </a:solidFill>
                        </a:rPr>
                        <a:t> / </a:t>
                      </a:r>
                      <a:pPr indent="0" marL="0">
                        <a:buNone/>
                      </a:pPr>
                      <a:r>
                        <a:rPr lang="en-US" sz="1500" dirty="0">
                          <a:solidFill>
                            <a:schemeClr val="tx2"/>
                          </a:solidFill>
                          <a:latin typeface="Courier New" pitchFamily="34" charset="0"/>
                          <a:ea typeface="Courier New" pitchFamily="34" charset="-122"/>
                          <a:cs typeface="Courier New" pitchFamily="34" charset="-120"/>
                        </a:rPr>
                        <a:t>dropWhile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9</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keep or skip a prefix while a condition holds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12064">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Collectors.teeing</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12</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two collectors over one pass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12064">
                <a:tc>
                  <a:txBody>
                    <a:bodyPr/>
                    <a:lstStyle/>
                    <a:p>
                      <a:pPr indent="0" marL="0">
                        <a:buNone/>
                      </a:pPr>
                      <a:r>
                        <a:rPr lang="en-US" sz="1500" dirty="0">
                          <a:solidFill>
                            <a:schemeClr val="tx2"/>
                          </a:solidFill>
                          <a:latin typeface="Courier New" pitchFamily="34" charset="0"/>
                          <a:ea typeface="Courier New" pitchFamily="34" charset="-122"/>
                          <a:cs typeface="Courier New" pitchFamily="34" charset="-120"/>
                        </a:rPr>
                        <a:t>mapMulti</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16</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zero, one or many elements downstream, without a temporary stream</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12064">
                <a:tc>
                  <a:txBody>
                    <a:bodyPr/>
                    <a:lstStyle/>
                    <a:p>
                      <a:pPr indent="0" marL="0">
                        <a:buNone/>
                      </a:pPr>
                      <a:r>
                        <a:rPr lang="en-US" sz="1500" dirty="0">
                          <a:solidFill>
                            <a:schemeClr val="tx1"/>
                          </a:solidFill>
                        </a:rPr>
                        <a:t>Unnamed parameter </a:t>
                      </a:r>
                      <a:pPr indent="0" marL="0">
                        <a:buNone/>
                      </a:pPr>
                      <a:r>
                        <a:rPr lang="en-US" sz="1500" dirty="0">
                          <a:solidFill>
                            <a:schemeClr val="tx2"/>
                          </a:solidFill>
                          <a:latin typeface="Courier New" pitchFamily="34" charset="0"/>
                          <a:ea typeface="Courier New" pitchFamily="34" charset="-122"/>
                          <a:cs typeface="Courier New" pitchFamily="34" charset="-120"/>
                        </a:rPr>
                        <a:t>_</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22</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name for a parameter you do not use</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12064">
                <a:tc>
                  <a:txBody>
                    <a:bodyPr/>
                    <a:lstStyle/>
                    <a:p>
                      <a:pPr indent="0" marL="0">
                        <a:buNone/>
                      </a:pPr>
                      <a:r>
                        <a:rPr lang="en-US" sz="1500" dirty="0">
                          <a:solidFill>
                            <a:schemeClr val="tx1"/>
                          </a:solidFill>
                        </a:rPr>
                        <a:t>Gatherers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24</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custom intermediate operations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Gatherers: custom intermediate operations</a:t>
            </a:r>
            <a:endParaRPr lang="en-US" sz="34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560320"/>
                <a:gridCol w="3840480"/>
                <a:gridCol w="4690872"/>
              </a:tblGrid>
              <a:tr h="502920">
                <a:tc>
                  <a:txBody>
                    <a:bodyPr/>
                    <a:lstStyle/>
                    <a:p>
                      <a:pPr indent="0" marL="0">
                        <a:buNone/>
                      </a:pPr>
                      <a:r>
                        <a:rPr lang="en-US" sz="1400" b="1" dirty="0">
                          <a:solidFill>
                            <a:schemeClr val="bg1"/>
                          </a:solidFill>
                        </a:rPr>
                        <a:t>Gatherer</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does</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a:t>
                      </a:r>
                      <a:endParaRPr lang="en-US" sz="14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windowFixed(3)</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consecutive lists of 3</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[[Apple, Beer, Candy], [Chicken, …]]</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windowSliding(2)</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overlapping windows</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[[Apple, Beer], [Beer, Candy], …]</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scan(init, f)</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running result after each element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 3, 6, 10]</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fold(init, f)</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like </a:t>
                      </a:r>
                      <a:pPr indent="0" marL="0">
                        <a:buNone/>
                      </a:pPr>
                      <a:r>
                        <a:rPr lang="en-US" sz="1400" dirty="0">
                          <a:solidFill>
                            <a:schemeClr val="tx2"/>
                          </a:solidFill>
                          <a:latin typeface="Courier New" pitchFamily="34" charset="0"/>
                          <a:ea typeface="Courier New" pitchFamily="34" charset="-122"/>
                          <a:cs typeface="Courier New" pitchFamily="34" charset="-120"/>
                        </a:rPr>
                        <a:t>reduce</a:t>
                      </a:r>
                      <a:pPr indent="0" marL="0">
                        <a:buNone/>
                      </a:pPr>
                      <a:r>
                        <a:rPr lang="en-US" sz="1400" dirty="0">
                          <a:solidFill>
                            <a:schemeClr val="tx1"/>
                          </a:solidFill>
                        </a:rPr>
                        <a:t>, emits one element</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ourier New" pitchFamily="34" charset="0"/>
                          <a:ea typeface="Courier New" pitchFamily="34" charset="-122"/>
                          <a:cs typeface="Courier New" pitchFamily="34" charset="-120"/>
                        </a:rPr>
                        <a:t>[10]</a:t>
                      </a:r>
                      <a:endParaRPr lang="en-US" sz="1200" dirty="0"/>
                    </a:p>
                  </a:txBody>
                  <a:tcPr marL="109728" marR="109728" marT="54864" marB="54864"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5" name="scan-code-bg"/>
          <p:cNvSpPr/>
          <p:nvPr/>
        </p:nvSpPr>
        <p:spPr>
          <a:xfrm>
            <a:off x="548640" y="4389120"/>
            <a:ext cx="7498080" cy="1645920"/>
          </a:xfrm>
          <a:prstGeom prst="roundRect">
            <a:avLst>
              <a:gd name="adj" fmla="val 5556"/>
            </a:avLst>
          </a:prstGeom>
          <a:solidFill>
            <a:schemeClr val="tx1"/>
          </a:solidFill>
          <a:ln/>
        </p:spPr>
      </p:sp>
      <p:sp>
        <p:nvSpPr>
          <p:cNvPr id="6" name="scan-code"/>
          <p:cNvSpPr txBox="1"/>
          <p:nvPr/>
        </p:nvSpPr>
        <p:spPr>
          <a:xfrm>
            <a:off x="731520" y="4498848"/>
            <a:ext cx="7132320" cy="142646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orders.stream()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.map(Order::total)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.gather(Gatherers.scan(() -&gt; 0.0, Double::sum))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.toList();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[6.7, 20.5, 27.1, 33.5, 39.0]   running revenue</a:t>
            </a:r>
            <a:endParaRPr lang="en-US" sz="1400" dirty="0"/>
          </a:p>
        </p:txBody>
      </p:sp>
      <p:sp>
        <p:nvSpPr>
          <p:cNvPr id="7" name="scan-note"/>
          <p:cNvSpPr/>
          <p:nvPr/>
        </p:nvSpPr>
        <p:spPr>
          <a:xfrm>
            <a:off x="8321040" y="4389120"/>
            <a:ext cx="3319272" cy="1645920"/>
          </a:xfrm>
          <a:prstGeom prst="roundRect">
            <a:avLst>
              <a:gd name="adj" fmla="val 6667"/>
            </a:avLst>
          </a:prstGeom>
          <a:solidFill>
            <a:schemeClr val="bg2"/>
          </a:solidFill>
          <a:ln/>
        </p:spPr>
      </p:sp>
      <p:sp>
        <p:nvSpPr>
          <p:cNvPr id="8" name="Text 4"/>
          <p:cNvSpPr txBox="1"/>
          <p:nvPr/>
        </p:nvSpPr>
        <p:spPr>
          <a:xfrm>
            <a:off x="8549640" y="4389120"/>
            <a:ext cx="2880360" cy="1645920"/>
          </a:xfrm>
          <a:prstGeom prst="rect">
            <a:avLst/>
          </a:prstGeom>
          <a:noFill/>
          <a:ln/>
        </p:spPr>
        <p:txBody>
          <a:bodyPr wrap="square" lIns="0" tIns="0" rIns="0" bIns="0" rtlCol="0" anchor="ctr"/>
          <a:lstStyle/>
          <a:p>
            <a:pPr indent="0" marL="0">
              <a:buNone/>
            </a:pPr>
            <a:r>
              <a:rPr lang="en-US" sz="1600" dirty="0">
                <a:solidFill>
                  <a:schemeClr val="tx1"/>
                </a:solidFill>
              </a:rPr>
              <a:t>The last value is the </a:t>
            </a:r>
            <a:pPr indent="0" marL="0">
              <a:buNone/>
            </a:pPr>
            <a:r>
              <a:rPr lang="en-US" sz="1600" dirty="0">
                <a:solidFill>
                  <a:schemeClr val="tx2"/>
                </a:solidFill>
                <a:latin typeface="Courier New" pitchFamily="34" charset="0"/>
                <a:ea typeface="Courier New" pitchFamily="34" charset="-122"/>
                <a:cs typeface="Courier New" pitchFamily="34" charset="-120"/>
              </a:rPr>
              <a:t>39.0</a:t>
            </a:r>
            <a:pPr indent="0" marL="0">
              <a:buNone/>
            </a:pPr>
            <a:r>
              <a:rPr lang="en-US" sz="1600" dirty="0">
                <a:solidFill>
                  <a:schemeClr val="tx1"/>
                </a:solidFill>
              </a:rPr>
              <a:t> that </a:t>
            </a:r>
            <a:pPr indent="0" marL="0">
              <a:buNone/>
            </a:pPr>
            <a:r>
              <a:rPr lang="en-US" sz="1600" dirty="0">
                <a:solidFill>
                  <a:schemeClr val="tx2"/>
                </a:solidFill>
                <a:latin typeface="Courier New" pitchFamily="34" charset="0"/>
                <a:ea typeface="Courier New" pitchFamily="34" charset="-122"/>
                <a:cs typeface="Courier New" pitchFamily="34" charset="-120"/>
              </a:rPr>
              <a:t>sum()</a:t>
            </a:r>
            <a:pPr indent="0" marL="0">
              <a:buNone/>
            </a:pPr>
            <a:r>
              <a:rPr lang="en-US" sz="1600" dirty="0">
                <a:solidFill>
                  <a:schemeClr val="tx1"/>
                </a:solidFill>
              </a:rPr>
              <a:t> returns.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06</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Pitfalls</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Broken on purpose. Do not fix it, watch it.</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Pitfall: endless streams</a:t>
            </a:r>
            <a:endParaRPr lang="en-US" sz="3400" dirty="0"/>
          </a:p>
        </p:txBody>
      </p:sp>
      <p:sp>
        <p:nvSpPr>
          <p:cNvPr id="4" name="endless-code-bg"/>
          <p:cNvSpPr/>
          <p:nvPr/>
        </p:nvSpPr>
        <p:spPr>
          <a:xfrm>
            <a:off x="548640" y="1554480"/>
            <a:ext cx="6035040" cy="4480560"/>
          </a:xfrm>
          <a:prstGeom prst="roundRect">
            <a:avLst>
              <a:gd name="adj" fmla="val 2041"/>
            </a:avLst>
          </a:prstGeom>
          <a:solidFill>
            <a:schemeClr val="tx1"/>
          </a:solidFill>
          <a:ln/>
        </p:spPr>
      </p:sp>
      <p:sp>
        <p:nvSpPr>
          <p:cNvPr id="5" name="endless-code"/>
          <p:cNvSpPr txBox="1"/>
          <p:nvPr/>
        </p:nvSpPr>
        <p:spPr>
          <a:xfrm>
            <a:off x="731520" y="1664208"/>
            <a:ext cx="5669280" cy="4261104"/>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 1: no short-circuiting operation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IntStream.iterate(0, i -&gt; 1 - i)  // 0 1 0 1 …</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.forEach(System.out::println);</a:t>
            </a:r>
            <a:endParaRPr lang="en-US" sz="1500" dirty="0"/>
          </a:p>
          <a:p>
            <a:pPr indent="0" marL="0">
              <a:buNone/>
            </a:pP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2: looks safe, still hangs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IntStream.iterate(0, i -&gt; 1 - i)</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.distinct()</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.limit(10)   // waits for 10 elements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.forEach(System.out::println);</a:t>
            </a:r>
            <a:endParaRPr lang="en-US" sz="1500" dirty="0"/>
          </a:p>
        </p:txBody>
      </p:sp>
      <p:sp>
        <p:nvSpPr>
          <p:cNvPr id="6" name="endless-why"/>
          <p:cNvSpPr/>
          <p:nvPr/>
        </p:nvSpPr>
        <p:spPr>
          <a:xfrm>
            <a:off x="6858000" y="1554480"/>
            <a:ext cx="4782312" cy="2103120"/>
          </a:xfrm>
          <a:prstGeom prst="roundRect">
            <a:avLst>
              <a:gd name="adj" fmla="val 5217"/>
            </a:avLst>
          </a:prstGeom>
          <a:solidFill>
            <a:schemeClr val="bg2"/>
          </a:solidFill>
          <a:ln/>
        </p:spPr>
      </p:sp>
      <p:sp>
        <p:nvSpPr>
          <p:cNvPr id="7" name="badge-bg"/>
          <p:cNvSpPr/>
          <p:nvPr/>
        </p:nvSpPr>
        <p:spPr>
          <a:xfrm>
            <a:off x="7086600" y="1783080"/>
            <a:ext cx="640080" cy="640080"/>
          </a:xfrm>
          <a:prstGeom prst="ellipse">
            <a:avLst/>
          </a:prstGeom>
          <a:solidFill>
            <a:schemeClr val="accent4"/>
          </a:solidFill>
          <a:ln/>
        </p:spPr>
      </p:sp>
      <p:pic>
        <p:nvPicPr>
          <p:cNvPr id="8" name="Image 0" descr="FaTimesCircle">    </p:cNvPr>
          <p:cNvPicPr>
            <a:picLocks noChangeAspect="1"/>
          </p:cNvPicPr>
          <p:nvPr/>
        </p:nvPicPr>
        <p:blipFill>
          <a:blip r:embed="rId1"/>
          <a:stretch>
            <a:fillRect/>
          </a:stretch>
        </p:blipFill>
        <p:spPr>
          <a:xfrm>
            <a:off x="7259422" y="1955902"/>
            <a:ext cx="294437" cy="294437"/>
          </a:xfrm>
          <a:prstGeom prst="rect">
            <a:avLst/>
          </a:prstGeom>
        </p:spPr>
      </p:pic>
      <p:sp>
        <p:nvSpPr>
          <p:cNvPr id="9" name="Text 5"/>
          <p:cNvSpPr txBox="1"/>
          <p:nvPr/>
        </p:nvSpPr>
        <p:spPr>
          <a:xfrm>
            <a:off x="7909560" y="1783080"/>
            <a:ext cx="2743200" cy="365760"/>
          </a:xfrm>
          <a:prstGeom prst="rect">
            <a:avLst/>
          </a:prstGeom>
          <a:noFill/>
          <a:ln/>
        </p:spPr>
        <p:txBody>
          <a:bodyPr wrap="square" lIns="0" tIns="0" rIns="0" bIns="0" rtlCol="0" anchor="t"/>
          <a:lstStyle/>
          <a:p>
            <a:pPr indent="0" marL="0">
              <a:buNone/>
            </a:pPr>
            <a:r>
              <a:rPr lang="en-US" sz="1800" b="1" dirty="0">
                <a:solidFill>
                  <a:schemeClr val="tx1"/>
                </a:solidFill>
              </a:rPr>
              <a:t>Why</a:t>
            </a:r>
            <a:endParaRPr lang="en-US" sz="1800" dirty="0"/>
          </a:p>
        </p:txBody>
      </p:sp>
      <p:sp>
        <p:nvSpPr>
          <p:cNvPr id="10" name="Text 6"/>
          <p:cNvSpPr txBox="1"/>
          <p:nvPr/>
        </p:nvSpPr>
        <p:spPr>
          <a:xfrm>
            <a:off x="7086600" y="2560320"/>
            <a:ext cx="4343400" cy="1005840"/>
          </a:xfrm>
          <a:prstGeom prst="rect">
            <a:avLst/>
          </a:prstGeom>
          <a:noFill/>
          <a:ln/>
        </p:spPr>
        <p:txBody>
          <a:bodyPr wrap="square" lIns="0" tIns="0" rIns="0" bIns="0" rtlCol="0" anchor="t"/>
          <a:lstStyle/>
          <a:p>
            <a:pPr indent="0" marL="0">
              <a:buNone/>
            </a:pPr>
            <a:r>
              <a:rPr lang="en-US" sz="1500" dirty="0">
                <a:solidFill>
                  <a:schemeClr val="tx2"/>
                </a:solidFill>
                <a:latin typeface="Courier New" pitchFamily="34" charset="0"/>
                <a:ea typeface="Courier New" pitchFamily="34" charset="-122"/>
                <a:cs typeface="Courier New" pitchFamily="34" charset="-120"/>
              </a:rPr>
              <a:t>distinct()</a:t>
            </a:r>
            <a:pPr indent="0" marL="0">
              <a:buNone/>
            </a:pPr>
            <a:r>
              <a:rPr lang="en-US" sz="1500" dirty="0">
                <a:solidFill>
                  <a:schemeClr val="tx1"/>
                </a:solidFill>
              </a:rPr>
              <a:t> only ever lets </a:t>
            </a:r>
            <a:pPr indent="0" marL="0">
              <a:buNone/>
            </a:pPr>
            <a:r>
              <a:rPr lang="en-US" sz="1500" dirty="0">
                <a:solidFill>
                  <a:schemeClr val="tx2"/>
                </a:solidFill>
                <a:latin typeface="Courier New" pitchFamily="34" charset="0"/>
                <a:ea typeface="Courier New" pitchFamily="34" charset="-122"/>
                <a:cs typeface="Courier New" pitchFamily="34" charset="-120"/>
              </a:rPr>
              <a:t>0</a:t>
            </a:r>
            <a:pPr indent="0" marL="0">
              <a:buNone/>
            </a:pPr>
            <a:r>
              <a:rPr lang="en-US" sz="1500" dirty="0">
                <a:solidFill>
                  <a:schemeClr val="tx1"/>
                </a:solidFill>
              </a:rPr>
              <a:t> and </a:t>
            </a:r>
            <a:pPr indent="0" marL="0">
              <a:buNone/>
            </a:pPr>
            <a:r>
              <a:rPr lang="en-US" sz="1500" dirty="0">
                <a:solidFill>
                  <a:schemeClr val="tx2"/>
                </a:solidFill>
                <a:latin typeface="Courier New" pitchFamily="34" charset="0"/>
                <a:ea typeface="Courier New" pitchFamily="34" charset="-122"/>
                <a:cs typeface="Courier New" pitchFamily="34" charset="-120"/>
              </a:rPr>
              <a:t>1</a:t>
            </a:r>
            <a:pPr indent="0" marL="0">
              <a:buNone/>
            </a:pPr>
            <a:r>
              <a:rPr lang="en-US" sz="1500" dirty="0">
                <a:solidFill>
                  <a:schemeClr val="tx1"/>
                </a:solidFill>
              </a:rPr>
              <a:t> through, so </a:t>
            </a:r>
            <a:pPr indent="0" marL="0">
              <a:buNone/>
            </a:pPr>
            <a:r>
              <a:rPr lang="en-US" sz="1500" dirty="0">
                <a:solidFill>
                  <a:schemeClr val="tx2"/>
                </a:solidFill>
                <a:latin typeface="Courier New" pitchFamily="34" charset="0"/>
                <a:ea typeface="Courier New" pitchFamily="34" charset="-122"/>
                <a:cs typeface="Courier New" pitchFamily="34" charset="-120"/>
              </a:rPr>
              <a:t>limit(10)</a:t>
            </a:r>
            <a:pPr indent="0" marL="0">
              <a:buNone/>
            </a:pPr>
            <a:r>
              <a:rPr lang="en-US" sz="1500" dirty="0">
                <a:solidFill>
                  <a:schemeClr val="tx1"/>
                </a:solidFill>
              </a:rPr>
              <a:t> waits for elements that never arrive.</a:t>
            </a:r>
            <a:endParaRPr lang="en-US" sz="1500" dirty="0"/>
          </a:p>
        </p:txBody>
      </p:sp>
      <p:sp>
        <p:nvSpPr>
          <p:cNvPr id="11" name="endless-fix"/>
          <p:cNvSpPr/>
          <p:nvPr/>
        </p:nvSpPr>
        <p:spPr>
          <a:xfrm>
            <a:off x="6858000" y="3931920"/>
            <a:ext cx="4782312" cy="2103120"/>
          </a:xfrm>
          <a:prstGeom prst="roundRect">
            <a:avLst>
              <a:gd name="adj" fmla="val 5217"/>
            </a:avLst>
          </a:prstGeom>
          <a:solidFill>
            <a:schemeClr val="bg2"/>
          </a:solidFill>
          <a:ln/>
        </p:spPr>
      </p:sp>
      <p:sp>
        <p:nvSpPr>
          <p:cNvPr id="12" name="badge-bg"/>
          <p:cNvSpPr/>
          <p:nvPr/>
        </p:nvSpPr>
        <p:spPr>
          <a:xfrm>
            <a:off x="7086600" y="4160520"/>
            <a:ext cx="640080" cy="640080"/>
          </a:xfrm>
          <a:prstGeom prst="ellipse">
            <a:avLst/>
          </a:prstGeom>
          <a:solidFill>
            <a:schemeClr val="accent5"/>
          </a:solidFill>
          <a:ln/>
        </p:spPr>
      </p:sp>
      <p:pic>
        <p:nvPicPr>
          <p:cNvPr id="13" name="Image 1" descr="FaCheckCircle">    </p:cNvPr>
          <p:cNvPicPr>
            <a:picLocks noChangeAspect="1"/>
          </p:cNvPicPr>
          <p:nvPr/>
        </p:nvPicPr>
        <p:blipFill>
          <a:blip r:embed="rId2"/>
          <a:stretch>
            <a:fillRect/>
          </a:stretch>
        </p:blipFill>
        <p:spPr>
          <a:xfrm>
            <a:off x="7259422" y="4333342"/>
            <a:ext cx="294437" cy="294437"/>
          </a:xfrm>
          <a:prstGeom prst="rect">
            <a:avLst/>
          </a:prstGeom>
        </p:spPr>
      </p:pic>
      <p:sp>
        <p:nvSpPr>
          <p:cNvPr id="14" name="Text 9"/>
          <p:cNvSpPr txBox="1"/>
          <p:nvPr/>
        </p:nvSpPr>
        <p:spPr>
          <a:xfrm>
            <a:off x="7909560" y="4160520"/>
            <a:ext cx="2743200" cy="365760"/>
          </a:xfrm>
          <a:prstGeom prst="rect">
            <a:avLst/>
          </a:prstGeom>
          <a:noFill/>
          <a:ln/>
        </p:spPr>
        <p:txBody>
          <a:bodyPr wrap="square" lIns="0" tIns="0" rIns="0" bIns="0" rtlCol="0" anchor="t"/>
          <a:lstStyle/>
          <a:p>
            <a:pPr indent="0" marL="0">
              <a:buNone/>
            </a:pPr>
            <a:r>
              <a:rPr lang="en-US" sz="1800" b="1" dirty="0">
                <a:solidFill>
                  <a:schemeClr val="tx1"/>
                </a:solidFill>
              </a:rPr>
              <a:t>Fix</a:t>
            </a:r>
            <a:endParaRPr lang="en-US" sz="1800" dirty="0"/>
          </a:p>
        </p:txBody>
      </p:sp>
      <p:sp>
        <p:nvSpPr>
          <p:cNvPr id="15" name="Text 10"/>
          <p:cNvSpPr txBox="1"/>
          <p:nvPr/>
        </p:nvSpPr>
        <p:spPr>
          <a:xfrm>
            <a:off x="7086600" y="4892040"/>
            <a:ext cx="4343400" cy="1097280"/>
          </a:xfrm>
          <a:prstGeom prst="rect">
            <a:avLst/>
          </a:prstGeom>
          <a:noFill/>
          <a:ln/>
        </p:spPr>
        <p:txBody>
          <a:bodyPr wrap="square" lIns="0" tIns="0" rIns="0" bIns="0" rtlCol="0" anchor="t"/>
          <a:lstStyle/>
          <a:p>
            <a:pPr indent="0" marL="0">
              <a:buNone/>
            </a:pPr>
            <a:r>
              <a:rPr lang="en-US" sz="1500" dirty="0">
                <a:solidFill>
                  <a:schemeClr val="tx2"/>
                </a:solidFill>
                <a:latin typeface="Courier New" pitchFamily="34" charset="0"/>
                <a:ea typeface="Courier New" pitchFamily="34" charset="-122"/>
                <a:cs typeface="Courier New" pitchFamily="34" charset="-120"/>
              </a:rPr>
              <a:t>limit(10)</a:t>
            </a:r>
            <a:pPr indent="0" marL="0">
              <a:buNone/>
            </a:pPr>
            <a:r>
              <a:rPr lang="en-US" sz="1500" dirty="0">
                <a:solidFill>
                  <a:schemeClr val="tx1"/>
                </a:solidFill>
              </a:rPr>
              <a:t> </a:t>
            </a:r>
            <a:pPr indent="0" marL="0">
              <a:buNone/>
            </a:pPr>
            <a:r>
              <a:rPr lang="en-US" sz="1500" b="1" dirty="0">
                <a:solidFill>
                  <a:schemeClr val="tx1"/>
                </a:solidFill>
              </a:rPr>
              <a:t>before</a:t>
            </a:r>
            <a:pPr indent="0" marL="0">
              <a:buNone/>
            </a:pPr>
            <a:r>
              <a:rPr lang="en-US" sz="1500" dirty="0">
                <a:solidFill>
                  <a:schemeClr val="tx1"/>
                </a:solidFill>
              </a:rPr>
              <a:t> </a:t>
            </a:r>
            <a:pPr indent="0" marL="0">
              <a:buNone/>
            </a:pPr>
            <a:r>
              <a:rPr lang="en-US" sz="1500" dirty="0">
                <a:solidFill>
                  <a:schemeClr val="tx2"/>
                </a:solidFill>
                <a:latin typeface="Courier New" pitchFamily="34" charset="0"/>
                <a:ea typeface="Courier New" pitchFamily="34" charset="-122"/>
                <a:cs typeface="Courier New" pitchFamily="34" charset="-120"/>
              </a:rPr>
              <a:t>distinct()</a:t>
            </a:r>
            <a:pPr indent="0" marL="0">
              <a:buNone/>
            </a:pPr>
            <a:r>
              <a:rPr lang="en-US" sz="1500" dirty="0">
                <a:solidFill>
                  <a:schemeClr val="tx1"/>
                </a:solidFill>
              </a:rPr>
              <a:t>, or give the stream an end: </a:t>
            </a:r>
            <a:pPr indent="0" marL="0">
              <a:buNone/>
            </a:pPr>
            <a:r>
              <a:rPr lang="en-US" sz="1500" dirty="0">
                <a:solidFill>
                  <a:schemeClr val="tx2"/>
                </a:solidFill>
                <a:latin typeface="Courier New" pitchFamily="34" charset="0"/>
                <a:ea typeface="Courier New" pitchFamily="34" charset="-122"/>
                <a:cs typeface="Courier New" pitchFamily="34" charset="-120"/>
              </a:rPr>
              <a:t>iterate(0, i -&gt; i &lt; 10, i -&gt; i + 1)</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Pitfall: the order of operations matters</a:t>
            </a:r>
            <a:endParaRPr lang="en-US" sz="3400" dirty="0"/>
          </a:p>
        </p:txBody>
      </p:sp>
      <p:sp>
        <p:nvSpPr>
          <p:cNvPr id="4" name="Text 1"/>
          <p:cNvSpPr txBox="1"/>
          <p:nvPr/>
        </p:nvSpPr>
        <p:spPr>
          <a:xfrm>
            <a:off x="548640" y="1508760"/>
            <a:ext cx="7315200" cy="36576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limit(10).skip(5)</a:t>
            </a:r>
            <a:pPr indent="0" marL="0">
              <a:buNone/>
            </a:pPr>
            <a:r>
              <a:rPr lang="en-US" sz="1800" b="1" dirty="0">
                <a:solidFill>
                  <a:schemeClr val="tx1"/>
                </a:solidFill>
              </a:rPr>
              <a:t>  →  5 6 7 8 9  (only five numbers)</a:t>
            </a:r>
            <a:endParaRPr lang="en-US" sz="1800" dirty="0"/>
          </a:p>
        </p:txBody>
      </p:sp>
      <p:sp>
        <p:nvSpPr>
          <p:cNvPr id="5" name="num-limitskip-0"/>
          <p:cNvSpPr/>
          <p:nvPr/>
        </p:nvSpPr>
        <p:spPr>
          <a:xfrm>
            <a:off x="548640" y="2011680"/>
            <a:ext cx="649224" cy="649224"/>
          </a:xfrm>
          <a:prstGeom prst="roundRect">
            <a:avLst>
              <a:gd name="adj" fmla="val 11268"/>
            </a:avLst>
          </a:prstGeom>
          <a:solidFill>
            <a:schemeClr val="bg2"/>
          </a:solidFill>
          <a:ln/>
        </p:spPr>
      </p:sp>
      <p:sp>
        <p:nvSpPr>
          <p:cNvPr id="6" name="Text 3"/>
          <p:cNvSpPr txBox="1"/>
          <p:nvPr/>
        </p:nvSpPr>
        <p:spPr>
          <a:xfrm>
            <a:off x="548640"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0</a:t>
            </a:r>
            <a:endParaRPr lang="en-US" sz="1600" dirty="0"/>
          </a:p>
        </p:txBody>
      </p:sp>
      <p:sp>
        <p:nvSpPr>
          <p:cNvPr id="7" name="num-limitskip-1"/>
          <p:cNvSpPr/>
          <p:nvPr/>
        </p:nvSpPr>
        <p:spPr>
          <a:xfrm>
            <a:off x="1289304" y="2011680"/>
            <a:ext cx="649224" cy="649224"/>
          </a:xfrm>
          <a:prstGeom prst="roundRect">
            <a:avLst>
              <a:gd name="adj" fmla="val 11268"/>
            </a:avLst>
          </a:prstGeom>
          <a:solidFill>
            <a:schemeClr val="bg2"/>
          </a:solidFill>
          <a:ln/>
        </p:spPr>
      </p:sp>
      <p:sp>
        <p:nvSpPr>
          <p:cNvPr id="8" name="Text 5"/>
          <p:cNvSpPr txBox="1"/>
          <p:nvPr/>
        </p:nvSpPr>
        <p:spPr>
          <a:xfrm>
            <a:off x="1289304"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num-limitskip-2"/>
          <p:cNvSpPr/>
          <p:nvPr/>
        </p:nvSpPr>
        <p:spPr>
          <a:xfrm>
            <a:off x="2029968" y="2011680"/>
            <a:ext cx="649224" cy="649224"/>
          </a:xfrm>
          <a:prstGeom prst="roundRect">
            <a:avLst>
              <a:gd name="adj" fmla="val 11268"/>
            </a:avLst>
          </a:prstGeom>
          <a:solidFill>
            <a:schemeClr val="bg2"/>
          </a:solidFill>
          <a:ln/>
        </p:spPr>
      </p:sp>
      <p:sp>
        <p:nvSpPr>
          <p:cNvPr id="10" name="Text 7"/>
          <p:cNvSpPr txBox="1"/>
          <p:nvPr/>
        </p:nvSpPr>
        <p:spPr>
          <a:xfrm>
            <a:off x="2029968"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num-limitskip-3"/>
          <p:cNvSpPr/>
          <p:nvPr/>
        </p:nvSpPr>
        <p:spPr>
          <a:xfrm>
            <a:off x="2770632" y="2011680"/>
            <a:ext cx="649224" cy="649224"/>
          </a:xfrm>
          <a:prstGeom prst="roundRect">
            <a:avLst>
              <a:gd name="adj" fmla="val 11268"/>
            </a:avLst>
          </a:prstGeom>
          <a:solidFill>
            <a:schemeClr val="bg2"/>
          </a:solidFill>
          <a:ln/>
        </p:spPr>
      </p:sp>
      <p:sp>
        <p:nvSpPr>
          <p:cNvPr id="12" name="Text 9"/>
          <p:cNvSpPr txBox="1"/>
          <p:nvPr/>
        </p:nvSpPr>
        <p:spPr>
          <a:xfrm>
            <a:off x="2770632"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num-limitskip-4"/>
          <p:cNvSpPr/>
          <p:nvPr/>
        </p:nvSpPr>
        <p:spPr>
          <a:xfrm>
            <a:off x="3511296" y="2011680"/>
            <a:ext cx="649224" cy="649224"/>
          </a:xfrm>
          <a:prstGeom prst="roundRect">
            <a:avLst>
              <a:gd name="adj" fmla="val 11268"/>
            </a:avLst>
          </a:prstGeom>
          <a:solidFill>
            <a:schemeClr val="bg2"/>
          </a:solidFill>
          <a:ln/>
        </p:spPr>
      </p:sp>
      <p:sp>
        <p:nvSpPr>
          <p:cNvPr id="14" name="Text 11"/>
          <p:cNvSpPr txBox="1"/>
          <p:nvPr/>
        </p:nvSpPr>
        <p:spPr>
          <a:xfrm>
            <a:off x="3511296"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5" name="num-limitskip-5"/>
          <p:cNvSpPr/>
          <p:nvPr/>
        </p:nvSpPr>
        <p:spPr>
          <a:xfrm>
            <a:off x="4251960" y="2011680"/>
            <a:ext cx="649224" cy="649224"/>
          </a:xfrm>
          <a:prstGeom prst="roundRect">
            <a:avLst>
              <a:gd name="adj" fmla="val 11268"/>
            </a:avLst>
          </a:prstGeom>
          <a:solidFill>
            <a:schemeClr val="accent1"/>
          </a:solidFill>
          <a:ln/>
        </p:spPr>
      </p:sp>
      <p:sp>
        <p:nvSpPr>
          <p:cNvPr id="16" name="Text 13"/>
          <p:cNvSpPr txBox="1"/>
          <p:nvPr/>
        </p:nvSpPr>
        <p:spPr>
          <a:xfrm>
            <a:off x="4251960" y="201168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num-limitskip-6"/>
          <p:cNvSpPr/>
          <p:nvPr/>
        </p:nvSpPr>
        <p:spPr>
          <a:xfrm>
            <a:off x="4992624" y="2011680"/>
            <a:ext cx="649224" cy="649224"/>
          </a:xfrm>
          <a:prstGeom prst="roundRect">
            <a:avLst>
              <a:gd name="adj" fmla="val 11268"/>
            </a:avLst>
          </a:prstGeom>
          <a:solidFill>
            <a:schemeClr val="accent1"/>
          </a:solidFill>
          <a:ln/>
        </p:spPr>
      </p:sp>
      <p:sp>
        <p:nvSpPr>
          <p:cNvPr id="18" name="Text 15"/>
          <p:cNvSpPr txBox="1"/>
          <p:nvPr/>
        </p:nvSpPr>
        <p:spPr>
          <a:xfrm>
            <a:off x="4992624" y="201168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9" name="num-limitskip-7"/>
          <p:cNvSpPr/>
          <p:nvPr/>
        </p:nvSpPr>
        <p:spPr>
          <a:xfrm>
            <a:off x="5733288" y="2011680"/>
            <a:ext cx="649224" cy="649224"/>
          </a:xfrm>
          <a:prstGeom prst="roundRect">
            <a:avLst>
              <a:gd name="adj" fmla="val 11268"/>
            </a:avLst>
          </a:prstGeom>
          <a:solidFill>
            <a:schemeClr val="accent1"/>
          </a:solidFill>
          <a:ln/>
        </p:spPr>
      </p:sp>
      <p:sp>
        <p:nvSpPr>
          <p:cNvPr id="20" name="Text 17"/>
          <p:cNvSpPr txBox="1"/>
          <p:nvPr/>
        </p:nvSpPr>
        <p:spPr>
          <a:xfrm>
            <a:off x="5733288" y="201168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1" name="num-limitskip-8"/>
          <p:cNvSpPr/>
          <p:nvPr/>
        </p:nvSpPr>
        <p:spPr>
          <a:xfrm>
            <a:off x="6473952" y="2011680"/>
            <a:ext cx="649224" cy="649224"/>
          </a:xfrm>
          <a:prstGeom prst="roundRect">
            <a:avLst>
              <a:gd name="adj" fmla="val 11268"/>
            </a:avLst>
          </a:prstGeom>
          <a:solidFill>
            <a:schemeClr val="accent1"/>
          </a:solidFill>
          <a:ln/>
        </p:spPr>
      </p:sp>
      <p:sp>
        <p:nvSpPr>
          <p:cNvPr id="22" name="Text 19"/>
          <p:cNvSpPr txBox="1"/>
          <p:nvPr/>
        </p:nvSpPr>
        <p:spPr>
          <a:xfrm>
            <a:off x="6473952" y="201168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3" name="num-limitskip-9"/>
          <p:cNvSpPr/>
          <p:nvPr/>
        </p:nvSpPr>
        <p:spPr>
          <a:xfrm>
            <a:off x="7214616" y="2011680"/>
            <a:ext cx="649224" cy="649224"/>
          </a:xfrm>
          <a:prstGeom prst="roundRect">
            <a:avLst>
              <a:gd name="adj" fmla="val 11268"/>
            </a:avLst>
          </a:prstGeom>
          <a:solidFill>
            <a:schemeClr val="accent1"/>
          </a:solidFill>
          <a:ln/>
        </p:spPr>
      </p:sp>
      <p:sp>
        <p:nvSpPr>
          <p:cNvPr id="24" name="Text 21"/>
          <p:cNvSpPr txBox="1"/>
          <p:nvPr/>
        </p:nvSpPr>
        <p:spPr>
          <a:xfrm>
            <a:off x="7214616" y="201168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5" name="num-limitskip-10"/>
          <p:cNvSpPr/>
          <p:nvPr/>
        </p:nvSpPr>
        <p:spPr>
          <a:xfrm>
            <a:off x="7955280" y="2011680"/>
            <a:ext cx="649224" cy="649224"/>
          </a:xfrm>
          <a:prstGeom prst="roundRect">
            <a:avLst>
              <a:gd name="adj" fmla="val 11268"/>
            </a:avLst>
          </a:prstGeom>
          <a:solidFill>
            <a:schemeClr val="bg1"/>
          </a:solidFill>
          <a:ln w="19050">
            <a:solidFill>
              <a:schemeClr val="bg2"/>
            </a:solidFill>
            <a:prstDash val="dash"/>
          </a:ln>
        </p:spPr>
      </p:sp>
      <p:sp>
        <p:nvSpPr>
          <p:cNvPr id="26" name="Text 23"/>
          <p:cNvSpPr txBox="1"/>
          <p:nvPr/>
        </p:nvSpPr>
        <p:spPr>
          <a:xfrm>
            <a:off x="7955280"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10</a:t>
            </a:r>
            <a:endParaRPr lang="en-US" sz="1600" dirty="0"/>
          </a:p>
        </p:txBody>
      </p:sp>
      <p:sp>
        <p:nvSpPr>
          <p:cNvPr id="27" name="num-limitskip-11"/>
          <p:cNvSpPr/>
          <p:nvPr/>
        </p:nvSpPr>
        <p:spPr>
          <a:xfrm>
            <a:off x="8695944" y="2011680"/>
            <a:ext cx="649224" cy="649224"/>
          </a:xfrm>
          <a:prstGeom prst="roundRect">
            <a:avLst>
              <a:gd name="adj" fmla="val 11268"/>
            </a:avLst>
          </a:prstGeom>
          <a:solidFill>
            <a:schemeClr val="bg1"/>
          </a:solidFill>
          <a:ln w="19050">
            <a:solidFill>
              <a:schemeClr val="bg2"/>
            </a:solidFill>
            <a:prstDash val="dash"/>
          </a:ln>
        </p:spPr>
      </p:sp>
      <p:sp>
        <p:nvSpPr>
          <p:cNvPr id="28" name="Text 25"/>
          <p:cNvSpPr txBox="1"/>
          <p:nvPr/>
        </p:nvSpPr>
        <p:spPr>
          <a:xfrm>
            <a:off x="8695944"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11</a:t>
            </a:r>
            <a:endParaRPr lang="en-US" sz="1600" dirty="0"/>
          </a:p>
        </p:txBody>
      </p:sp>
      <p:sp>
        <p:nvSpPr>
          <p:cNvPr id="29" name="num-limitskip-12"/>
          <p:cNvSpPr/>
          <p:nvPr/>
        </p:nvSpPr>
        <p:spPr>
          <a:xfrm>
            <a:off x="9436608" y="2011680"/>
            <a:ext cx="649224" cy="649224"/>
          </a:xfrm>
          <a:prstGeom prst="roundRect">
            <a:avLst>
              <a:gd name="adj" fmla="val 11268"/>
            </a:avLst>
          </a:prstGeom>
          <a:solidFill>
            <a:schemeClr val="bg1"/>
          </a:solidFill>
          <a:ln w="19050">
            <a:solidFill>
              <a:schemeClr val="bg2"/>
            </a:solidFill>
            <a:prstDash val="dash"/>
          </a:ln>
        </p:spPr>
      </p:sp>
      <p:sp>
        <p:nvSpPr>
          <p:cNvPr id="30" name="Text 27"/>
          <p:cNvSpPr txBox="1"/>
          <p:nvPr/>
        </p:nvSpPr>
        <p:spPr>
          <a:xfrm>
            <a:off x="9436608"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12</a:t>
            </a:r>
            <a:endParaRPr lang="en-US" sz="1600" dirty="0"/>
          </a:p>
        </p:txBody>
      </p:sp>
      <p:sp>
        <p:nvSpPr>
          <p:cNvPr id="31" name="num-limitskip-13"/>
          <p:cNvSpPr/>
          <p:nvPr/>
        </p:nvSpPr>
        <p:spPr>
          <a:xfrm>
            <a:off x="10177272" y="2011680"/>
            <a:ext cx="649224" cy="649224"/>
          </a:xfrm>
          <a:prstGeom prst="roundRect">
            <a:avLst>
              <a:gd name="adj" fmla="val 11268"/>
            </a:avLst>
          </a:prstGeom>
          <a:solidFill>
            <a:schemeClr val="bg1"/>
          </a:solidFill>
          <a:ln w="19050">
            <a:solidFill>
              <a:schemeClr val="bg2"/>
            </a:solidFill>
            <a:prstDash val="dash"/>
          </a:ln>
        </p:spPr>
      </p:sp>
      <p:sp>
        <p:nvSpPr>
          <p:cNvPr id="32" name="Text 29"/>
          <p:cNvSpPr txBox="1"/>
          <p:nvPr/>
        </p:nvSpPr>
        <p:spPr>
          <a:xfrm>
            <a:off x="10177272"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13</a:t>
            </a:r>
            <a:endParaRPr lang="en-US" sz="1600" dirty="0"/>
          </a:p>
        </p:txBody>
      </p:sp>
      <p:sp>
        <p:nvSpPr>
          <p:cNvPr id="33" name="num-limitskip-14"/>
          <p:cNvSpPr/>
          <p:nvPr/>
        </p:nvSpPr>
        <p:spPr>
          <a:xfrm>
            <a:off x="10917936" y="2011680"/>
            <a:ext cx="649224" cy="649224"/>
          </a:xfrm>
          <a:prstGeom prst="roundRect">
            <a:avLst>
              <a:gd name="adj" fmla="val 11268"/>
            </a:avLst>
          </a:prstGeom>
          <a:solidFill>
            <a:schemeClr val="bg1"/>
          </a:solidFill>
          <a:ln w="19050">
            <a:solidFill>
              <a:schemeClr val="bg2"/>
            </a:solidFill>
            <a:prstDash val="dash"/>
          </a:ln>
        </p:spPr>
      </p:sp>
      <p:sp>
        <p:nvSpPr>
          <p:cNvPr id="34" name="Text 31"/>
          <p:cNvSpPr txBox="1"/>
          <p:nvPr/>
        </p:nvSpPr>
        <p:spPr>
          <a:xfrm>
            <a:off x="10917936" y="201168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14</a:t>
            </a:r>
            <a:endParaRPr lang="en-US" sz="1600" dirty="0"/>
          </a:p>
        </p:txBody>
      </p:sp>
      <p:sp>
        <p:nvSpPr>
          <p:cNvPr id="35" name="Text 32"/>
          <p:cNvSpPr txBox="1"/>
          <p:nvPr/>
        </p:nvSpPr>
        <p:spPr>
          <a:xfrm>
            <a:off x="548640" y="3246120"/>
            <a:ext cx="7315200" cy="36576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skip(5).limit(10)</a:t>
            </a:r>
            <a:pPr indent="0" marL="0">
              <a:buNone/>
            </a:pPr>
            <a:r>
              <a:rPr lang="en-US" sz="1800" b="1" dirty="0">
                <a:solidFill>
                  <a:schemeClr val="tx1"/>
                </a:solidFill>
              </a:rPr>
              <a:t>  →  5 6 7 … 14  (ten numbers)</a:t>
            </a:r>
            <a:endParaRPr lang="en-US" sz="1800" dirty="0"/>
          </a:p>
        </p:txBody>
      </p:sp>
      <p:sp>
        <p:nvSpPr>
          <p:cNvPr id="36" name="num-skiplimit-0"/>
          <p:cNvSpPr/>
          <p:nvPr/>
        </p:nvSpPr>
        <p:spPr>
          <a:xfrm>
            <a:off x="548640" y="3749040"/>
            <a:ext cx="649224" cy="649224"/>
          </a:xfrm>
          <a:prstGeom prst="roundRect">
            <a:avLst>
              <a:gd name="adj" fmla="val 11268"/>
            </a:avLst>
          </a:prstGeom>
          <a:solidFill>
            <a:schemeClr val="bg2"/>
          </a:solidFill>
          <a:ln/>
        </p:spPr>
      </p:sp>
      <p:sp>
        <p:nvSpPr>
          <p:cNvPr id="37" name="Text 34"/>
          <p:cNvSpPr txBox="1"/>
          <p:nvPr/>
        </p:nvSpPr>
        <p:spPr>
          <a:xfrm>
            <a:off x="548640" y="374904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0</a:t>
            </a:r>
            <a:endParaRPr lang="en-US" sz="1600" dirty="0"/>
          </a:p>
        </p:txBody>
      </p:sp>
      <p:sp>
        <p:nvSpPr>
          <p:cNvPr id="38" name="num-skiplimit-1"/>
          <p:cNvSpPr/>
          <p:nvPr/>
        </p:nvSpPr>
        <p:spPr>
          <a:xfrm>
            <a:off x="1289304" y="3749040"/>
            <a:ext cx="649224" cy="649224"/>
          </a:xfrm>
          <a:prstGeom prst="roundRect">
            <a:avLst>
              <a:gd name="adj" fmla="val 11268"/>
            </a:avLst>
          </a:prstGeom>
          <a:solidFill>
            <a:schemeClr val="bg2"/>
          </a:solidFill>
          <a:ln/>
        </p:spPr>
      </p:sp>
      <p:sp>
        <p:nvSpPr>
          <p:cNvPr id="39" name="Text 36"/>
          <p:cNvSpPr txBox="1"/>
          <p:nvPr/>
        </p:nvSpPr>
        <p:spPr>
          <a:xfrm>
            <a:off x="1289304" y="374904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40" name="num-skiplimit-2"/>
          <p:cNvSpPr/>
          <p:nvPr/>
        </p:nvSpPr>
        <p:spPr>
          <a:xfrm>
            <a:off x="2029968" y="3749040"/>
            <a:ext cx="649224" cy="649224"/>
          </a:xfrm>
          <a:prstGeom prst="roundRect">
            <a:avLst>
              <a:gd name="adj" fmla="val 11268"/>
            </a:avLst>
          </a:prstGeom>
          <a:solidFill>
            <a:schemeClr val="bg2"/>
          </a:solidFill>
          <a:ln/>
        </p:spPr>
      </p:sp>
      <p:sp>
        <p:nvSpPr>
          <p:cNvPr id="41" name="Text 38"/>
          <p:cNvSpPr txBox="1"/>
          <p:nvPr/>
        </p:nvSpPr>
        <p:spPr>
          <a:xfrm>
            <a:off x="2029968" y="374904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42" name="num-skiplimit-3"/>
          <p:cNvSpPr/>
          <p:nvPr/>
        </p:nvSpPr>
        <p:spPr>
          <a:xfrm>
            <a:off x="2770632" y="3749040"/>
            <a:ext cx="649224" cy="649224"/>
          </a:xfrm>
          <a:prstGeom prst="roundRect">
            <a:avLst>
              <a:gd name="adj" fmla="val 11268"/>
            </a:avLst>
          </a:prstGeom>
          <a:solidFill>
            <a:schemeClr val="bg2"/>
          </a:solidFill>
          <a:ln/>
        </p:spPr>
      </p:sp>
      <p:sp>
        <p:nvSpPr>
          <p:cNvPr id="43" name="Text 40"/>
          <p:cNvSpPr txBox="1"/>
          <p:nvPr/>
        </p:nvSpPr>
        <p:spPr>
          <a:xfrm>
            <a:off x="2770632" y="374904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44" name="num-skiplimit-4"/>
          <p:cNvSpPr/>
          <p:nvPr/>
        </p:nvSpPr>
        <p:spPr>
          <a:xfrm>
            <a:off x="3511296" y="3749040"/>
            <a:ext cx="649224" cy="649224"/>
          </a:xfrm>
          <a:prstGeom prst="roundRect">
            <a:avLst>
              <a:gd name="adj" fmla="val 11268"/>
            </a:avLst>
          </a:prstGeom>
          <a:solidFill>
            <a:schemeClr val="bg2"/>
          </a:solidFill>
          <a:ln/>
        </p:spPr>
      </p:sp>
      <p:sp>
        <p:nvSpPr>
          <p:cNvPr id="45" name="Text 42"/>
          <p:cNvSpPr txBox="1"/>
          <p:nvPr/>
        </p:nvSpPr>
        <p:spPr>
          <a:xfrm>
            <a:off x="3511296" y="3749040"/>
            <a:ext cx="649224" cy="649224"/>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46" name="num-skiplimit-5"/>
          <p:cNvSpPr/>
          <p:nvPr/>
        </p:nvSpPr>
        <p:spPr>
          <a:xfrm>
            <a:off x="4251960" y="3749040"/>
            <a:ext cx="649224" cy="649224"/>
          </a:xfrm>
          <a:prstGeom prst="roundRect">
            <a:avLst>
              <a:gd name="adj" fmla="val 11268"/>
            </a:avLst>
          </a:prstGeom>
          <a:solidFill>
            <a:schemeClr val="accent1"/>
          </a:solidFill>
          <a:ln/>
        </p:spPr>
      </p:sp>
      <p:sp>
        <p:nvSpPr>
          <p:cNvPr id="47" name="Text 44"/>
          <p:cNvSpPr txBox="1"/>
          <p:nvPr/>
        </p:nvSpPr>
        <p:spPr>
          <a:xfrm>
            <a:off x="4251960"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8" name="num-skiplimit-6"/>
          <p:cNvSpPr/>
          <p:nvPr/>
        </p:nvSpPr>
        <p:spPr>
          <a:xfrm>
            <a:off x="4992624" y="3749040"/>
            <a:ext cx="649224" cy="649224"/>
          </a:xfrm>
          <a:prstGeom prst="roundRect">
            <a:avLst>
              <a:gd name="adj" fmla="val 11268"/>
            </a:avLst>
          </a:prstGeom>
          <a:solidFill>
            <a:schemeClr val="accent1"/>
          </a:solidFill>
          <a:ln/>
        </p:spPr>
      </p:sp>
      <p:sp>
        <p:nvSpPr>
          <p:cNvPr id="49" name="Text 46"/>
          <p:cNvSpPr txBox="1"/>
          <p:nvPr/>
        </p:nvSpPr>
        <p:spPr>
          <a:xfrm>
            <a:off x="4992624"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50" name="num-skiplimit-7"/>
          <p:cNvSpPr/>
          <p:nvPr/>
        </p:nvSpPr>
        <p:spPr>
          <a:xfrm>
            <a:off x="5733288" y="3749040"/>
            <a:ext cx="649224" cy="649224"/>
          </a:xfrm>
          <a:prstGeom prst="roundRect">
            <a:avLst>
              <a:gd name="adj" fmla="val 11268"/>
            </a:avLst>
          </a:prstGeom>
          <a:solidFill>
            <a:schemeClr val="accent1"/>
          </a:solidFill>
          <a:ln/>
        </p:spPr>
      </p:sp>
      <p:sp>
        <p:nvSpPr>
          <p:cNvPr id="51" name="Text 48"/>
          <p:cNvSpPr txBox="1"/>
          <p:nvPr/>
        </p:nvSpPr>
        <p:spPr>
          <a:xfrm>
            <a:off x="5733288"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52" name="num-skiplimit-8"/>
          <p:cNvSpPr/>
          <p:nvPr/>
        </p:nvSpPr>
        <p:spPr>
          <a:xfrm>
            <a:off x="6473952" y="3749040"/>
            <a:ext cx="649224" cy="649224"/>
          </a:xfrm>
          <a:prstGeom prst="roundRect">
            <a:avLst>
              <a:gd name="adj" fmla="val 11268"/>
            </a:avLst>
          </a:prstGeom>
          <a:solidFill>
            <a:schemeClr val="accent1"/>
          </a:solidFill>
          <a:ln/>
        </p:spPr>
      </p:sp>
      <p:sp>
        <p:nvSpPr>
          <p:cNvPr id="53" name="Text 50"/>
          <p:cNvSpPr txBox="1"/>
          <p:nvPr/>
        </p:nvSpPr>
        <p:spPr>
          <a:xfrm>
            <a:off x="6473952"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54" name="num-skiplimit-9"/>
          <p:cNvSpPr/>
          <p:nvPr/>
        </p:nvSpPr>
        <p:spPr>
          <a:xfrm>
            <a:off x="7214616" y="3749040"/>
            <a:ext cx="649224" cy="649224"/>
          </a:xfrm>
          <a:prstGeom prst="roundRect">
            <a:avLst>
              <a:gd name="adj" fmla="val 11268"/>
            </a:avLst>
          </a:prstGeom>
          <a:solidFill>
            <a:schemeClr val="accent1"/>
          </a:solidFill>
          <a:ln/>
        </p:spPr>
      </p:sp>
      <p:sp>
        <p:nvSpPr>
          <p:cNvPr id="55" name="Text 52"/>
          <p:cNvSpPr txBox="1"/>
          <p:nvPr/>
        </p:nvSpPr>
        <p:spPr>
          <a:xfrm>
            <a:off x="7214616"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56" name="num-skiplimit-10"/>
          <p:cNvSpPr/>
          <p:nvPr/>
        </p:nvSpPr>
        <p:spPr>
          <a:xfrm>
            <a:off x="7955280" y="3749040"/>
            <a:ext cx="649224" cy="649224"/>
          </a:xfrm>
          <a:prstGeom prst="roundRect">
            <a:avLst>
              <a:gd name="adj" fmla="val 11268"/>
            </a:avLst>
          </a:prstGeom>
          <a:solidFill>
            <a:schemeClr val="accent1"/>
          </a:solidFill>
          <a:ln/>
        </p:spPr>
      </p:sp>
      <p:sp>
        <p:nvSpPr>
          <p:cNvPr id="57" name="Text 54"/>
          <p:cNvSpPr txBox="1"/>
          <p:nvPr/>
        </p:nvSpPr>
        <p:spPr>
          <a:xfrm>
            <a:off x="7955280"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58" name="num-skiplimit-11"/>
          <p:cNvSpPr/>
          <p:nvPr/>
        </p:nvSpPr>
        <p:spPr>
          <a:xfrm>
            <a:off x="8695944" y="3749040"/>
            <a:ext cx="649224" cy="649224"/>
          </a:xfrm>
          <a:prstGeom prst="roundRect">
            <a:avLst>
              <a:gd name="adj" fmla="val 11268"/>
            </a:avLst>
          </a:prstGeom>
          <a:solidFill>
            <a:schemeClr val="accent1"/>
          </a:solidFill>
          <a:ln/>
        </p:spPr>
      </p:sp>
      <p:sp>
        <p:nvSpPr>
          <p:cNvPr id="59" name="Text 56"/>
          <p:cNvSpPr txBox="1"/>
          <p:nvPr/>
        </p:nvSpPr>
        <p:spPr>
          <a:xfrm>
            <a:off x="8695944"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sp>
        <p:nvSpPr>
          <p:cNvPr id="60" name="num-skiplimit-12"/>
          <p:cNvSpPr/>
          <p:nvPr/>
        </p:nvSpPr>
        <p:spPr>
          <a:xfrm>
            <a:off x="9436608" y="3749040"/>
            <a:ext cx="649224" cy="649224"/>
          </a:xfrm>
          <a:prstGeom prst="roundRect">
            <a:avLst>
              <a:gd name="adj" fmla="val 11268"/>
            </a:avLst>
          </a:prstGeom>
          <a:solidFill>
            <a:schemeClr val="accent1"/>
          </a:solidFill>
          <a:ln/>
        </p:spPr>
      </p:sp>
      <p:sp>
        <p:nvSpPr>
          <p:cNvPr id="61" name="Text 58"/>
          <p:cNvSpPr txBox="1"/>
          <p:nvPr/>
        </p:nvSpPr>
        <p:spPr>
          <a:xfrm>
            <a:off x="9436608"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12</a:t>
            </a:r>
            <a:endParaRPr lang="en-US" sz="1600" dirty="0"/>
          </a:p>
        </p:txBody>
      </p:sp>
      <p:sp>
        <p:nvSpPr>
          <p:cNvPr id="62" name="num-skiplimit-13"/>
          <p:cNvSpPr/>
          <p:nvPr/>
        </p:nvSpPr>
        <p:spPr>
          <a:xfrm>
            <a:off x="10177272" y="3749040"/>
            <a:ext cx="649224" cy="649224"/>
          </a:xfrm>
          <a:prstGeom prst="roundRect">
            <a:avLst>
              <a:gd name="adj" fmla="val 11268"/>
            </a:avLst>
          </a:prstGeom>
          <a:solidFill>
            <a:schemeClr val="accent1"/>
          </a:solidFill>
          <a:ln/>
        </p:spPr>
      </p:sp>
      <p:sp>
        <p:nvSpPr>
          <p:cNvPr id="63" name="Text 60"/>
          <p:cNvSpPr txBox="1"/>
          <p:nvPr/>
        </p:nvSpPr>
        <p:spPr>
          <a:xfrm>
            <a:off x="10177272"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13</a:t>
            </a:r>
            <a:endParaRPr lang="en-US" sz="1600" dirty="0"/>
          </a:p>
        </p:txBody>
      </p:sp>
      <p:sp>
        <p:nvSpPr>
          <p:cNvPr id="64" name="num-skiplimit-14"/>
          <p:cNvSpPr/>
          <p:nvPr/>
        </p:nvSpPr>
        <p:spPr>
          <a:xfrm>
            <a:off x="10917936" y="3749040"/>
            <a:ext cx="649224" cy="649224"/>
          </a:xfrm>
          <a:prstGeom prst="roundRect">
            <a:avLst>
              <a:gd name="adj" fmla="val 11268"/>
            </a:avLst>
          </a:prstGeom>
          <a:solidFill>
            <a:schemeClr val="accent1"/>
          </a:solidFill>
          <a:ln/>
        </p:spPr>
      </p:sp>
      <p:sp>
        <p:nvSpPr>
          <p:cNvPr id="65" name="Text 62"/>
          <p:cNvSpPr txBox="1"/>
          <p:nvPr/>
        </p:nvSpPr>
        <p:spPr>
          <a:xfrm>
            <a:off x="10917936" y="3749040"/>
            <a:ext cx="649224" cy="649224"/>
          </a:xfrm>
          <a:prstGeom prst="rect">
            <a:avLst/>
          </a:prstGeom>
          <a:noFill/>
          <a:ln/>
        </p:spPr>
        <p:txBody>
          <a:bodyPr wrap="square" lIns="0" tIns="0" rIns="0" bIns="0" rtlCol="0" anchor="ctr"/>
          <a:lstStyle/>
          <a:p>
            <a:pPr algn="ctr" indent="0" marL="0">
              <a:buNone/>
            </a:pPr>
            <a:r>
              <a:rPr lang="en-US" sz="1600" b="1" dirty="0">
                <a:solidFill>
                  <a:schemeClr val="bg1"/>
                </a:solidFill>
              </a:rPr>
              <a:t>14</a:t>
            </a:r>
            <a:endParaRPr lang="en-US" sz="1600" dirty="0"/>
          </a:p>
        </p:txBody>
      </p:sp>
      <p:sp>
        <p:nvSpPr>
          <p:cNvPr id="66" name="legend-0"/>
          <p:cNvSpPr/>
          <p:nvPr/>
        </p:nvSpPr>
        <p:spPr>
          <a:xfrm>
            <a:off x="548640" y="5120640"/>
            <a:ext cx="274320" cy="274320"/>
          </a:xfrm>
          <a:prstGeom prst="roundRect">
            <a:avLst>
              <a:gd name="adj" fmla="val 16667"/>
            </a:avLst>
          </a:prstGeom>
          <a:solidFill>
            <a:schemeClr val="bg2"/>
          </a:solidFill>
          <a:ln w="19050">
            <a:solidFill>
              <a:schemeClr val="bg2"/>
            </a:solidFill>
            <a:prstDash val="solid"/>
          </a:ln>
        </p:spPr>
      </p:sp>
      <p:sp>
        <p:nvSpPr>
          <p:cNvPr id="67" name="Text 64"/>
          <p:cNvSpPr txBox="1"/>
          <p:nvPr/>
        </p:nvSpPr>
        <p:spPr>
          <a:xfrm>
            <a:off x="960120" y="5074920"/>
            <a:ext cx="2651760" cy="365760"/>
          </a:xfrm>
          <a:prstGeom prst="rect">
            <a:avLst/>
          </a:prstGeom>
          <a:noFill/>
          <a:ln/>
        </p:spPr>
        <p:txBody>
          <a:bodyPr wrap="square" lIns="0" tIns="0" rIns="0" bIns="0" rtlCol="0" anchor="t"/>
          <a:lstStyle/>
          <a:p>
            <a:pPr indent="0" marL="0">
              <a:buNone/>
            </a:pPr>
            <a:r>
              <a:rPr lang="en-US" sz="1400" dirty="0">
                <a:solidFill>
                  <a:schemeClr val="tx2"/>
                </a:solidFill>
              </a:rPr>
              <a:t>dropped by </a:t>
            </a:r>
            <a:pPr indent="0" marL="0">
              <a:buNone/>
            </a:pPr>
            <a:r>
              <a:rPr lang="en-US" sz="1400" dirty="0">
                <a:solidFill>
                  <a:schemeClr val="tx2"/>
                </a:solidFill>
                <a:latin typeface="Courier New" pitchFamily="34" charset="0"/>
                <a:ea typeface="Courier New" pitchFamily="34" charset="-122"/>
                <a:cs typeface="Courier New" pitchFamily="34" charset="-120"/>
              </a:rPr>
              <a:t>skip</a:t>
            </a:r>
            <a:endParaRPr lang="en-US" sz="1400" dirty="0"/>
          </a:p>
        </p:txBody>
      </p:sp>
      <p:sp>
        <p:nvSpPr>
          <p:cNvPr id="68" name="legend-1"/>
          <p:cNvSpPr/>
          <p:nvPr/>
        </p:nvSpPr>
        <p:spPr>
          <a:xfrm>
            <a:off x="3657600" y="5120640"/>
            <a:ext cx="274320" cy="274320"/>
          </a:xfrm>
          <a:prstGeom prst="roundRect">
            <a:avLst>
              <a:gd name="adj" fmla="val 16667"/>
            </a:avLst>
          </a:prstGeom>
          <a:solidFill>
            <a:schemeClr val="accent1"/>
          </a:solidFill>
          <a:ln w="19050">
            <a:solidFill>
              <a:schemeClr val="bg2"/>
            </a:solidFill>
            <a:prstDash val="solid"/>
          </a:ln>
        </p:spPr>
      </p:sp>
      <p:sp>
        <p:nvSpPr>
          <p:cNvPr id="69" name="Text 66"/>
          <p:cNvSpPr txBox="1"/>
          <p:nvPr/>
        </p:nvSpPr>
        <p:spPr>
          <a:xfrm>
            <a:off x="4069080" y="5074920"/>
            <a:ext cx="2651760" cy="365760"/>
          </a:xfrm>
          <a:prstGeom prst="rect">
            <a:avLst/>
          </a:prstGeom>
          <a:noFill/>
          <a:ln/>
        </p:spPr>
        <p:txBody>
          <a:bodyPr wrap="square" lIns="0" tIns="0" rIns="0" bIns="0" rtlCol="0" anchor="t"/>
          <a:lstStyle/>
          <a:p>
            <a:pPr indent="0" marL="0">
              <a:buNone/>
            </a:pPr>
            <a:r>
              <a:rPr lang="en-US" sz="1400" dirty="0">
                <a:solidFill>
                  <a:schemeClr val="tx2"/>
                </a:solidFill>
              </a:rPr>
              <a:t>printed</a:t>
            </a:r>
            <a:endParaRPr lang="en-US" sz="1400" dirty="0"/>
          </a:p>
        </p:txBody>
      </p:sp>
      <p:sp>
        <p:nvSpPr>
          <p:cNvPr id="70" name="legend-2"/>
          <p:cNvSpPr/>
          <p:nvPr/>
        </p:nvSpPr>
        <p:spPr>
          <a:xfrm>
            <a:off x="6766560" y="5120640"/>
            <a:ext cx="274320" cy="274320"/>
          </a:xfrm>
          <a:prstGeom prst="roundRect">
            <a:avLst>
              <a:gd name="adj" fmla="val 16667"/>
            </a:avLst>
          </a:prstGeom>
          <a:solidFill>
            <a:schemeClr val="bg1"/>
          </a:solidFill>
          <a:ln w="19050">
            <a:solidFill>
              <a:schemeClr val="bg2"/>
            </a:solidFill>
            <a:prstDash val="solid"/>
          </a:ln>
        </p:spPr>
      </p:sp>
      <p:sp>
        <p:nvSpPr>
          <p:cNvPr id="71" name="Text 68"/>
          <p:cNvSpPr txBox="1"/>
          <p:nvPr/>
        </p:nvSpPr>
        <p:spPr>
          <a:xfrm>
            <a:off x="7178040" y="5074920"/>
            <a:ext cx="2651760" cy="365760"/>
          </a:xfrm>
          <a:prstGeom prst="rect">
            <a:avLst/>
          </a:prstGeom>
          <a:noFill/>
          <a:ln/>
        </p:spPr>
        <p:txBody>
          <a:bodyPr wrap="square" lIns="0" tIns="0" rIns="0" bIns="0" rtlCol="0" anchor="t"/>
          <a:lstStyle/>
          <a:p>
            <a:pPr indent="0" marL="0">
              <a:buNone/>
            </a:pPr>
            <a:r>
              <a:rPr lang="en-US" sz="1400" dirty="0">
                <a:solidFill>
                  <a:schemeClr val="tx2"/>
                </a:solidFill>
              </a:rPr>
              <a:t>never produced (cut by </a:t>
            </a:r>
            <a:pPr indent="0" marL="0">
              <a:buNone/>
            </a:pPr>
            <a:r>
              <a:rPr lang="en-US" sz="1400" dirty="0">
                <a:solidFill>
                  <a:schemeClr val="tx2"/>
                </a:solidFill>
                <a:latin typeface="Courier New" pitchFamily="34" charset="0"/>
                <a:ea typeface="Courier New" pitchFamily="34" charset="-122"/>
                <a:cs typeface="Courier New" pitchFamily="34" charset="-120"/>
              </a:rPr>
              <a:t>limit</a:t>
            </a:r>
            <a:pPr indent="0" marL="0">
              <a:buNone/>
            </a:pPr>
            <a:r>
              <a:rPr lang="en-US" sz="1400" dirty="0">
                <a:solidFill>
                  <a:schemeClr val="tx2"/>
                </a:solidFill>
              </a:rPr>
              <a:t>)</a:t>
            </a:r>
            <a:endParaRPr lang="en-US" sz="1400" dirty="0"/>
          </a:p>
        </p:txBody>
      </p:sp>
      <p:sp>
        <p:nvSpPr>
          <p:cNvPr id="72" name="Text 69"/>
          <p:cNvSpPr txBox="1"/>
          <p:nvPr/>
        </p:nvSpPr>
        <p:spPr>
          <a:xfrm>
            <a:off x="548640" y="5669280"/>
            <a:ext cx="11091672" cy="411480"/>
          </a:xfrm>
          <a:prstGeom prst="rect">
            <a:avLst/>
          </a:prstGeom>
          <a:noFill/>
          <a:ln/>
        </p:spPr>
        <p:txBody>
          <a:bodyPr wrap="square" lIns="0" tIns="0" rIns="0" bIns="0" rtlCol="0" anchor="t"/>
          <a:lstStyle/>
          <a:p>
            <a:pPr indent="0" marL="0">
              <a:buNone/>
            </a:pPr>
            <a:r>
              <a:rPr lang="en-US" sz="1800" b="1" dirty="0">
                <a:solidFill>
                  <a:schemeClr val="accent1"/>
                </a:solidFill>
              </a:rPr>
              <a:t>Each step only sees what the previous step passes on.</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Pitfall: a slow call inside a loop or stream</a:t>
            </a:r>
            <a:endParaRPr lang="en-US" sz="3400" dirty="0"/>
          </a:p>
        </p:txBody>
      </p:sp>
      <p:graphicFrame>
        <p:nvGraphicFramePr>
          <p:cNvPr id="4" name="Chart 0" descr=""/>
          <p:cNvGraphicFramePr/>
          <p:nvPr/>
        </p:nvGraphicFramePr>
        <p:xfrm>
          <a:off x="548640" y="1508760"/>
          <a:ext cx="6217920" cy="4572000"/>
        </p:xfrm>
        <a:graphic xmlns:a="http://schemas.openxmlformats.org/drawingml/2006/main">
          <a:graphicData uri="http://schemas.openxmlformats.org/drawingml/2006/chart">
            <c:chart xmlns:c="http://schemas.openxmlformats.org/drawingml/2006/chart" r:id="rId1"/>
          </a:graphicData>
        </a:graphic>
      </p:graphicFrame>
      <p:sp>
        <p:nvSpPr>
          <p:cNvPr id="5" name="n1-why"/>
          <p:cNvSpPr/>
          <p:nvPr/>
        </p:nvSpPr>
        <p:spPr>
          <a:xfrm>
            <a:off x="7040880" y="1508760"/>
            <a:ext cx="4599432" cy="2148840"/>
          </a:xfrm>
          <a:prstGeom prst="roundRect">
            <a:avLst>
              <a:gd name="adj" fmla="val 5106"/>
            </a:avLst>
          </a:prstGeom>
          <a:solidFill>
            <a:schemeClr val="bg2"/>
          </a:solidFill>
          <a:ln/>
        </p:spPr>
      </p:sp>
      <p:sp>
        <p:nvSpPr>
          <p:cNvPr id="6" name="Text 2"/>
          <p:cNvSpPr txBox="1"/>
          <p:nvPr/>
        </p:nvSpPr>
        <p:spPr>
          <a:xfrm>
            <a:off x="7269480" y="16459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The N+1 problem</a:t>
            </a:r>
            <a:endParaRPr lang="en-US" sz="1800" dirty="0"/>
          </a:p>
        </p:txBody>
      </p:sp>
      <p:sp>
        <p:nvSpPr>
          <p:cNvPr id="7" name="Text 3"/>
          <p:cNvSpPr txBox="1"/>
          <p:nvPr/>
        </p:nvSpPr>
        <p:spPr>
          <a:xfrm>
            <a:off x="7269480" y="2103120"/>
            <a:ext cx="4160520" cy="1463040"/>
          </a:xfrm>
          <a:prstGeom prst="rect">
            <a:avLst/>
          </a:prstGeom>
          <a:noFill/>
          <a:ln/>
        </p:spPr>
        <p:txBody>
          <a:bodyPr wrap="square" lIns="0" tIns="0" rIns="0" bIns="0" rtlCol="0" anchor="t"/>
          <a:lstStyle/>
          <a:p>
            <a:pPr indent="0" marL="0">
              <a:buNone/>
            </a:pPr>
            <a:r>
              <a:rPr lang="en-US" sz="1500" dirty="0">
                <a:solidFill>
                  <a:schemeClr val="tx1"/>
                </a:solidFill>
              </a:rPr>
              <a:t>1 call for the lines + N calls for the details: 18 calls per run at 100 ms each. The loop is </a:t>
            </a:r>
            <a:pPr indent="0" marL="0">
              <a:buNone/>
            </a:pPr>
            <a:r>
              <a:rPr lang="en-US" sz="1500" b="1" dirty="0">
                <a:solidFill>
                  <a:schemeClr val="tx1"/>
                </a:solidFill>
              </a:rPr>
              <a:t>not</a:t>
            </a:r>
            <a:pPr indent="0" marL="0">
              <a:buNone/>
            </a:pPr>
            <a:r>
              <a:rPr lang="en-US" sz="1500" dirty="0">
                <a:solidFill>
                  <a:schemeClr val="tx1"/>
                </a:solidFill>
              </a:rPr>
              <a:t> the problem, the call is. A stream just hides it inside a lambda.</a:t>
            </a:r>
            <a:endParaRPr lang="en-US" sz="1500" dirty="0"/>
          </a:p>
        </p:txBody>
      </p:sp>
      <p:sp>
        <p:nvSpPr>
          <p:cNvPr id="8" name="n1-fix"/>
          <p:cNvSpPr/>
          <p:nvPr/>
        </p:nvSpPr>
        <p:spPr>
          <a:xfrm>
            <a:off x="7040880" y="3886200"/>
            <a:ext cx="4599432" cy="2194560"/>
          </a:xfrm>
          <a:prstGeom prst="roundRect">
            <a:avLst>
              <a:gd name="adj" fmla="val 5000"/>
            </a:avLst>
          </a:prstGeom>
          <a:solidFill>
            <a:schemeClr val="tx2"/>
          </a:solidFill>
          <a:ln/>
        </p:spPr>
      </p:sp>
      <p:sp>
        <p:nvSpPr>
          <p:cNvPr id="9" name="Text 5"/>
          <p:cNvSpPr txBox="1"/>
          <p:nvPr/>
        </p:nvSpPr>
        <p:spPr>
          <a:xfrm>
            <a:off x="7269480" y="4023360"/>
            <a:ext cx="4160520" cy="365760"/>
          </a:xfrm>
          <a:prstGeom prst="rect">
            <a:avLst/>
          </a:prstGeom>
          <a:noFill/>
          <a:ln/>
        </p:spPr>
        <p:txBody>
          <a:bodyPr wrap="square" lIns="0" tIns="0" rIns="0" bIns="0" rtlCol="0" anchor="t"/>
          <a:lstStyle/>
          <a:p>
            <a:pPr indent="0" marL="0">
              <a:buNone/>
            </a:pPr>
            <a:r>
              <a:rPr lang="en-US" sz="1600" b="1" dirty="0">
                <a:solidFill>
                  <a:schemeClr val="bg1"/>
                </a:solidFill>
              </a:rPr>
              <a:t>Fix: fetch once, then work in memory</a:t>
            </a:r>
            <a:endParaRPr lang="en-US" sz="1600" dirty="0"/>
          </a:p>
        </p:txBody>
      </p:sp>
      <p:sp>
        <p:nvSpPr>
          <p:cNvPr id="10" name="n1-code-bg"/>
          <p:cNvSpPr/>
          <p:nvPr/>
        </p:nvSpPr>
        <p:spPr>
          <a:xfrm>
            <a:off x="7269480" y="4480560"/>
            <a:ext cx="4160520" cy="1417320"/>
          </a:xfrm>
          <a:prstGeom prst="roundRect">
            <a:avLst>
              <a:gd name="adj" fmla="val 6452"/>
            </a:avLst>
          </a:prstGeom>
          <a:solidFill>
            <a:schemeClr val="tx1"/>
          </a:solidFill>
          <a:ln/>
        </p:spPr>
      </p:sp>
      <p:sp>
        <p:nvSpPr>
          <p:cNvPr id="11" name="n1-code"/>
          <p:cNvSpPr txBox="1"/>
          <p:nvPr/>
        </p:nvSpPr>
        <p:spPr>
          <a:xfrm>
            <a:off x="7452360" y="4590288"/>
            <a:ext cx="3794760" cy="119786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Map&lt;Integer, Article&gt; articles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Database.getArticles();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articles.get(line.articleId())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number"/>
          <p:cNvSpPr txBox="1"/>
          <p:nvPr/>
        </p:nvSpPr>
        <p:spPr>
          <a:xfrm>
            <a:off x="548640" y="1280160"/>
            <a:ext cx="2743200" cy="1097280"/>
          </a:xfrm>
          <a:prstGeom prst="rect">
            <a:avLst/>
          </a:prstGeom>
          <a:noFill/>
          <a:ln/>
        </p:spPr>
        <p:txBody>
          <a:bodyPr wrap="square" lIns="0" tIns="0" rIns="0" bIns="0" rtlCol="0" anchor="ctr"/>
          <a:lstStyle/>
          <a:p>
            <a:pPr indent="0" marL="0">
              <a:buNone/>
            </a:pPr>
            <a:r>
              <a:rPr lang="en-US" sz="7200" b="1" dirty="0">
                <a:solidFill>
                  <a:schemeClr val="accent2"/>
                </a:solidFill>
              </a:rPr>
              <a:t>07</a:t>
            </a:r>
            <a:endParaRPr lang="en-US" sz="7200" dirty="0"/>
          </a:p>
        </p:txBody>
      </p:sp>
      <p:sp>
        <p:nvSpPr>
          <p:cNvPr id="3" name="Text 0"/>
          <p:cNvSpPr/>
          <p:nvPr>
            <p:ph idx="100" type="title" hasCustomPrompt="1"/>
          </p:nvPr>
        </p:nvSpPr>
        <p:spPr>
          <a:xfrm>
            <a:off x="548640" y="2468880"/>
            <a:ext cx="11064240" cy="1188720"/>
          </a:xfrm>
          <a:prstGeom prst="rect">
            <a:avLst/>
          </a:prstGeom>
          <a:noFill/>
          <a:ln/>
        </p:spPr>
        <p:txBody>
          <a:bodyPr wrap="square" lIns="0" tIns="0" rIns="0" bIns="0" rtlCol="0" anchor="t"/>
          <a:lstStyle/>
          <a:p>
            <a:pPr algn="l" indent="0" marL="0">
              <a:buNone/>
            </a:pPr>
            <a:r>
              <a:rPr lang="en-US" sz="4800" b="1" dirty="0">
                <a:solidFill>
                  <a:schemeClr val="bg1"/>
                </a:solidFill>
              </a:rPr>
              <a:t>Exercises</a:t>
            </a:r>
            <a:endParaRPr lang="en-US" sz="4800" dirty="0"/>
          </a:p>
        </p:txBody>
      </p:sp>
      <p:sp>
        <p:nvSpPr>
          <p:cNvPr id="4" name="Text 0"/>
          <p:cNvSpPr/>
          <p:nvPr>
            <p:ph idx="101" type="body" hasCustomPrompt="1"/>
          </p:nvPr>
        </p:nvSpPr>
        <p:spPr>
          <a:xfrm>
            <a:off x="548640" y="3749040"/>
            <a:ext cx="8229600" cy="1097280"/>
          </a:xfrm>
          <a:prstGeom prst="rect">
            <a:avLst/>
          </a:prstGeom>
          <a:noFill/>
          <a:ln/>
        </p:spPr>
        <p:txBody>
          <a:bodyPr wrap="square" lIns="0" tIns="0" rIns="0" bIns="0" rtlCol="0" anchor="t"/>
          <a:lstStyle/>
          <a:p>
            <a:pPr algn="l" indent="0" marL="0">
              <a:buNone/>
            </a:pPr>
            <a:r>
              <a:rPr lang="en-US" sz="2000" dirty="0">
                <a:solidFill>
                  <a:schemeClr val="accent3"/>
                </a:solidFill>
              </a:rPr>
              <a:t>Practice makes perfect: make the tests green</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tx1"/>
                </a:solidFill>
              </a:rPr>
              <a:t>Three exercises, three skills</a:t>
            </a:r>
            <a:endParaRPr lang="en-US" sz="3400" dirty="0"/>
          </a:p>
        </p:txBody>
      </p:sp>
      <p:sp>
        <p:nvSpPr>
          <p:cNvPr id="4" name="ex-card-0"/>
          <p:cNvSpPr/>
          <p:nvPr/>
        </p:nvSpPr>
        <p:spPr>
          <a:xfrm>
            <a:off x="548640" y="1554480"/>
            <a:ext cx="3566160" cy="4480560"/>
          </a:xfrm>
          <a:prstGeom prst="roundRect">
            <a:avLst>
              <a:gd name="adj" fmla="val 3077"/>
            </a:avLst>
          </a:prstGeom>
          <a:solidFill>
            <a:schemeClr val="bg2"/>
          </a:solidFill>
          <a:ln/>
        </p:spPr>
      </p:sp>
      <p:sp>
        <p:nvSpPr>
          <p:cNvPr id="5" name="badge-bg"/>
          <p:cNvSpPr/>
          <p:nvPr/>
        </p:nvSpPr>
        <p:spPr>
          <a:xfrm>
            <a:off x="822960" y="1783080"/>
            <a:ext cx="731520" cy="731520"/>
          </a:xfrm>
          <a:prstGeom prst="ellipse">
            <a:avLst/>
          </a:prstGeom>
          <a:solidFill>
            <a:schemeClr val="accent5"/>
          </a:solidFill>
          <a:ln/>
        </p:spPr>
      </p:sp>
      <p:pic>
        <p:nvPicPr>
          <p:cNvPr id="6" name="Image 0" descr="FaFilter">    </p:cNvPr>
          <p:cNvPicPr>
            <a:picLocks noChangeAspect="1"/>
          </p:cNvPicPr>
          <p:nvPr/>
        </p:nvPicPr>
        <p:blipFill>
          <a:blip r:embed="rId1"/>
          <a:stretch>
            <a:fillRect/>
          </a:stretch>
        </p:blipFill>
        <p:spPr>
          <a:xfrm>
            <a:off x="1020470" y="1980590"/>
            <a:ext cx="336499" cy="336499"/>
          </a:xfrm>
          <a:prstGeom prst="rect">
            <a:avLst/>
          </a:prstGeom>
        </p:spPr>
      </p:pic>
      <p:sp>
        <p:nvSpPr>
          <p:cNvPr id="7" name="Text 3"/>
          <p:cNvSpPr txBox="1"/>
          <p:nvPr/>
        </p:nvSpPr>
        <p:spPr>
          <a:xfrm>
            <a:off x="1737360" y="1920240"/>
            <a:ext cx="2194560" cy="457200"/>
          </a:xfrm>
          <a:prstGeom prst="rect">
            <a:avLst/>
          </a:prstGeom>
          <a:noFill/>
          <a:ln/>
        </p:spPr>
        <p:txBody>
          <a:bodyPr wrap="square" lIns="0" tIns="0" rIns="0" bIns="0" rtlCol="0" anchor="t"/>
          <a:lstStyle/>
          <a:p>
            <a:pPr indent="0" marL="0">
              <a:buNone/>
            </a:pPr>
            <a:r>
              <a:rPr lang="en-US" sz="1400" dirty="0">
                <a:solidFill>
                  <a:schemeClr val="tx2"/>
                </a:solidFill>
              </a:rPr>
              <a:t>Exercise 1</a:t>
            </a:r>
            <a:endParaRPr lang="en-US" sz="1400" dirty="0"/>
          </a:p>
        </p:txBody>
      </p:sp>
      <p:sp>
        <p:nvSpPr>
          <p:cNvPr id="8" name="Text 4"/>
          <p:cNvSpPr txBox="1"/>
          <p:nvPr/>
        </p:nvSpPr>
        <p:spPr>
          <a:xfrm>
            <a:off x="822960" y="2788920"/>
            <a:ext cx="3063240" cy="822960"/>
          </a:xfrm>
          <a:prstGeom prst="rect">
            <a:avLst/>
          </a:prstGeom>
          <a:noFill/>
          <a:ln/>
        </p:spPr>
        <p:txBody>
          <a:bodyPr wrap="square" lIns="0" tIns="0" rIns="0" bIns="0" rtlCol="0" anchor="t"/>
          <a:lstStyle/>
          <a:p>
            <a:pPr indent="0" marL="0">
              <a:buNone/>
            </a:pPr>
            <a:r>
              <a:rPr lang="en-US" sz="2000" b="1" dirty="0">
                <a:solidFill>
                  <a:schemeClr val="tx1"/>
                </a:solidFill>
              </a:rPr>
              <a:t>Filter customers</a:t>
            </a:r>
            <a:endParaRPr lang="en-US" sz="2000" dirty="0"/>
          </a:p>
        </p:txBody>
      </p:sp>
      <p:sp>
        <p:nvSpPr>
          <p:cNvPr id="9" name="Text 5"/>
          <p:cNvSpPr txBox="1"/>
          <p:nvPr/>
        </p:nvSpPr>
        <p:spPr>
          <a:xfrm>
            <a:off x="822960" y="3657600"/>
            <a:ext cx="3063240" cy="1371600"/>
          </a:xfrm>
          <a:prstGeom prst="rect">
            <a:avLst/>
          </a:prstGeom>
          <a:noFill/>
          <a:ln/>
        </p:spPr>
        <p:txBody>
          <a:bodyPr wrap="square" lIns="0" tIns="0" rIns="0" bIns="0" rtlCol="0" anchor="t"/>
          <a:lstStyle/>
          <a:p>
            <a:pPr indent="0" marL="0">
              <a:buNone/>
            </a:pPr>
            <a:r>
              <a:rPr lang="en-US" sz="1500" dirty="0">
                <a:solidFill>
                  <a:schemeClr val="tx1"/>
                </a:solidFill>
              </a:rPr>
              <a:t>Last name contains </a:t>
            </a:r>
            <a:pPr indent="0" marL="0">
              <a:buNone/>
            </a:pPr>
            <a:r>
              <a:rPr lang="en-US" sz="1500" dirty="0">
                <a:solidFill>
                  <a:schemeClr val="tx2"/>
                </a:solidFill>
                <a:latin typeface="Courier New" pitchFamily="34" charset="0"/>
                <a:ea typeface="Courier New" pitchFamily="34" charset="-122"/>
                <a:cs typeface="Courier New" pitchFamily="34" charset="-120"/>
              </a:rPr>
              <a:t>e</a:t>
            </a:r>
            <a:pPr indent="0" marL="0">
              <a:buNone/>
            </a:pPr>
            <a:r>
              <a:rPr lang="en-US" sz="1500" dirty="0">
                <a:solidFill>
                  <a:schemeClr val="tx1"/>
                </a:solidFill>
              </a:rPr>
              <a:t>; and first name contains </a:t>
            </a:r>
            <a:pPr indent="0" marL="0">
              <a:buNone/>
            </a:pPr>
            <a:r>
              <a:rPr lang="en-US" sz="1500" dirty="0">
                <a:solidFill>
                  <a:schemeClr val="tx2"/>
                </a:solidFill>
                <a:latin typeface="Courier New" pitchFamily="34" charset="0"/>
                <a:ea typeface="Courier New" pitchFamily="34" charset="-122"/>
                <a:cs typeface="Courier New" pitchFamily="34" charset="-120"/>
              </a:rPr>
              <a:t>l</a:t>
            </a:r>
            <a:pPr indent="0" marL="0">
              <a:buNone/>
            </a:pPr>
            <a:r>
              <a:rPr lang="en-US" sz="1500" dirty="0">
                <a:solidFill>
                  <a:schemeClr val="tx1"/>
                </a:solidFill>
              </a:rPr>
              <a:t>; or any field contains </a:t>
            </a:r>
            <a:pPr indent="0" marL="0">
              <a:buNone/>
            </a:pPr>
            <a:r>
              <a:rPr lang="en-US" sz="1500" dirty="0">
                <a:solidFill>
                  <a:schemeClr val="tx2"/>
                </a:solidFill>
                <a:latin typeface="Courier New" pitchFamily="34" charset="0"/>
                <a:ea typeface="Courier New" pitchFamily="34" charset="-122"/>
                <a:cs typeface="Courier New" pitchFamily="34" charset="-120"/>
              </a:rPr>
              <a:t>o</a:t>
            </a:r>
            <a:pPr indent="0" marL="0">
              <a:buNone/>
            </a:pPr>
            <a:r>
              <a:rPr lang="en-US" sz="1500" dirty="0">
                <a:solidFill>
                  <a:schemeClr val="tx1"/>
                </a:solidFill>
              </a:rPr>
              <a:t>. Case-insensitive.</a:t>
            </a:r>
            <a:endParaRPr lang="en-US" sz="1500" dirty="0"/>
          </a:p>
        </p:txBody>
      </p:sp>
      <p:sp>
        <p:nvSpPr>
          <p:cNvPr id="10" name="Text 6"/>
          <p:cNvSpPr txBox="1"/>
          <p:nvPr/>
        </p:nvSpPr>
        <p:spPr>
          <a:xfrm>
            <a:off x="822960" y="5257800"/>
            <a:ext cx="3063240" cy="54864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filter</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&amp;&amp;</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toLowerCase</a:t>
            </a:r>
            <a:endParaRPr lang="en-US" sz="1400" dirty="0"/>
          </a:p>
        </p:txBody>
      </p:sp>
      <p:sp>
        <p:nvSpPr>
          <p:cNvPr id="11" name="ex-card-1"/>
          <p:cNvSpPr/>
          <p:nvPr/>
        </p:nvSpPr>
        <p:spPr>
          <a:xfrm>
            <a:off x="4297680" y="1554480"/>
            <a:ext cx="3566160" cy="4480560"/>
          </a:xfrm>
          <a:prstGeom prst="roundRect">
            <a:avLst>
              <a:gd name="adj" fmla="val 3077"/>
            </a:avLst>
          </a:prstGeom>
          <a:solidFill>
            <a:schemeClr val="bg2"/>
          </a:solidFill>
          <a:ln/>
        </p:spPr>
      </p:sp>
      <p:sp>
        <p:nvSpPr>
          <p:cNvPr id="12" name="badge-bg"/>
          <p:cNvSpPr/>
          <p:nvPr/>
        </p:nvSpPr>
        <p:spPr>
          <a:xfrm>
            <a:off x="4572000" y="1783080"/>
            <a:ext cx="731520" cy="731520"/>
          </a:xfrm>
          <a:prstGeom prst="ellipse">
            <a:avLst/>
          </a:prstGeom>
          <a:solidFill>
            <a:schemeClr val="accent5"/>
          </a:solidFill>
          <a:ln/>
        </p:spPr>
      </p:sp>
      <p:pic>
        <p:nvPicPr>
          <p:cNvPr id="13" name="Image 1" descr="FaListUl">    </p:cNvPr>
          <p:cNvPicPr>
            <a:picLocks noChangeAspect="1"/>
          </p:cNvPicPr>
          <p:nvPr/>
        </p:nvPicPr>
        <p:blipFill>
          <a:blip r:embed="rId2"/>
          <a:stretch>
            <a:fillRect/>
          </a:stretch>
        </p:blipFill>
        <p:spPr>
          <a:xfrm>
            <a:off x="4769510" y="1980590"/>
            <a:ext cx="336499" cy="336499"/>
          </a:xfrm>
          <a:prstGeom prst="rect">
            <a:avLst/>
          </a:prstGeom>
        </p:spPr>
      </p:pic>
      <p:sp>
        <p:nvSpPr>
          <p:cNvPr id="14" name="Text 9"/>
          <p:cNvSpPr txBox="1"/>
          <p:nvPr/>
        </p:nvSpPr>
        <p:spPr>
          <a:xfrm>
            <a:off x="5486400" y="1920240"/>
            <a:ext cx="2194560" cy="457200"/>
          </a:xfrm>
          <a:prstGeom prst="rect">
            <a:avLst/>
          </a:prstGeom>
          <a:noFill/>
          <a:ln/>
        </p:spPr>
        <p:txBody>
          <a:bodyPr wrap="square" lIns="0" tIns="0" rIns="0" bIns="0" rtlCol="0" anchor="t"/>
          <a:lstStyle/>
          <a:p>
            <a:pPr indent="0" marL="0">
              <a:buNone/>
            </a:pPr>
            <a:r>
              <a:rPr lang="en-US" sz="1400" dirty="0">
                <a:solidFill>
                  <a:schemeClr val="tx2"/>
                </a:solidFill>
              </a:rPr>
              <a:t>Exercise 2</a:t>
            </a:r>
            <a:endParaRPr lang="en-US" sz="1400" dirty="0"/>
          </a:p>
        </p:txBody>
      </p:sp>
      <p:sp>
        <p:nvSpPr>
          <p:cNvPr id="15" name="Text 10"/>
          <p:cNvSpPr txBox="1"/>
          <p:nvPr/>
        </p:nvSpPr>
        <p:spPr>
          <a:xfrm>
            <a:off x="4572000" y="2788920"/>
            <a:ext cx="3063240" cy="822960"/>
          </a:xfrm>
          <a:prstGeom prst="rect">
            <a:avLst/>
          </a:prstGeom>
          <a:noFill/>
          <a:ln/>
        </p:spPr>
        <p:txBody>
          <a:bodyPr wrap="square" lIns="0" tIns="0" rIns="0" bIns="0" rtlCol="0" anchor="t"/>
          <a:lstStyle/>
          <a:p>
            <a:pPr indent="0" marL="0">
              <a:buNone/>
            </a:pPr>
            <a:r>
              <a:rPr lang="en-US" sz="2000" b="1" dirty="0">
                <a:solidFill>
                  <a:schemeClr val="tx1"/>
                </a:solidFill>
              </a:rPr>
              <a:t>Names in one list</a:t>
            </a:r>
            <a:endParaRPr lang="en-US" sz="2000" dirty="0"/>
          </a:p>
        </p:txBody>
      </p:sp>
      <p:sp>
        <p:nvSpPr>
          <p:cNvPr id="16" name="Text 11"/>
          <p:cNvSpPr txBox="1"/>
          <p:nvPr/>
        </p:nvSpPr>
        <p:spPr>
          <a:xfrm>
            <a:off x="4572000" y="3657600"/>
            <a:ext cx="3063240" cy="1371600"/>
          </a:xfrm>
          <a:prstGeom prst="rect">
            <a:avLst/>
          </a:prstGeom>
          <a:noFill/>
          <a:ln/>
        </p:spPr>
        <p:txBody>
          <a:bodyPr wrap="square" lIns="0" tIns="0" rIns="0" bIns="0" rtlCol="0" anchor="t"/>
          <a:lstStyle/>
          <a:p>
            <a:pPr indent="0" marL="0">
              <a:buNone/>
            </a:pPr>
            <a:r>
              <a:rPr lang="en-US" sz="1500" dirty="0">
                <a:solidFill>
                  <a:schemeClr val="tx1"/>
                </a:solidFill>
              </a:rPr>
              <a:t>All customers as “firstname lastname” and all articles by name, in one list of 44 strings.</a:t>
            </a:r>
            <a:endParaRPr lang="en-US" sz="1500" dirty="0"/>
          </a:p>
        </p:txBody>
      </p:sp>
      <p:sp>
        <p:nvSpPr>
          <p:cNvPr id="17" name="Text 12"/>
          <p:cNvSpPr txBox="1"/>
          <p:nvPr/>
        </p:nvSpPr>
        <p:spPr>
          <a:xfrm>
            <a:off x="4572000" y="5257800"/>
            <a:ext cx="3063240" cy="54864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map</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Stream.concat</a:t>
            </a:r>
            <a:endParaRPr lang="en-US" sz="1400" dirty="0"/>
          </a:p>
        </p:txBody>
      </p:sp>
      <p:sp>
        <p:nvSpPr>
          <p:cNvPr id="18" name="ex-card-2"/>
          <p:cNvSpPr/>
          <p:nvPr/>
        </p:nvSpPr>
        <p:spPr>
          <a:xfrm>
            <a:off x="8046720" y="1554480"/>
            <a:ext cx="3566160" cy="4480560"/>
          </a:xfrm>
          <a:prstGeom prst="roundRect">
            <a:avLst>
              <a:gd name="adj" fmla="val 3077"/>
            </a:avLst>
          </a:prstGeom>
          <a:solidFill>
            <a:schemeClr val="bg2"/>
          </a:solidFill>
          <a:ln/>
        </p:spPr>
      </p:sp>
      <p:sp>
        <p:nvSpPr>
          <p:cNvPr id="19" name="badge-bg"/>
          <p:cNvSpPr/>
          <p:nvPr/>
        </p:nvSpPr>
        <p:spPr>
          <a:xfrm>
            <a:off x="8321040" y="1783080"/>
            <a:ext cx="731520" cy="731520"/>
          </a:xfrm>
          <a:prstGeom prst="ellipse">
            <a:avLst/>
          </a:prstGeom>
          <a:solidFill>
            <a:schemeClr val="accent5"/>
          </a:solidFill>
          <a:ln/>
        </p:spPr>
      </p:sp>
      <p:pic>
        <p:nvPicPr>
          <p:cNvPr id="20" name="Image 2" descr="FaSearch">    </p:cNvPr>
          <p:cNvPicPr>
            <a:picLocks noChangeAspect="1"/>
          </p:cNvPicPr>
          <p:nvPr/>
        </p:nvPicPr>
        <p:blipFill>
          <a:blip r:embed="rId3"/>
          <a:stretch>
            <a:fillRect/>
          </a:stretch>
        </p:blipFill>
        <p:spPr>
          <a:xfrm>
            <a:off x="8518550" y="1980590"/>
            <a:ext cx="336499" cy="336499"/>
          </a:xfrm>
          <a:prstGeom prst="rect">
            <a:avLst/>
          </a:prstGeom>
        </p:spPr>
      </p:pic>
      <p:sp>
        <p:nvSpPr>
          <p:cNvPr id="21" name="Text 15"/>
          <p:cNvSpPr txBox="1"/>
          <p:nvPr/>
        </p:nvSpPr>
        <p:spPr>
          <a:xfrm>
            <a:off x="9235440" y="1920240"/>
            <a:ext cx="2194560" cy="457200"/>
          </a:xfrm>
          <a:prstGeom prst="rect">
            <a:avLst/>
          </a:prstGeom>
          <a:noFill/>
          <a:ln/>
        </p:spPr>
        <p:txBody>
          <a:bodyPr wrap="square" lIns="0" tIns="0" rIns="0" bIns="0" rtlCol="0" anchor="t"/>
          <a:lstStyle/>
          <a:p>
            <a:pPr indent="0" marL="0">
              <a:buNone/>
            </a:pPr>
            <a:r>
              <a:rPr lang="en-US" sz="1400" dirty="0">
                <a:solidFill>
                  <a:schemeClr val="tx2"/>
                </a:solidFill>
              </a:rPr>
              <a:t>Exercise 3</a:t>
            </a:r>
            <a:endParaRPr lang="en-US" sz="1400" dirty="0"/>
          </a:p>
        </p:txBody>
      </p:sp>
      <p:sp>
        <p:nvSpPr>
          <p:cNvPr id="22" name="Text 16"/>
          <p:cNvSpPr txBox="1"/>
          <p:nvPr/>
        </p:nvSpPr>
        <p:spPr>
          <a:xfrm>
            <a:off x="8321040" y="2788920"/>
            <a:ext cx="3063240" cy="822960"/>
          </a:xfrm>
          <a:prstGeom prst="rect">
            <a:avLst/>
          </a:prstGeom>
          <a:noFill/>
          <a:ln/>
        </p:spPr>
        <p:txBody>
          <a:bodyPr wrap="square" lIns="0" tIns="0" rIns="0" bIns="0" rtlCol="0" anchor="t"/>
          <a:lstStyle/>
          <a:p>
            <a:pPr indent="0" marL="0">
              <a:buNone/>
            </a:pPr>
            <a:r>
              <a:rPr lang="en-US" sz="2000" b="1" dirty="0">
                <a:solidFill>
                  <a:schemeClr val="tx1"/>
                </a:solidFill>
              </a:rPr>
              <a:t>Unique article names in unpaid orders</a:t>
            </a:r>
            <a:endParaRPr lang="en-US" sz="2000" dirty="0"/>
          </a:p>
        </p:txBody>
      </p:sp>
      <p:sp>
        <p:nvSpPr>
          <p:cNvPr id="23" name="Text 17"/>
          <p:cNvSpPr txBox="1"/>
          <p:nvPr/>
        </p:nvSpPr>
        <p:spPr>
          <a:xfrm>
            <a:off x="8321040" y="3657600"/>
            <a:ext cx="3063240" cy="1371600"/>
          </a:xfrm>
          <a:prstGeom prst="rect">
            <a:avLst/>
          </a:prstGeom>
          <a:noFill/>
          <a:ln/>
        </p:spPr>
        <p:txBody>
          <a:bodyPr wrap="square" lIns="0" tIns="0" rIns="0" bIns="0" rtlCol="0" anchor="t"/>
          <a:lstStyle/>
          <a:p>
            <a:pPr indent="0" marL="0">
              <a:buNone/>
            </a:pPr>
            <a:r>
              <a:rPr lang="en-US" sz="1500" dirty="0">
                <a:solidFill>
                  <a:schemeClr val="tx1"/>
                </a:solidFill>
              </a:rPr>
              <a:t>Filter unpaid orders, flatten their lines, look up each article name by id.</a:t>
            </a:r>
            <a:endParaRPr lang="en-US" sz="1500" dirty="0"/>
          </a:p>
        </p:txBody>
      </p:sp>
      <p:sp>
        <p:nvSpPr>
          <p:cNvPr id="24" name="Text 18"/>
          <p:cNvSpPr txBox="1"/>
          <p:nvPr/>
        </p:nvSpPr>
        <p:spPr>
          <a:xfrm>
            <a:off x="8321040" y="5257800"/>
            <a:ext cx="3063240" cy="54864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filter</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flatMap</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map</a:t>
            </a:r>
            <a:pPr indent="0" marL="0">
              <a:buNone/>
            </a:pPr>
            <a:r>
              <a:rPr lang="en-US" sz="1400" dirty="0">
                <a:solidFill>
                  <a:schemeClr val="tx1"/>
                </a:solidFill>
              </a:rPr>
              <a:t> · </a:t>
            </a:r>
            <a:pPr indent="0" marL="0">
              <a:buNone/>
            </a:pPr>
            <a:r>
              <a:rPr lang="en-US" sz="1400" dirty="0">
                <a:solidFill>
                  <a:schemeClr val="tx2"/>
                </a:solidFill>
                <a:latin typeface="Courier New" pitchFamily="34" charset="0"/>
                <a:ea typeface="Courier New" pitchFamily="34" charset="-122"/>
                <a:cs typeface="Courier New" pitchFamily="34" charset="-120"/>
              </a:rPr>
              <a:t>distinct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Key takeaways</a:t>
            </a:r>
            <a:endParaRPr lang="en-US" sz="3400" dirty="0"/>
          </a:p>
        </p:txBody>
      </p:sp>
      <p:sp>
        <p:nvSpPr>
          <p:cNvPr id="4" name="take-card-0"/>
          <p:cNvSpPr/>
          <p:nvPr/>
        </p:nvSpPr>
        <p:spPr>
          <a:xfrm>
            <a:off x="548640" y="1417320"/>
            <a:ext cx="5422392" cy="1280160"/>
          </a:xfrm>
          <a:prstGeom prst="roundRect">
            <a:avLst>
              <a:gd name="adj" fmla="val 8571"/>
            </a:avLst>
          </a:prstGeom>
          <a:solidFill>
            <a:schemeClr val="tx2"/>
          </a:solidFill>
          <a:ln/>
        </p:spPr>
      </p:sp>
      <p:sp>
        <p:nvSpPr>
          <p:cNvPr id="5" name="badge-bg"/>
          <p:cNvSpPr/>
          <p:nvPr/>
        </p:nvSpPr>
        <p:spPr>
          <a:xfrm>
            <a:off x="777240" y="1737360"/>
            <a:ext cx="640080" cy="640080"/>
          </a:xfrm>
          <a:prstGeom prst="ellipse">
            <a:avLst/>
          </a:prstGeom>
          <a:solidFill>
            <a:schemeClr val="accent1"/>
          </a:solidFill>
          <a:ln/>
        </p:spPr>
      </p:sp>
      <p:pic>
        <p:nvPicPr>
          <p:cNvPr id="6" name="Image 0" descr="FaStream">    </p:cNvPr>
          <p:cNvPicPr>
            <a:picLocks noChangeAspect="1"/>
          </p:cNvPicPr>
          <p:nvPr/>
        </p:nvPicPr>
        <p:blipFill>
          <a:blip r:embed="rId1"/>
          <a:stretch>
            <a:fillRect/>
          </a:stretch>
        </p:blipFill>
        <p:spPr>
          <a:xfrm>
            <a:off x="950062" y="1910182"/>
            <a:ext cx="294437" cy="294437"/>
          </a:xfrm>
          <a:prstGeom prst="rect">
            <a:avLst/>
          </a:prstGeom>
        </p:spPr>
      </p:pic>
      <p:sp>
        <p:nvSpPr>
          <p:cNvPr id="7" name="Text 3"/>
          <p:cNvSpPr txBox="1"/>
          <p:nvPr/>
        </p:nvSpPr>
        <p:spPr>
          <a:xfrm>
            <a:off x="1645920" y="1600200"/>
            <a:ext cx="4160520" cy="365760"/>
          </a:xfrm>
          <a:prstGeom prst="rect">
            <a:avLst/>
          </a:prstGeom>
          <a:noFill/>
          <a:ln/>
        </p:spPr>
        <p:txBody>
          <a:bodyPr wrap="square" lIns="0" tIns="0" rIns="0" bIns="0" rtlCol="0" anchor="t"/>
          <a:lstStyle/>
          <a:p>
            <a:pPr indent="0" marL="0">
              <a:buNone/>
            </a:pPr>
            <a:r>
              <a:rPr lang="en-US" sz="1800" b="1" dirty="0">
                <a:solidFill>
                  <a:schemeClr val="bg1"/>
                </a:solidFill>
              </a:rPr>
              <a:t>A pipeline has three parts</a:t>
            </a:r>
            <a:endParaRPr lang="en-US" sz="1800" dirty="0"/>
          </a:p>
        </p:txBody>
      </p:sp>
      <p:sp>
        <p:nvSpPr>
          <p:cNvPr id="8" name="Text 4"/>
          <p:cNvSpPr txBox="1"/>
          <p:nvPr/>
        </p:nvSpPr>
        <p:spPr>
          <a:xfrm>
            <a:off x="1645920" y="2057400"/>
            <a:ext cx="4160520" cy="640080"/>
          </a:xfrm>
          <a:prstGeom prst="rect">
            <a:avLst/>
          </a:prstGeom>
          <a:noFill/>
          <a:ln/>
        </p:spPr>
        <p:txBody>
          <a:bodyPr wrap="square" lIns="0" tIns="0" rIns="0" bIns="0" rtlCol="0" anchor="t"/>
          <a:lstStyle/>
          <a:p>
            <a:pPr indent="0" marL="0">
              <a:buNone/>
            </a:pPr>
            <a:r>
              <a:rPr lang="en-US" sz="1400" dirty="0">
                <a:solidFill>
                  <a:schemeClr val="accent3"/>
                </a:solidFill>
              </a:rPr>
              <a:t>source, zero or more intermediate steps, exactly one terminal operation</a:t>
            </a:r>
            <a:endParaRPr lang="en-US" sz="1400" dirty="0"/>
          </a:p>
        </p:txBody>
      </p:sp>
      <p:sp>
        <p:nvSpPr>
          <p:cNvPr id="9" name="take-card-1"/>
          <p:cNvSpPr/>
          <p:nvPr/>
        </p:nvSpPr>
        <p:spPr>
          <a:xfrm>
            <a:off x="6217920" y="1417320"/>
            <a:ext cx="5422392" cy="1280160"/>
          </a:xfrm>
          <a:prstGeom prst="roundRect">
            <a:avLst>
              <a:gd name="adj" fmla="val 8571"/>
            </a:avLst>
          </a:prstGeom>
          <a:solidFill>
            <a:schemeClr val="tx2"/>
          </a:solidFill>
          <a:ln/>
        </p:spPr>
      </p:sp>
      <p:sp>
        <p:nvSpPr>
          <p:cNvPr id="10" name="badge-bg"/>
          <p:cNvSpPr/>
          <p:nvPr/>
        </p:nvSpPr>
        <p:spPr>
          <a:xfrm>
            <a:off x="6446520" y="1737360"/>
            <a:ext cx="640080" cy="640080"/>
          </a:xfrm>
          <a:prstGeom prst="ellipse">
            <a:avLst/>
          </a:prstGeom>
          <a:solidFill>
            <a:schemeClr val="accent1"/>
          </a:solidFill>
          <a:ln/>
        </p:spPr>
      </p:sp>
      <p:pic>
        <p:nvPicPr>
          <p:cNvPr id="11" name="Image 1" descr="FaPlay">    </p:cNvPr>
          <p:cNvPicPr>
            <a:picLocks noChangeAspect="1"/>
          </p:cNvPicPr>
          <p:nvPr/>
        </p:nvPicPr>
        <p:blipFill>
          <a:blip r:embed="rId2"/>
          <a:stretch>
            <a:fillRect/>
          </a:stretch>
        </p:blipFill>
        <p:spPr>
          <a:xfrm>
            <a:off x="6619342" y="1910182"/>
            <a:ext cx="294437" cy="294437"/>
          </a:xfrm>
          <a:prstGeom prst="rect">
            <a:avLst/>
          </a:prstGeom>
        </p:spPr>
      </p:pic>
      <p:sp>
        <p:nvSpPr>
          <p:cNvPr id="12" name="Text 7"/>
          <p:cNvSpPr txBox="1"/>
          <p:nvPr/>
        </p:nvSpPr>
        <p:spPr>
          <a:xfrm>
            <a:off x="7315200" y="1600200"/>
            <a:ext cx="4160520" cy="365760"/>
          </a:xfrm>
          <a:prstGeom prst="rect">
            <a:avLst/>
          </a:prstGeom>
          <a:noFill/>
          <a:ln/>
        </p:spPr>
        <p:txBody>
          <a:bodyPr wrap="square" lIns="0" tIns="0" rIns="0" bIns="0" rtlCol="0" anchor="t"/>
          <a:lstStyle/>
          <a:p>
            <a:pPr indent="0" marL="0">
              <a:buNone/>
            </a:pPr>
            <a:r>
              <a:rPr lang="en-US" sz="1800" b="1" dirty="0">
                <a:solidFill>
                  <a:schemeClr val="bg1"/>
                </a:solidFill>
              </a:rPr>
              <a:t>Nothing runs without a terminal operation</a:t>
            </a:r>
            <a:endParaRPr lang="en-US" sz="1800" dirty="0"/>
          </a:p>
        </p:txBody>
      </p:sp>
      <p:sp>
        <p:nvSpPr>
          <p:cNvPr id="13" name="Text 8"/>
          <p:cNvSpPr txBox="1"/>
          <p:nvPr/>
        </p:nvSpPr>
        <p:spPr>
          <a:xfrm>
            <a:off x="7315200" y="2057400"/>
            <a:ext cx="4160520" cy="640080"/>
          </a:xfrm>
          <a:prstGeom prst="rect">
            <a:avLst/>
          </a:prstGeom>
          <a:noFill/>
          <a:ln/>
        </p:spPr>
        <p:txBody>
          <a:bodyPr wrap="square" lIns="0" tIns="0" rIns="0" bIns="0" rtlCol="0" anchor="t"/>
          <a:lstStyle/>
          <a:p>
            <a:pPr indent="0" marL="0">
              <a:buNone/>
            </a:pPr>
            <a:r>
              <a:rPr lang="en-US" sz="1400" dirty="0">
                <a:solidFill>
                  <a:schemeClr val="accent3"/>
                </a:solidFill>
              </a:rPr>
              <a:t>elements flow one at a time through all stages</a:t>
            </a:r>
            <a:endParaRPr lang="en-US" sz="1400" dirty="0"/>
          </a:p>
        </p:txBody>
      </p:sp>
      <p:sp>
        <p:nvSpPr>
          <p:cNvPr id="14" name="take-card-2"/>
          <p:cNvSpPr/>
          <p:nvPr/>
        </p:nvSpPr>
        <p:spPr>
          <a:xfrm>
            <a:off x="548640" y="2880360"/>
            <a:ext cx="5422392" cy="1280160"/>
          </a:xfrm>
          <a:prstGeom prst="roundRect">
            <a:avLst>
              <a:gd name="adj" fmla="val 8571"/>
            </a:avLst>
          </a:prstGeom>
          <a:solidFill>
            <a:schemeClr val="tx2"/>
          </a:solidFill>
          <a:ln/>
        </p:spPr>
      </p:sp>
      <p:sp>
        <p:nvSpPr>
          <p:cNvPr id="15" name="badge-bg"/>
          <p:cNvSpPr/>
          <p:nvPr/>
        </p:nvSpPr>
        <p:spPr>
          <a:xfrm>
            <a:off x="777240" y="3200400"/>
            <a:ext cx="640080" cy="640080"/>
          </a:xfrm>
          <a:prstGeom prst="ellipse">
            <a:avLst/>
          </a:prstGeom>
          <a:solidFill>
            <a:schemeClr val="accent1"/>
          </a:solidFill>
          <a:ln/>
        </p:spPr>
      </p:sp>
      <p:pic>
        <p:nvPicPr>
          <p:cNvPr id="16" name="Image 2" descr="FaSortAmountDown">    </p:cNvPr>
          <p:cNvPicPr>
            <a:picLocks noChangeAspect="1"/>
          </p:cNvPicPr>
          <p:nvPr/>
        </p:nvPicPr>
        <p:blipFill>
          <a:blip r:embed="rId3"/>
          <a:stretch>
            <a:fillRect/>
          </a:stretch>
        </p:blipFill>
        <p:spPr>
          <a:xfrm>
            <a:off x="950062" y="3373222"/>
            <a:ext cx="294437" cy="294437"/>
          </a:xfrm>
          <a:prstGeom prst="rect">
            <a:avLst/>
          </a:prstGeom>
        </p:spPr>
      </p:pic>
      <p:sp>
        <p:nvSpPr>
          <p:cNvPr id="17" name="Text 11"/>
          <p:cNvSpPr txBox="1"/>
          <p:nvPr/>
        </p:nvSpPr>
        <p:spPr>
          <a:xfrm>
            <a:off x="1645920" y="3063240"/>
            <a:ext cx="4160520" cy="365760"/>
          </a:xfrm>
          <a:prstGeom prst="rect">
            <a:avLst/>
          </a:prstGeom>
          <a:noFill/>
          <a:ln/>
        </p:spPr>
        <p:txBody>
          <a:bodyPr wrap="square" lIns="0" tIns="0" rIns="0" bIns="0" rtlCol="0" anchor="t"/>
          <a:lstStyle/>
          <a:p>
            <a:pPr indent="0" marL="0">
              <a:buNone/>
            </a:pPr>
            <a:r>
              <a:rPr lang="en-US" sz="1800" b="1" dirty="0">
                <a:solidFill>
                  <a:schemeClr val="bg1"/>
                </a:solidFill>
              </a:rPr>
              <a:t>Order changes the result</a:t>
            </a:r>
            <a:endParaRPr lang="en-US" sz="1800" dirty="0"/>
          </a:p>
        </p:txBody>
      </p:sp>
      <p:sp>
        <p:nvSpPr>
          <p:cNvPr id="18" name="Text 12"/>
          <p:cNvSpPr txBox="1"/>
          <p:nvPr/>
        </p:nvSpPr>
        <p:spPr>
          <a:xfrm>
            <a:off x="1645920" y="3520440"/>
            <a:ext cx="4160520" cy="640080"/>
          </a:xfrm>
          <a:prstGeom prst="rect">
            <a:avLst/>
          </a:prstGeom>
          <a:noFill/>
          <a:ln/>
        </p:spPr>
        <p:txBody>
          <a:bodyPr wrap="square" lIns="0" tIns="0" rIns="0" bIns="0" rtlCol="0" anchor="t"/>
          <a:lstStyle/>
          <a:p>
            <a:pPr indent="0" marL="0">
              <a:buNone/>
            </a:pPr>
            <a:r>
              <a:rPr lang="en-US" sz="1400" dirty="0">
                <a:solidFill>
                  <a:schemeClr val="accent3"/>
                </a:solidFill>
              </a:rPr>
              <a:t>and the amount of work: </a:t>
            </a:r>
            <a:pPr indent="0" marL="0">
              <a:buNone/>
            </a:pPr>
            <a:r>
              <a:rPr lang="en-US" sz="1400" dirty="0">
                <a:solidFill>
                  <a:schemeClr val="bg1"/>
                </a:solidFill>
                <a:latin typeface="Courier New" pitchFamily="34" charset="0"/>
                <a:ea typeface="Courier New" pitchFamily="34" charset="-122"/>
                <a:cs typeface="Courier New" pitchFamily="34" charset="-120"/>
              </a:rPr>
              <a:t>filter</a:t>
            </a:r>
            <a:pPr indent="0" marL="0">
              <a:buNone/>
            </a:pPr>
            <a:r>
              <a:rPr lang="en-US" sz="1400" dirty="0">
                <a:solidFill>
                  <a:schemeClr val="accent3"/>
                </a:solidFill>
              </a:rPr>
              <a:t> early, </a:t>
            </a:r>
            <a:pPr indent="0" marL="0">
              <a:buNone/>
            </a:pPr>
            <a:r>
              <a:rPr lang="en-US" sz="1400" dirty="0">
                <a:solidFill>
                  <a:schemeClr val="bg1"/>
                </a:solidFill>
                <a:latin typeface="Courier New" pitchFamily="34" charset="0"/>
                <a:ea typeface="Courier New" pitchFamily="34" charset="-122"/>
                <a:cs typeface="Courier New" pitchFamily="34" charset="-120"/>
              </a:rPr>
              <a:t>limit</a:t>
            </a:r>
            <a:pPr indent="0" marL="0">
              <a:buNone/>
            </a:pPr>
            <a:r>
              <a:rPr lang="en-US" sz="1400" dirty="0">
                <a:solidFill>
                  <a:schemeClr val="accent3"/>
                </a:solidFill>
              </a:rPr>
              <a:t> before </a:t>
            </a:r>
            <a:pPr indent="0" marL="0">
              <a:buNone/>
            </a:pPr>
            <a:r>
              <a:rPr lang="en-US" sz="1400" dirty="0">
                <a:solidFill>
                  <a:schemeClr val="bg1"/>
                </a:solidFill>
                <a:latin typeface="Courier New" pitchFamily="34" charset="0"/>
                <a:ea typeface="Courier New" pitchFamily="34" charset="-122"/>
                <a:cs typeface="Courier New" pitchFamily="34" charset="-120"/>
              </a:rPr>
              <a:t>distinct</a:t>
            </a:r>
            <a:endParaRPr lang="en-US" sz="1400" dirty="0"/>
          </a:p>
        </p:txBody>
      </p:sp>
      <p:sp>
        <p:nvSpPr>
          <p:cNvPr id="19" name="take-card-3"/>
          <p:cNvSpPr/>
          <p:nvPr/>
        </p:nvSpPr>
        <p:spPr>
          <a:xfrm>
            <a:off x="6217920" y="2880360"/>
            <a:ext cx="5422392" cy="1280160"/>
          </a:xfrm>
          <a:prstGeom prst="roundRect">
            <a:avLst>
              <a:gd name="adj" fmla="val 8571"/>
            </a:avLst>
          </a:prstGeom>
          <a:solidFill>
            <a:schemeClr val="tx2"/>
          </a:solidFill>
          <a:ln/>
        </p:spPr>
      </p:sp>
      <p:sp>
        <p:nvSpPr>
          <p:cNvPr id="20" name="badge-bg"/>
          <p:cNvSpPr/>
          <p:nvPr/>
        </p:nvSpPr>
        <p:spPr>
          <a:xfrm>
            <a:off x="6446520" y="3200400"/>
            <a:ext cx="640080" cy="640080"/>
          </a:xfrm>
          <a:prstGeom prst="ellipse">
            <a:avLst/>
          </a:prstGeom>
          <a:solidFill>
            <a:schemeClr val="accent1"/>
          </a:solidFill>
          <a:ln/>
        </p:spPr>
      </p:sp>
      <p:pic>
        <p:nvPicPr>
          <p:cNvPr id="21" name="Image 3" descr="FaLayerGroup">    </p:cNvPr>
          <p:cNvPicPr>
            <a:picLocks noChangeAspect="1"/>
          </p:cNvPicPr>
          <p:nvPr/>
        </p:nvPicPr>
        <p:blipFill>
          <a:blip r:embed="rId4"/>
          <a:stretch>
            <a:fillRect/>
          </a:stretch>
        </p:blipFill>
        <p:spPr>
          <a:xfrm>
            <a:off x="6619342" y="3373222"/>
            <a:ext cx="294437" cy="294437"/>
          </a:xfrm>
          <a:prstGeom prst="rect">
            <a:avLst/>
          </a:prstGeom>
        </p:spPr>
      </p:pic>
      <p:sp>
        <p:nvSpPr>
          <p:cNvPr id="22" name="Text 15"/>
          <p:cNvSpPr txBox="1"/>
          <p:nvPr/>
        </p:nvSpPr>
        <p:spPr>
          <a:xfrm>
            <a:off x="7315200" y="3063240"/>
            <a:ext cx="4160520" cy="365760"/>
          </a:xfrm>
          <a:prstGeom prst="rect">
            <a:avLst/>
          </a:prstGeom>
          <a:noFill/>
          <a:ln/>
        </p:spPr>
        <p:txBody>
          <a:bodyPr wrap="square" lIns="0" tIns="0" rIns="0" bIns="0" rtlCol="0" anchor="t"/>
          <a:lstStyle/>
          <a:p>
            <a:pPr indent="0" marL="0">
              <a:buNone/>
            </a:pPr>
            <a:r>
              <a:rPr lang="en-US" sz="1800" b="1" dirty="0">
                <a:solidFill>
                  <a:schemeClr val="bg1"/>
                </a:solidFill>
              </a:rPr>
              <a:t>Pick the right collector</a:t>
            </a:r>
            <a:endParaRPr lang="en-US" sz="1800" dirty="0"/>
          </a:p>
        </p:txBody>
      </p:sp>
      <p:sp>
        <p:nvSpPr>
          <p:cNvPr id="23" name="Text 16"/>
          <p:cNvSpPr txBox="1"/>
          <p:nvPr/>
        </p:nvSpPr>
        <p:spPr>
          <a:xfrm>
            <a:off x="7315200" y="3520440"/>
            <a:ext cx="4160520" cy="6400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groupingBy</a:t>
            </a:r>
            <a:pPr indent="0" marL="0">
              <a:buNone/>
            </a:pPr>
            <a:r>
              <a:rPr lang="en-US" sz="1400" dirty="0">
                <a:solidFill>
                  <a:schemeClr val="accent3"/>
                </a:solidFill>
              </a:rPr>
              <a:t>, </a:t>
            </a:r>
            <a:pPr indent="0" marL="0">
              <a:buNone/>
            </a:pPr>
            <a:r>
              <a:rPr lang="en-US" sz="1400" dirty="0">
                <a:solidFill>
                  <a:schemeClr val="bg1"/>
                </a:solidFill>
                <a:latin typeface="Courier New" pitchFamily="34" charset="0"/>
                <a:ea typeface="Courier New" pitchFamily="34" charset="-122"/>
                <a:cs typeface="Courier New" pitchFamily="34" charset="-120"/>
              </a:rPr>
              <a:t>partitioningBy</a:t>
            </a:r>
            <a:pPr indent="0" marL="0">
              <a:buNone/>
            </a:pPr>
            <a:r>
              <a:rPr lang="en-US" sz="1400" dirty="0">
                <a:solidFill>
                  <a:schemeClr val="accent3"/>
                </a:solidFill>
              </a:rPr>
              <a:t>, </a:t>
            </a:r>
            <a:pPr indent="0" marL="0">
              <a:buNone/>
            </a:pPr>
            <a:r>
              <a:rPr lang="en-US" sz="1400" dirty="0">
                <a:solidFill>
                  <a:schemeClr val="bg1"/>
                </a:solidFill>
                <a:latin typeface="Courier New" pitchFamily="34" charset="0"/>
                <a:ea typeface="Courier New" pitchFamily="34" charset="-122"/>
                <a:cs typeface="Courier New" pitchFamily="34" charset="-120"/>
              </a:rPr>
              <a:t>toMap</a:t>
            </a:r>
            <a:pPr indent="0" marL="0">
              <a:buNone/>
            </a:pPr>
            <a:r>
              <a:rPr lang="en-US" sz="1400" dirty="0">
                <a:solidFill>
                  <a:schemeClr val="accent3"/>
                </a:solidFill>
              </a:rPr>
              <a:t> with a merge function</a:t>
            </a:r>
            <a:endParaRPr lang="en-US" sz="1400" dirty="0"/>
          </a:p>
        </p:txBody>
      </p:sp>
      <p:sp>
        <p:nvSpPr>
          <p:cNvPr id="24" name="take-card-4"/>
          <p:cNvSpPr/>
          <p:nvPr/>
        </p:nvSpPr>
        <p:spPr>
          <a:xfrm>
            <a:off x="548640" y="4343400"/>
            <a:ext cx="5422392" cy="1280160"/>
          </a:xfrm>
          <a:prstGeom prst="roundRect">
            <a:avLst>
              <a:gd name="adj" fmla="val 8571"/>
            </a:avLst>
          </a:prstGeom>
          <a:solidFill>
            <a:schemeClr val="tx2"/>
          </a:solidFill>
          <a:ln/>
        </p:spPr>
      </p:sp>
      <p:sp>
        <p:nvSpPr>
          <p:cNvPr id="25" name="badge-bg"/>
          <p:cNvSpPr/>
          <p:nvPr/>
        </p:nvSpPr>
        <p:spPr>
          <a:xfrm>
            <a:off x="777240" y="4663440"/>
            <a:ext cx="640080" cy="640080"/>
          </a:xfrm>
          <a:prstGeom prst="ellipse">
            <a:avLst/>
          </a:prstGeom>
          <a:solidFill>
            <a:schemeClr val="accent1"/>
          </a:solidFill>
          <a:ln/>
        </p:spPr>
      </p:sp>
      <p:pic>
        <p:nvPicPr>
          <p:cNvPr id="26" name="Image 4" descr="FaQuestionCircle">    </p:cNvPr>
          <p:cNvPicPr>
            <a:picLocks noChangeAspect="1"/>
          </p:cNvPicPr>
          <p:nvPr/>
        </p:nvPicPr>
        <p:blipFill>
          <a:blip r:embed="rId5"/>
          <a:stretch>
            <a:fillRect/>
          </a:stretch>
        </p:blipFill>
        <p:spPr>
          <a:xfrm>
            <a:off x="950062" y="4836262"/>
            <a:ext cx="294437" cy="294437"/>
          </a:xfrm>
          <a:prstGeom prst="rect">
            <a:avLst/>
          </a:prstGeom>
        </p:spPr>
      </p:pic>
      <p:sp>
        <p:nvSpPr>
          <p:cNvPr id="27" name="Text 19"/>
          <p:cNvSpPr txBox="1"/>
          <p:nvPr/>
        </p:nvSpPr>
        <p:spPr>
          <a:xfrm>
            <a:off x="1645920" y="4526280"/>
            <a:ext cx="4160520" cy="365760"/>
          </a:xfrm>
          <a:prstGeom prst="rect">
            <a:avLst/>
          </a:prstGeom>
          <a:noFill/>
          <a:ln/>
        </p:spPr>
        <p:txBody>
          <a:bodyPr wrap="square" lIns="0" tIns="0" rIns="0" bIns="0" rtlCol="0" anchor="t"/>
          <a:lstStyle/>
          <a:p>
            <a:pPr indent="0" marL="0">
              <a:buNone/>
            </a:pPr>
            <a:r>
              <a:rPr lang="en-US" sz="1800" b="1" dirty="0">
                <a:solidFill>
                  <a:schemeClr val="bg1"/>
                </a:solidFill>
              </a:rPr>
              <a:t>An Optional says “maybe nothing”</a:t>
            </a:r>
            <a:endParaRPr lang="en-US" sz="1800" dirty="0"/>
          </a:p>
        </p:txBody>
      </p:sp>
      <p:sp>
        <p:nvSpPr>
          <p:cNvPr id="28" name="Text 20"/>
          <p:cNvSpPr txBox="1"/>
          <p:nvPr/>
        </p:nvSpPr>
        <p:spPr>
          <a:xfrm>
            <a:off x="1645920" y="4983480"/>
            <a:ext cx="4160520" cy="640080"/>
          </a:xfrm>
          <a:prstGeom prst="rect">
            <a:avLst/>
          </a:prstGeom>
          <a:noFill/>
          <a:ln/>
        </p:spPr>
        <p:txBody>
          <a:bodyPr wrap="square" lIns="0" tIns="0" rIns="0" bIns="0" rtlCol="0" anchor="t"/>
          <a:lstStyle/>
          <a:p>
            <a:pPr indent="0" marL="0">
              <a:buNone/>
            </a:pPr>
            <a:r>
              <a:rPr lang="en-US" sz="1400" dirty="0">
                <a:solidFill>
                  <a:schemeClr val="accent3"/>
                </a:solidFill>
              </a:rPr>
              <a:t>choose a default, throw, or keep mapping; avoid </a:t>
            </a:r>
            <a:pPr indent="0" marL="0">
              <a:buNone/>
            </a:pPr>
            <a:r>
              <a:rPr lang="en-US" sz="1400" dirty="0">
                <a:solidFill>
                  <a:schemeClr val="bg1"/>
                </a:solidFill>
                <a:latin typeface="Courier New" pitchFamily="34" charset="0"/>
                <a:ea typeface="Courier New" pitchFamily="34" charset="-122"/>
                <a:cs typeface="Courier New" pitchFamily="34" charset="-120"/>
              </a:rPr>
              <a:t>orElse(null)</a:t>
            </a:r>
            <a:endParaRPr lang="en-US" sz="1400" dirty="0"/>
          </a:p>
        </p:txBody>
      </p:sp>
      <p:sp>
        <p:nvSpPr>
          <p:cNvPr id="29" name="take-card-5"/>
          <p:cNvSpPr/>
          <p:nvPr/>
        </p:nvSpPr>
        <p:spPr>
          <a:xfrm>
            <a:off x="6217920" y="4343400"/>
            <a:ext cx="5422392" cy="1280160"/>
          </a:xfrm>
          <a:prstGeom prst="roundRect">
            <a:avLst>
              <a:gd name="adj" fmla="val 8571"/>
            </a:avLst>
          </a:prstGeom>
          <a:solidFill>
            <a:schemeClr val="tx2"/>
          </a:solidFill>
          <a:ln/>
        </p:spPr>
      </p:sp>
      <p:sp>
        <p:nvSpPr>
          <p:cNvPr id="30" name="badge-bg"/>
          <p:cNvSpPr/>
          <p:nvPr/>
        </p:nvSpPr>
        <p:spPr>
          <a:xfrm>
            <a:off x="6446520" y="4663440"/>
            <a:ext cx="640080" cy="640080"/>
          </a:xfrm>
          <a:prstGeom prst="ellipse">
            <a:avLst/>
          </a:prstGeom>
          <a:solidFill>
            <a:schemeClr val="accent1"/>
          </a:solidFill>
          <a:ln/>
        </p:spPr>
      </p:sp>
      <p:pic>
        <p:nvPicPr>
          <p:cNvPr id="31" name="Image 5" descr="FaDatabase">    </p:cNvPr>
          <p:cNvPicPr>
            <a:picLocks noChangeAspect="1"/>
          </p:cNvPicPr>
          <p:nvPr/>
        </p:nvPicPr>
        <p:blipFill>
          <a:blip r:embed="rId6"/>
          <a:stretch>
            <a:fillRect/>
          </a:stretch>
        </p:blipFill>
        <p:spPr>
          <a:xfrm>
            <a:off x="6619342" y="4836262"/>
            <a:ext cx="294437" cy="294437"/>
          </a:xfrm>
          <a:prstGeom prst="rect">
            <a:avLst/>
          </a:prstGeom>
        </p:spPr>
      </p:pic>
      <p:sp>
        <p:nvSpPr>
          <p:cNvPr id="32" name="Text 23"/>
          <p:cNvSpPr txBox="1"/>
          <p:nvPr/>
        </p:nvSpPr>
        <p:spPr>
          <a:xfrm>
            <a:off x="7315200" y="4526280"/>
            <a:ext cx="4160520" cy="365760"/>
          </a:xfrm>
          <a:prstGeom prst="rect">
            <a:avLst/>
          </a:prstGeom>
          <a:noFill/>
          <a:ln/>
        </p:spPr>
        <p:txBody>
          <a:bodyPr wrap="square" lIns="0" tIns="0" rIns="0" bIns="0" rtlCol="0" anchor="t"/>
          <a:lstStyle/>
          <a:p>
            <a:pPr indent="0" marL="0">
              <a:buNone/>
            </a:pPr>
            <a:r>
              <a:rPr lang="en-US" sz="1800" b="1" dirty="0">
                <a:solidFill>
                  <a:schemeClr val="bg1"/>
                </a:solidFill>
              </a:rPr>
              <a:t>Fetch in bulk, then stream</a:t>
            </a:r>
            <a:endParaRPr lang="en-US" sz="1800" dirty="0"/>
          </a:p>
        </p:txBody>
      </p:sp>
      <p:sp>
        <p:nvSpPr>
          <p:cNvPr id="33" name="Text 24"/>
          <p:cNvSpPr txBox="1"/>
          <p:nvPr/>
        </p:nvSpPr>
        <p:spPr>
          <a:xfrm>
            <a:off x="7315200" y="4983480"/>
            <a:ext cx="4160520" cy="640080"/>
          </a:xfrm>
          <a:prstGeom prst="rect">
            <a:avLst/>
          </a:prstGeom>
          <a:noFill/>
          <a:ln/>
        </p:spPr>
        <p:txBody>
          <a:bodyPr wrap="square" lIns="0" tIns="0" rIns="0" bIns="0" rtlCol="0" anchor="t"/>
          <a:lstStyle/>
          <a:p>
            <a:pPr indent="0" marL="0">
              <a:buNone/>
            </a:pPr>
            <a:r>
              <a:rPr lang="en-US" sz="1400" dirty="0">
                <a:solidFill>
                  <a:schemeClr val="accent3"/>
                </a:solidFill>
              </a:rPr>
              <a:t>never call a slow service per element</a:t>
            </a:r>
            <a:endParaRPr lang="en-US" sz="1400" dirty="0"/>
          </a:p>
        </p:txBody>
      </p:sp>
      <p:sp>
        <p:nvSpPr>
          <p:cNvPr id="34" name="Text 25"/>
          <p:cNvSpPr txBox="1"/>
          <p:nvPr/>
        </p:nvSpPr>
        <p:spPr>
          <a:xfrm>
            <a:off x="548640" y="5943600"/>
            <a:ext cx="5486400" cy="457200"/>
          </a:xfrm>
          <a:prstGeom prst="rect">
            <a:avLst/>
          </a:prstGeom>
          <a:noFill/>
          <a:ln/>
        </p:spPr>
        <p:txBody>
          <a:bodyPr wrap="square" lIns="0" tIns="0" rIns="0" bIns="0" rtlCol="0" anchor="t"/>
          <a:lstStyle/>
          <a:p>
            <a:pPr indent="0" marL="0">
              <a:buNone/>
            </a:pPr>
            <a:r>
              <a:rPr lang="en-US" sz="2200" b="1" dirty="0">
                <a:solidFill>
                  <a:schemeClr val="accent2"/>
                </a:solidFill>
              </a:rPr>
              <a:t>Questions?</a:t>
            </a:r>
            <a:endParaRPr lang="en-US" sz="2200" dirty="0"/>
          </a:p>
        </p:txBody>
      </p:sp>
    </p:spTree>
  </p:cSld>
  <p:clrMapOvr>
    <a:masterClrMapping/>
  </p:clrMapOvr>
</p:sld>
</file>

<file path=ppt/theme/theme1.xml><?xml version="1.0" encoding="utf-8"?>
<a:theme xmlns:a="http://schemas.openxmlformats.org/drawingml/2006/main" name="Streams">
  <a:themeElements>
    <a:clrScheme name="Streams">
      <a:dk1>
        <a:srgbClr val="0B1F33"/>
      </a:dk1>
      <a:lt1>
        <a:srgbClr val="FFFFFF"/>
      </a:lt1>
      <a:dk2>
        <a:srgbClr val="16405E"/>
      </a:dk2>
      <a:lt2>
        <a:srgbClr val="E9F4F4"/>
      </a:lt2>
      <a:accent1>
        <a:srgbClr val="0E9594"/>
      </a:accent1>
      <a:accent2>
        <a:srgbClr val="F28C28"/>
      </a:accent2>
      <a:accent3>
        <a:srgbClr val="7FD1C7"/>
      </a:accent3>
      <a:accent4>
        <a:srgbClr val="D6453D"/>
      </a:accent4>
      <a:accent5>
        <a:srgbClr val="3AA66E"/>
      </a:accent5>
      <a:accent6>
        <a:srgbClr val="7B6FD0"/>
      </a:accent6>
      <a:hlink>
        <a:srgbClr val="0E9594"/>
      </a:hlink>
      <a:folHlink>
        <a:srgbClr val="7B6FD0"/>
      </a:folHlink>
    </a:clrScheme>
    <a:fontScheme name="Strea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Java Streams API</dc:title>
  <dc:subject>PptxGenJS Presentation</dc:subject>
  <dc:creator>Jente Sondervorst</dc:creator>
  <cp:lastModifiedBy>Jente Sondervorst</cp:lastModifiedBy>
  <cp:revision>1</cp:revision>
  <dcterms:created xsi:type="dcterms:W3CDTF">2026-10-12T20:21:20Z</dcterms:created>
  <dcterms:modified xsi:type="dcterms:W3CDTF">2026-10-12T20:21:20Z</dcterms:modified>
</cp:coreProperties>
</file>